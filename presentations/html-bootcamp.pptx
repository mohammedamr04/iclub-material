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Two sessions, and by the end of the second one everyone has shipped a real page.</a:t>
            </a:r>
          </a:p>
          <a:p/>
          <a:p>
            <a:r>
              <a:t>Set the expectation early: this is not a survey of every HTML element that exists. It is the subset that 95% of real pages use, taught properly. Anything we skip here you can look up in two minutes once you know the shape of the language.</a:t>
            </a:r>
          </a:p>
          <a:p/>
          <a:p>
            <a:r>
              <a:t>Ask who has written HTML before. If hands go up, tell them this session will still change how they write it, because almost everyone self-taught HTML learned it the div-soup way.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capstone out loud, because it is the thing they are working toward: a restaurant menu and order page. Nobody finds that exciting when they hear the words, so make the bet explicit — by session 2 they will have built 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Both sessions are long. Session 2 especially — if the room is going slow, the correct cut is to drop Tables, not to drop Forms. Forms are the part they will use every single day.</a:t>
            </a:r>
          </a:p>
          <a:p/>
          <a:p>
            <a:r>
              <a:t>Natural break if you need to split into two evenings: after 'Forms and Inputs' inside session 2, before 'Semantics'.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Timing plan for this session:</a:t>
            </a:r>
          </a:p>
          <a:p>
            <a:r>
              <a:t>- 25 min: how HTML works + document structure</a:t>
            </a:r>
          </a:p>
          <a:p>
            <a:r>
              <a:t>- 45 min: tags, attributes, text content</a:t>
            </a:r>
          </a:p>
          <a:p>
            <a:r>
              <a:t>- 35 min: links + paths (do these together, they are one idea)</a:t>
            </a:r>
          </a:p>
          <a:p>
            <a:r>
              <a:t>- 60 min: images</a:t>
            </a:r>
          </a:p>
          <a:p>
            <a:r>
              <a:t>- 30 min: lists + entities</a:t>
            </a:r>
          </a:p>
          <a:p>
            <a:r>
              <a:t>- 40 min: live coding</a:t>
            </a:r>
          </a:p>
          <a:p>
            <a:r>
              <a:t>- 20 min: homework brief</a:t>
            </a:r>
          </a:p>
          <a:p/>
          <a:p>
            <a:r>
              <a:t>If you fall behind, cut srcset/sizes and the optional extensions. Do not cut alt text — it is the single most important thing on the slide.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most common beginner bug in web development: reaching for a &lt;div&gt; because 'I need it big and bold' instead of an &lt;h1&gt;. Frame the whole course around meaning-first, and styling-second.</a:t>
            </a:r>
          </a:p>
          <a:p/>
          <a:p>
            <a:r>
              <a:t>Analogy that works: HTML is the label on a shipping box, not the paint colour. Nobody at the warehouse cares what colour your box is; they care that it says FRAGILE in the right place.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Only explain this far. Students do not need to know about script blocking or critical rendering paths yet.</a:t>
            </a:r>
          </a:p>
          <a:p/>
          <a:p>
            <a:r>
              <a:t>The takeaway is the last line. HTML is fault-tolerant, which is a blessing when you are learning and a curse when you are shipping: a typo does not error, it just gives you something else. This is exactly why the W3C validator is part of the assessment.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this live, character by character, and let them predict each line before you write it. By the end of session 1 this should be muscle memory.</a:t>
            </a:r>
          </a:p>
          <a:p/>
          <a:p>
            <a:r>
              <a:t>Two lines to dwell on:</a:t>
            </a:r>
          </a:p>
          <a:p>
            <a:r>
              <a:t>- charset must be in the first 1024 bytes, so it goes first. Without it, Arabic text can render as mojibake.</a:t>
            </a:r>
          </a:p>
          <a:p>
            <a:r>
              <a:t>- viewport is what makes a page not zoom out weirdly on a phone. Missing it is the number-one reason a first website looks broken on mobile.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Common misconception: that &lt;head&gt; can hold anything. It cannot hold visible content. If you want it on the page, it goes in &lt;body&gt;.</a:t>
            </a:r>
          </a:p>
          <a:p/>
          <a:p>
            <a:r>
              <a:t>Also: people try to put a &lt;style&gt; or &lt;script&gt; inside &lt;body&gt;. The browser will recover, but it is invalid — and it matters for performance, because the parser stops and executes.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that matters most for this particular audience. If your students are building Arabic sites, lang and dir are the first thing to get right and the last thing anyone remembers.</a:t>
            </a:r>
          </a:p>
          <a:p/>
          <a:p>
            <a:r>
              <a:t>Demo it: take an English page, set lang="ar" without changing the text, and let them hear what a screen reader does. Better than explaining.</a:t>
            </a:r>
          </a:p>
          <a:p/>
          <a:p>
            <a:r>
              <a:t>Mention the bidi entities now and come back to them in the entities section — do not front-load them.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turn this into a list. Teach the two required ones (charset, viewport), mention description, and move on.</a:t>
            </a:r>
          </a:p>
          <a:p/>
          <a:p>
            <a:r>
              <a:t>The viewport one deserves a demo: remove it, open DevTools device mode, set the viewport meta back, watch the page zoom. Ten seconds, and it never leaves.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Worth three minutes because it is the vocabulary they need for documentation and for every tutorial on the internet.</a:t>
            </a:r>
          </a:p>
          <a:p/>
          <a:p>
            <a:r>
              <a:t>The related point: an element is a live object in the DOM, not text. That is why the DevTools Elements panel can let you edit it live and the page changes.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tell: if an element cannot have children, it is void. Nothing goes inside it, so there is nothing to close.</a:t>
            </a:r>
          </a:p>
          <a:p/>
          <a:p>
            <a:r>
              <a:t>Where beginners go wrong: writing &lt;img ...&gt;&lt;/img&gt;. The parser treats the second tag as a stray element. The validator flags it. It is not an error the browser will save you from.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the outline: open DevTools, and use the accessibility tree or the document outline panel. The headings become a nested table of contents. That is what a screen reader user experiences as ‘jump to heading’.</a:t>
            </a:r>
          </a:p>
          <a:p/>
          <a:p>
            <a:r>
              <a:t>The bad example that lands: a page using &lt;h1&gt; for the logo, &lt;h2&gt; for the nav, and then &lt;h4&gt; for section titles, because someone skipped a level trying to control size. Show it broken, then show the CSS-only fix.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habits problem, not a knowledge problem. Everybody learns HTML by copying, and every old tutorial teaches div-and-br.</a:t>
            </a:r>
          </a:p>
          <a:p/>
          <a:p>
            <a:r>
              <a:t>Make the rule explicit: a line break in the markup is a decision about content. A line break on screen is a decision about layout, and layout is CSS.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 slide. The rule of thumb: if you could remove the emphasis and the meaning would not change, it is &lt;b&gt;/&lt;i&gt;. If removing it changes what the text means, it is &lt;strong&gt;/&lt;em&gt;.</a:t>
            </a:r>
          </a:p>
          <a:p/>
          <a:p>
            <a:r>
              <a:t>Example that works: a warning label ‘&lt;strong&gt;Warning:&lt;/strong&gt; this will delete everything’ vs ‘&lt;b&gt;Warning:&lt;/b&gt; this will delete everything’.</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forms, one element. If a link goes somewhere, it is an &lt;a&gt; with href.</a:t>
            </a:r>
          </a:p>
          <a:p/>
          <a:p>
            <a:r>
              <a:t>The download attribute only works for same-origin resources — the browser ignores it cross-origin. Mention it, move 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point is real and it is not theoretical. But do not turn this into a security lecture — the actionable rule is one sentence: new tab, new origin, add noopener.</a:t>
            </a:r>
          </a:p>
          <a:p/>
          <a:p>
            <a:r>
              <a:t>The second half of the slide is the practical advice: inside a single-page app, opening a new tab for an internal route is almost always wrong.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most common reason ‘it works on my machine’. A root-absolute path works perfectly on localhost and breaks the second you deploy to a subfolder, or open the HTML file directly from disk.</a:t>
            </a:r>
          </a:p>
          <a:p/>
          <a:p>
            <a:r>
              <a:t>The drill: after any project they finish, have them rename the top folder and reopen. If it still works, their paths are honest.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it this small. Beginners add nesting for its own sake and then cannot find anything.</a:t>
            </a:r>
          </a:p>
          <a:p/>
          <a:p>
            <a:r>
              <a:t>index.html is worth explaining: a URL ending in a slash means ‘serve the index.html in this folder’. It is why /about works without listing the file.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four attributes in order and say what each one prevents.</a:t>
            </a:r>
          </a:p>
          <a:p/>
          <a:p>
            <a:r>
              <a:t>width/height preventing layout shift (CLS) is worth a demo: comment them out, reload, and watch the page jump. This directly connects to the Core Web Vitals they will meet in the React track — mention that in one sentence and move on.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empty alt case is the one that confuses people. alt="" is not forgetting — it is a deliberate instruction to the screen reader to skip the image, and it is correct for dividers, spacer gifs, and background texture.</a:t>
            </a:r>
          </a:p>
          <a:p/>
          <a:p>
            <a:r>
              <a:t>Test: turn on a screen reader for thirty seconds, or use DevTools → Accessibility tree to see what gets announced for each image on the page they built. That inspection is the whole lesson.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Keep this to thirty seconds. The actionable takeaway: default to WebP, use SVG for icons, and stop shipping PNG screenshots of photos.</a:t>
            </a:r>
          </a:p>
          <a:p/>
          <a:p>
            <a:r>
              <a:t>The one interesting bit: an inline SVG is a real DOM subtree, so you can target its paths with CSS and change its fill from a currentColor parent. That is why icons in the CSS and React tracks can switch colour with the theme.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Concept over syntax. The insight they need: you do not resize images in CSS, you let the browser pick the right file before it downloads.</a:t>
            </a:r>
          </a:p>
          <a:p/>
          <a:p>
            <a:r>
              <a:t>sizes is genuinely hard and they will get it wrong. The most common wrong answer is omitting it entirely, which makes the browser assume the image is as wide as the viewport — so it always downloads the largest file.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takeaway: a list is a claim about meaning. If the items are a set of things of the same kind, it is a list — even if you style the markers away entirely.</a:t>
            </a:r>
          </a:p>
          <a:p/>
          <a:p>
            <a:r>
              <a:t>The description list is the one beginners never meet and immediately find useful. A glossary, a spec sheet, a FAQ pair — all of them are term/definition.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let them memorise the list. Teach the principle: an entity is a character the parser would otherwise interpret as syntax, or a character that is awkward to type.</a:t>
            </a:r>
          </a:p>
          <a:p/>
          <a:p>
            <a:r>
              <a:t>The last bullet is a deliberate seed. In the JavaScript track they will look at innerHTML and XSS. If they already know &amp;lt; and &amp;gt; are just escapes, that lesson lands much harder.</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Type the failing example live in Arabic, let them see the dot land on the wrong side, then wrap it in &amp;lrm; and let them see it fix. Ten seconds, and every student who has ever shipped an Arabic page recognises the bug instantly.</a:t>
            </a:r>
          </a:p>
          <a:p/>
          <a:p>
            <a:r>
              <a:t>This is the slide that makes the course feel like it was written for them.</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let them copy from the slide — the point is recall. Stand at the back.</a:t>
            </a:r>
          </a:p>
          <a:p/>
          <a:p>
            <a:r>
              <a:t>Seed the three broken documents before the session. Make them realistic: not &lt;h7&gt;, but a page that is 90% right with one subtle mistake in it.</a:t>
            </a:r>
          </a:p>
          <a:p/>
          <a:p>
            <a:r>
              <a:t>The fix for #3 is the one that teaches the most: ask them to rename the project folder and reload, so they see it break for themselves.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Insist on no CSS for this project. The instinct will be to make it pretty, and that instinct will let them skip validation. Structure first, always — it is the habit that separates people who can debug from people who cannot.</a:t>
            </a:r>
          </a:p>
          <a:p/>
          <a:p>
            <a:r>
              <a:t>Review method: open every submission in the W3C validator. A number will have errors, and reading the validator output is a skill worth teaching directly.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to give you one thing from the list that surprised them. Usually the bidi entities or the CLS thing — both worth five extra minutes if they land.</a:t>
            </a:r>
          </a:p>
          <a:p/>
          <a:p>
            <a:r>
              <a:t>Set the session 2 hook: next session everything they wrote gets forms and real semantics, and it becomes a real product.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Longest session. Structure:</a:t>
            </a:r>
          </a:p>
          <a:p>
            <a:r>
              <a:t>- 90 min: forms and inputs</a:t>
            </a:r>
          </a:p>
          <a:p>
            <a:r>
              <a:t>- 30 min: validation UX</a:t>
            </a:r>
          </a:p>
          <a:p>
            <a:r>
              <a:t>- 60 min: semantics and landmarks</a:t>
            </a:r>
          </a:p>
          <a:p>
            <a:r>
              <a:t>- 30 min: tables</a:t>
            </a:r>
          </a:p>
          <a:p>
            <a:r>
              <a:t>- 25 min: media and iframes</a:t>
            </a:r>
          </a:p>
          <a:p>
            <a:r>
              <a:t>- 25 min: ARIA essentials</a:t>
            </a:r>
          </a:p>
          <a:p>
            <a:r>
              <a:t>- 45 min: live coding</a:t>
            </a:r>
          </a:p>
          <a:p>
            <a:r>
              <a:t>- 20 min: capstone brief</a:t>
            </a:r>
          </a:p>
          <a:p/>
          <a:p>
            <a:r>
              <a:t>If you are behind at the two-hour mark, cut Tables and media. Keep ARIA — it is the part they will not learn anywhere else.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name attribute is the single most important thing on this slide and the one they will forget. A field without a name is invisible to the server.</a:t>
            </a:r>
          </a:p>
          <a:p/>
          <a:p>
            <a:r>
              <a:t>Demo: submit the form to a page that dumps the query string, with one field missing name. It does not appear. That is a lesson they remember.</a:t>
            </a:r>
          </a:p>
          <a:p/>
          <a:p>
            <a:r>
              <a:t>method="get" puts everything in the URL — good for search, bad for anything private. method="post" is the default choice for forms with real data.</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point is not the list, it is the idea: the input type is how you tell the browser what the data is, and the browser then gives you keyboard, picker, validation and accessibility almost for free.</a:t>
            </a:r>
          </a:p>
          <a:p/>
          <a:p>
            <a:r>
              <a:t>Common mistake: type="text" everywhere, then hand-rolling validation in JavaScript. type="email" would have done it. Ask, for every text field, what the type should be.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Constraints stop the form submitting. They do not explain anything to the user. Both matter, and they are different jobs — that distinction is worth stating out loud because beginners conflate them.</a:t>
            </a:r>
          </a:p>
          <a:p/>
          <a:p>
            <a:r>
              <a:t>The readonly vs disabled distinction is a favourite interview question. The practical version: disabled data is not sent to the server, so a disabled field is a field the backend never hears about.</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Slow down here. This is the highest-value slide in the entire HTML track and the one most likely to be skipped in a self-taught course.</a:t>
            </a:r>
          </a:p>
          <a:p/>
          <a:p>
            <a:r>
              <a:t>Demo: tab through a form with labels and then one without. Unlabelled inputs announce as ‘edit text’ with no clue what goes there.</a:t>
            </a:r>
          </a:p>
          <a:p/>
          <a:p>
            <a:r>
              <a:t>The placeholder point deserves a full minute. Placeholders disappearing on focus means the user loses the prompt exactly when they need it, and the default grey fails contrast. It is a hint, not a replacement.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classic trap: four radio buttons that are visually stacked but semantically four unrelated things, because nobody wrapped them in a fieldset. A screen reader user has no idea they are one question.</a:t>
            </a:r>
          </a:p>
          <a:p/>
          <a:p>
            <a:r>
              <a:t>And the CSS advice matters, because beginners see the ugly default border and delete the fieldset. Teach them: border: 0; margin: 0; padding: 0; and you keep the semantics for free.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:user-invalid is newer and much better behaved than :invalid for this job. Worth showing both so they understand why.</a:t>
            </a:r>
          </a:p>
          <a:p/>
          <a:p>
            <a:r>
              <a:t>The last bullet is a real warning with real consequences. Client validation is UX. Security is the server. They will see the echo of this in the JavaScript track's security section.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rule of thumb: if you are reaching for a div because you do not know which element fits, you have not found the element yet. Search for the semantic one first, and fall back to div deliberately.</a:t>
            </a:r>
          </a:p>
          <a:p/>
          <a:p>
            <a:r>
              <a:t>div soup — a page made entirely of divs — is what a screen reader sees as one undifferentiated wall of text with no headings, no navigation, and no structure. Show the accessibility tree comparison if time allows.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Landmarks are what let a screen reader user jump straight to the navigation, or skip to the main content. That is not a nicety — on a long page it is the difference between usable and unusable.</a:t>
            </a:r>
          </a:p>
          <a:p/>
          <a:p>
            <a:r>
              <a:t>article vs section is the one that trips everyone. article = independently distributable (a blog post you could syndicate on its own). section = just a grouping. If you cannot answer ‘could this stand alone as content?’, it is a section.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one is what convinces developers who are not yet convinced about the first two. Refactor a page from divs to landmarks and watch the CSS get shorter as well, because the elements have sensible defaults.</a:t>
            </a:r>
          </a:p>
          <a:p/>
          <a:p>
            <a:r>
              <a:t>&lt;time datetime&gt; is a small gem: the attribute is machine-readable ISO format, the text is whatever the reader sees, and the browser can localise it.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Scope is the one that matters. Without it, a screen reader announcing a data cell has no idea whether it is the price or the category, because the visual grid is not in the accessibility tree.</a:t>
            </a:r>
          </a:p>
          <a:p/>
          <a:p>
            <a:r>
              <a:t>The layout-table argument: it was valid in 1998 and it is a disaster now. Layout tables nest, and every level of nesting is a more complicated mess for assistive technology. Use Grid.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Captions are worth a moment. If your students are building for a public or institutional audience, uncaptained video is a compliance issue, not just an accessibility one.</a:t>
            </a:r>
          </a:p>
          <a:p/>
          <a:p>
            <a:r>
              <a:t>The iframe title point is the same as the image alt point: a frame with no title announces as ‘frame’, full stop. And embed a map from a third party? Say loudly that it costs a megabyte and several hundred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hours in, the room will want to sprinkle ARIA everywhere. The most important sentence on this slide is the first one, and the most important warning is the last.</a:t>
            </a:r>
          </a:p>
          <a:p/>
          <a:p>
            <a:r>
              <a:t>The div-role-button example is worth building live: add role="button", then try to make it respond to Enter and Space. Now they understand that ARIA is a description, not a behaviour. It tells assistive technology what something is; it does not make it work.</a:t>
            </a:r>
          </a:p>
          <a:p/>
          <a:p>
            <a:r>
              <a:t>Show the accessibility tree in DevTools and toggle one ARIA attribute, so they see the tree change.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W3C validator is at validator.w3.org/nu. Bookmark it in front of them.</a:t>
            </a:r>
          </a:p>
          <a:p/>
          <a:p>
            <a:r>
              <a:t>The tab-through test is the most practical thing on this slide. It takes two minutes, needs no tools, and finds a surprising number of problems: unreachable elements, focus you cannot see, skip links that do nothing.</a:t>
            </a:r>
          </a:p>
          <a:p/>
          <a:p>
            <a:r>
              <a:t>Reading HTML out loud is also a genuinely good debugging technique — it finds missing alt text and broken nesting surprisingly often.</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Exercise two is the one that changes how they write. Do not let them rush it — the refactor is tedious on purpose, because tedium is what makes the payoff obvious.</a:t>
            </a:r>
          </a:p>
          <a:p/>
          <a:p>
            <a:r>
              <a:t>Have them diff the accessibility tree before and after. Seeing ‘formerly one anonymous blob, now six named landmarks’ is the argument for semantics better than any lecture.</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Set a hard deadline for this — the point is to ship, not to perfect. Everyone finishes with something that validates and works, which is a real skill, and everyone leaves with a known list of what to improve.</a:t>
            </a:r>
          </a:p>
          <a:p/>
          <a:p>
            <a:r>
              <a:t>Review rubric, in this order of weight: validity, then semantics, then accessibility, then structure. Tell them that order explicitly so nobody spends hours on a nav that is not the thing being marked.</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Give them the rubric with the brief, not after. Self-assessment against a known rubric is worth more than a surprise grade.</a:t>
            </a:r>
          </a:p>
          <a:p/>
          <a:p>
            <a:r>
              <a:t>The weights are a message in themselves: semantics and accessibility together are half the mark. That is a deliberate signal about what the industry actually rewards.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by reading out the assessment criteria one more time and repeating the single hardest habit: no div where an element exists.</a:t>
            </a:r>
          </a:p>
          <a:p/>
          <a:p>
            <a:r>
              <a:t>If there is time, open their capstone live and run the validator in front of the room. Public failure of a tool is a better teacher than a slide about 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315968"/>
            <a:ext cx="1005840" cy="50292"/>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85800" y="1737360"/>
            <a:ext cx="10058400" cy="365760"/>
          </a:xfrm>
          <a:prstGeom prst="rect">
            <a:avLst/>
          </a:prstGeom>
          <a:noFill/>
        </p:spPr>
        <p:txBody>
          <a:bodyPr wrap="square" anchor="t" lIns="0" rIns="0" tIns="0" bIns="0">
            <a:spAutoFit/>
          </a:bodyPr>
          <a:lstStyle/>
          <a:p>
            <a:pPr algn="l">
              <a:lnSpc>
                <a:spcPct val="125000"/>
              </a:lnSpc>
            </a:pPr>
            <a:r>
              <a:rPr sz="1400" b="1">
                <a:solidFill>
                  <a:srgbClr val="4F46E5"/>
                </a:solidFill>
                <a:latin typeface="Segoe UI Semibold"/>
              </a:rPr>
              <a:t>ICLUB / BOOTCAMP MATERIAL</a:t>
            </a:r>
          </a:p>
        </p:txBody>
      </p:sp>
      <p:sp>
        <p:nvSpPr>
          <p:cNvPr id="5" name="TextBox 4"/>
          <p:cNvSpPr txBox="1"/>
          <p:nvPr/>
        </p:nvSpPr>
        <p:spPr>
          <a:xfrm>
            <a:off x="685800" y="2194560"/>
            <a:ext cx="10058400" cy="1371600"/>
          </a:xfrm>
          <a:prstGeom prst="rect">
            <a:avLst/>
          </a:prstGeom>
          <a:noFill/>
        </p:spPr>
        <p:txBody>
          <a:bodyPr wrap="square" anchor="t" lIns="0" rIns="0" tIns="0" bIns="0">
            <a:spAutoFit/>
          </a:bodyPr>
          <a:lstStyle/>
          <a:p>
            <a:pPr algn="l">
              <a:lnSpc>
                <a:spcPct val="100000"/>
              </a:lnSpc>
            </a:pPr>
            <a:r>
              <a:rPr sz="4600" b="1">
                <a:solidFill>
                  <a:srgbClr val="FFFFFF"/>
                </a:solidFill>
                <a:latin typeface="Segoe UI Semibold"/>
              </a:rPr>
              <a:t>HTML Bootcamp</a:t>
            </a:r>
          </a:p>
        </p:txBody>
      </p:sp>
      <p:sp>
        <p:nvSpPr>
          <p:cNvPr id="6" name="TextBox 5"/>
          <p:cNvSpPr txBox="1"/>
          <p:nvPr/>
        </p:nvSpPr>
        <p:spPr>
          <a:xfrm>
            <a:off x="685800" y="4617720"/>
            <a:ext cx="9601200" cy="1280160"/>
          </a:xfrm>
          <a:prstGeom prst="rect">
            <a:avLst/>
          </a:prstGeom>
          <a:noFill/>
        </p:spPr>
        <p:txBody>
          <a:bodyPr wrap="square" anchor="t" lIns="0" rIns="0" tIns="0" bIns="0">
            <a:spAutoFit/>
          </a:bodyPr>
          <a:lstStyle/>
          <a:p>
            <a:pPr algn="l">
              <a:lnSpc>
                <a:spcPct val="150000"/>
              </a:lnSpc>
            </a:pPr>
            <a:r>
              <a:rPr sz="1500" b="0">
                <a:solidFill>
                  <a:srgbClr val="94A3B8"/>
                </a:solidFill>
                <a:latin typeface="Segoe UI"/>
              </a:rPr>
              <a:t>2 sessions  ·  ~11 hours  ·  beginner  ·  no experience required</a:t>
            </a:r>
          </a:p>
        </p:txBody>
      </p:sp>
      <p:sp>
        <p:nvSpPr>
          <p:cNvPr id="7" name="Rectangle 6"/>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9" name="TextBox 8"/>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 / 47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OUTCOME</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What you will be able to do</a:t>
            </a:r>
          </a:p>
        </p:txBody>
      </p:sp>
      <p:sp>
        <p:nvSpPr>
          <p:cNvPr id="5" name="Rounded Rectangle 4"/>
          <p:cNvSpPr/>
          <p:nvPr/>
        </p:nvSpPr>
        <p:spPr>
          <a:xfrm>
            <a:off x="685800"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Write valid HTML</a:t>
            </a:r>
          </a:p>
        </p:txBody>
      </p:sp>
      <p:sp>
        <p:nvSpPr>
          <p:cNvPr id="8" name="TextBox 7"/>
          <p:cNvSpPr txBox="1"/>
          <p:nvPr/>
        </p:nvSpPr>
        <p:spPr>
          <a:xfrm>
            <a:off x="960120"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A document that passes the W3C validator with zero errors.</a:t>
            </a:r>
          </a:p>
        </p:txBody>
      </p:sp>
      <p:sp>
        <p:nvSpPr>
          <p:cNvPr id="9" name="Rounded Rectangle 8"/>
          <p:cNvSpPr/>
          <p:nvPr/>
        </p:nvSpPr>
        <p:spPr>
          <a:xfrm>
            <a:off x="4383938"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3938"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8258"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Structure pages</a:t>
            </a:r>
          </a:p>
        </p:txBody>
      </p:sp>
      <p:sp>
        <p:nvSpPr>
          <p:cNvPr id="12" name="TextBox 11"/>
          <p:cNvSpPr txBox="1"/>
          <p:nvPr/>
        </p:nvSpPr>
        <p:spPr>
          <a:xfrm>
            <a:off x="4658258"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Landmarks, headings, and sections a screen reader can navigate.</a:t>
            </a:r>
          </a:p>
        </p:txBody>
      </p:sp>
      <p:sp>
        <p:nvSpPr>
          <p:cNvPr id="13" name="Rounded Rectangle 12"/>
          <p:cNvSpPr/>
          <p:nvPr/>
        </p:nvSpPr>
        <p:spPr>
          <a:xfrm>
            <a:off x="8082076"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2076"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396"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Build real forms</a:t>
            </a:r>
          </a:p>
        </p:txBody>
      </p:sp>
      <p:sp>
        <p:nvSpPr>
          <p:cNvPr id="16" name="TextBox 15"/>
          <p:cNvSpPr txBox="1"/>
          <p:nvPr/>
        </p:nvSpPr>
        <p:spPr>
          <a:xfrm>
            <a:off x="8356396"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Labelled, validated inputs that actually submit usable data.</a:t>
            </a:r>
          </a:p>
        </p:txBody>
      </p:sp>
      <p:sp>
        <p:nvSpPr>
          <p:cNvPr id="17" name="Rounded Rectangle 16"/>
          <p:cNvSpPr/>
          <p:nvPr/>
        </p:nvSpPr>
        <p:spPr>
          <a:xfrm>
            <a:off x="685800" y="3227832"/>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227832"/>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410712"/>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Handle data + media</a:t>
            </a:r>
          </a:p>
        </p:txBody>
      </p:sp>
      <p:sp>
        <p:nvSpPr>
          <p:cNvPr id="20" name="TextBox 19"/>
          <p:cNvSpPr txBox="1"/>
          <p:nvPr/>
        </p:nvSpPr>
        <p:spPr>
          <a:xfrm>
            <a:off x="960120" y="3758184"/>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Accessible tables, video, and iframes.</a:t>
            </a:r>
          </a:p>
        </p:txBody>
      </p:sp>
      <p:sp>
        <p:nvSpPr>
          <p:cNvPr id="21" name="Rounded Rectangle 20"/>
          <p:cNvSpPr/>
          <p:nvPr/>
        </p:nvSpPr>
        <p:spPr>
          <a:xfrm>
            <a:off x="4383938" y="3227832"/>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3938" y="3227832"/>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58258" y="3410712"/>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Think semantically</a:t>
            </a:r>
          </a:p>
        </p:txBody>
      </p:sp>
      <p:sp>
        <p:nvSpPr>
          <p:cNvPr id="24" name="TextBox 23"/>
          <p:cNvSpPr txBox="1"/>
          <p:nvPr/>
        </p:nvSpPr>
        <p:spPr>
          <a:xfrm>
            <a:off x="4658258" y="3758184"/>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Choosing the element that describes meaning, not looks.</a:t>
            </a:r>
          </a:p>
        </p:txBody>
      </p:sp>
      <p:sp>
        <p:nvSpPr>
          <p:cNvPr id="25" name="Rectangle 24"/>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27" name="TextBox 26"/>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 / 47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AGENDA</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The two sessions</a:t>
            </a:r>
          </a:p>
        </p:txBody>
      </p:sp>
      <p:sp>
        <p:nvSpPr>
          <p:cNvPr id="5" name="Rectangle 4"/>
          <p:cNvSpPr/>
          <p:nvPr/>
        </p:nvSpPr>
        <p:spPr>
          <a:xfrm>
            <a:off x="685800" y="1691640"/>
            <a:ext cx="118872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92224"/>
            <a:ext cx="91440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Session</a:t>
            </a:r>
          </a:p>
        </p:txBody>
      </p:sp>
      <p:sp>
        <p:nvSpPr>
          <p:cNvPr id="7" name="Rectangle 6"/>
          <p:cNvSpPr/>
          <p:nvPr/>
        </p:nvSpPr>
        <p:spPr>
          <a:xfrm>
            <a:off x="1874520" y="1691640"/>
            <a:ext cx="484632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020824" y="1792224"/>
            <a:ext cx="457200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Focus</a:t>
            </a:r>
          </a:p>
        </p:txBody>
      </p:sp>
      <p:sp>
        <p:nvSpPr>
          <p:cNvPr id="9" name="Rectangle 8"/>
          <p:cNvSpPr/>
          <p:nvPr/>
        </p:nvSpPr>
        <p:spPr>
          <a:xfrm>
            <a:off x="6720840" y="1691640"/>
            <a:ext cx="118872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67144" y="1792224"/>
            <a:ext cx="91440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Duration</a:t>
            </a:r>
          </a:p>
        </p:txBody>
      </p:sp>
      <p:sp>
        <p:nvSpPr>
          <p:cNvPr id="11" name="Rectangle 10"/>
          <p:cNvSpPr/>
          <p:nvPr/>
        </p:nvSpPr>
        <p:spPr>
          <a:xfrm>
            <a:off x="7909560" y="1691640"/>
            <a:ext cx="356616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55864" y="1792224"/>
            <a:ext cx="329184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Deliverable</a:t>
            </a:r>
          </a:p>
        </p:txBody>
      </p:sp>
      <p:sp>
        <p:nvSpPr>
          <p:cNvPr id="13" name="Rectangle 12"/>
          <p:cNvSpPr/>
          <p:nvPr/>
        </p:nvSpPr>
        <p:spPr>
          <a:xfrm>
            <a:off x="685800" y="2112264"/>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2104" y="2240280"/>
            <a:ext cx="914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1</a:t>
            </a:r>
          </a:p>
        </p:txBody>
      </p:sp>
      <p:sp>
        <p:nvSpPr>
          <p:cNvPr id="15" name="TextBox 14"/>
          <p:cNvSpPr txBox="1"/>
          <p:nvPr/>
        </p:nvSpPr>
        <p:spPr>
          <a:xfrm>
            <a:off x="2020824" y="2240280"/>
            <a:ext cx="45720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Structure, text, links, media, lists, entities</a:t>
            </a:r>
          </a:p>
        </p:txBody>
      </p:sp>
      <p:sp>
        <p:nvSpPr>
          <p:cNvPr id="16" name="TextBox 15"/>
          <p:cNvSpPr txBox="1"/>
          <p:nvPr/>
        </p:nvSpPr>
        <p:spPr>
          <a:xfrm>
            <a:off x="6867144" y="2240280"/>
            <a:ext cx="914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5 h</a:t>
            </a:r>
          </a:p>
        </p:txBody>
      </p:sp>
      <p:sp>
        <p:nvSpPr>
          <p:cNvPr id="17" name="TextBox 16"/>
          <p:cNvSpPr txBox="1"/>
          <p:nvPr/>
        </p:nvSpPr>
        <p:spPr>
          <a:xfrm>
            <a:off x="8055864" y="2240280"/>
            <a:ext cx="32918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Personal Profile Page</a:t>
            </a:r>
          </a:p>
        </p:txBody>
      </p:sp>
      <p:sp>
        <p:nvSpPr>
          <p:cNvPr id="18" name="Rectangle 17"/>
          <p:cNvSpPr/>
          <p:nvPr/>
        </p:nvSpPr>
        <p:spPr>
          <a:xfrm>
            <a:off x="685800" y="2587752"/>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 y="2715768"/>
            <a:ext cx="914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2</a:t>
            </a:r>
          </a:p>
        </p:txBody>
      </p:sp>
      <p:sp>
        <p:nvSpPr>
          <p:cNvPr id="20" name="TextBox 19"/>
          <p:cNvSpPr txBox="1"/>
          <p:nvPr/>
        </p:nvSpPr>
        <p:spPr>
          <a:xfrm>
            <a:off x="2020824" y="2715768"/>
            <a:ext cx="45720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Forms, semantics, tables, media, ARIA</a:t>
            </a:r>
          </a:p>
        </p:txBody>
      </p:sp>
      <p:sp>
        <p:nvSpPr>
          <p:cNvPr id="21" name="TextBox 20"/>
          <p:cNvSpPr txBox="1"/>
          <p:nvPr/>
        </p:nvSpPr>
        <p:spPr>
          <a:xfrm>
            <a:off x="6867144" y="2715768"/>
            <a:ext cx="914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6 h</a:t>
            </a:r>
          </a:p>
        </p:txBody>
      </p:sp>
      <p:sp>
        <p:nvSpPr>
          <p:cNvPr id="22" name="TextBox 21"/>
          <p:cNvSpPr txBox="1"/>
          <p:nvPr/>
        </p:nvSpPr>
        <p:spPr>
          <a:xfrm>
            <a:off x="8055864" y="2715768"/>
            <a:ext cx="32918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Restaurant Menu + Order Form</a:t>
            </a:r>
          </a:p>
        </p:txBody>
      </p:sp>
      <p:sp>
        <p:nvSpPr>
          <p:cNvPr id="23" name="Rectangle 22"/>
          <p:cNvSpPr/>
          <p:nvPr/>
        </p:nvSpPr>
        <p:spPr>
          <a:xfrm>
            <a:off x="685800" y="1691640"/>
            <a:ext cx="10820095" cy="1371600"/>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26" name="TextBox 25"/>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 / 47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417320"/>
            <a:ext cx="2743200" cy="365760"/>
          </a:xfrm>
          <a:prstGeom prst="rect">
            <a:avLst/>
          </a:prstGeom>
          <a:noFill/>
        </p:spPr>
        <p:txBody>
          <a:bodyPr wrap="square" anchor="t" lIns="0" rIns="0" tIns="0" bIns="0">
            <a:spAutoFit/>
          </a:bodyPr>
          <a:lstStyle/>
          <a:p>
            <a:pPr algn="l">
              <a:lnSpc>
                <a:spcPct val="125000"/>
              </a:lnSpc>
            </a:pPr>
            <a:r>
              <a:rPr sz="1400" b="1">
                <a:solidFill>
                  <a:srgbClr val="4F46E5"/>
                </a:solidFill>
                <a:latin typeface="Segoe UI Semibold"/>
              </a:rPr>
              <a:t>SESSION 1</a:t>
            </a:r>
          </a:p>
        </p:txBody>
      </p:sp>
      <p:sp>
        <p:nvSpPr>
          <p:cNvPr id="4" name="TextBox 3"/>
          <p:cNvSpPr txBox="1"/>
          <p:nvPr/>
        </p:nvSpPr>
        <p:spPr>
          <a:xfrm>
            <a:off x="685800" y="1828800"/>
            <a:ext cx="9875520" cy="1280160"/>
          </a:xfrm>
          <a:prstGeom prst="rect">
            <a:avLst/>
          </a:prstGeom>
          <a:noFill/>
        </p:spPr>
        <p:txBody>
          <a:bodyPr wrap="square" anchor="t" lIns="0" rIns="0" tIns="0" bIns="0">
            <a:spAutoFit/>
          </a:bodyPr>
          <a:lstStyle/>
          <a:p>
            <a:pPr algn="l">
              <a:lnSpc>
                <a:spcPct val="105000"/>
              </a:lnSpc>
            </a:pPr>
            <a:r>
              <a:rPr sz="3800" b="1">
                <a:solidFill>
                  <a:srgbClr val="FFFFFF"/>
                </a:solidFill>
                <a:latin typeface="Segoe UI Semibold"/>
              </a:rPr>
              <a:t>Structure, Text, Links &amp; Media</a:t>
            </a:r>
          </a:p>
        </p:txBody>
      </p:sp>
      <p:sp>
        <p:nvSpPr>
          <p:cNvPr id="5" name="TextBox 4"/>
          <p:cNvSpPr txBox="1"/>
          <p:nvPr/>
        </p:nvSpPr>
        <p:spPr>
          <a:xfrm>
            <a:off x="685800" y="3246120"/>
            <a:ext cx="9601200" cy="548640"/>
          </a:xfrm>
          <a:prstGeom prst="rect">
            <a:avLst/>
          </a:prstGeom>
          <a:noFill/>
        </p:spPr>
        <p:txBody>
          <a:bodyPr wrap="square" anchor="t" lIns="0" rIns="0" tIns="0" bIns="0">
            <a:spAutoFit/>
          </a:bodyPr>
          <a:lstStyle/>
          <a:p>
            <a:pPr algn="l">
              <a:lnSpc>
                <a:spcPct val="125000"/>
              </a:lnSpc>
            </a:pPr>
            <a:r>
              <a:rPr sz="1700" b="0">
                <a:solidFill>
                  <a:srgbClr val="CBD5E1"/>
                </a:solidFill>
                <a:latin typeface="Segoe UI"/>
              </a:rPr>
              <a:t>Write a complete, valid, accessible page from memory and navigate it correctly.</a:t>
            </a:r>
          </a:p>
        </p:txBody>
      </p:sp>
      <p:sp>
        <p:nvSpPr>
          <p:cNvPr id="6" name="Rectangle 5"/>
          <p:cNvSpPr/>
          <p:nvPr/>
        </p:nvSpPr>
        <p:spPr>
          <a:xfrm>
            <a:off x="685800" y="3977639"/>
            <a:ext cx="100584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4343400"/>
            <a:ext cx="10058400" cy="1188720"/>
          </a:xfrm>
          <a:prstGeom prst="rect">
            <a:avLst/>
          </a:prstGeom>
          <a:noFill/>
        </p:spPr>
        <p:txBody>
          <a:bodyPr wrap="square" anchor="t" lIns="0" rIns="0" tIns="0" bIns="0">
            <a:spAutoFit/>
          </a:bodyPr>
          <a:lstStyle/>
          <a:p>
            <a:pPr algn="l">
              <a:lnSpc>
                <a:spcPct val="145000"/>
              </a:lnSpc>
            </a:pPr>
            <a:r>
              <a:rPr sz="1400" b="0">
                <a:solidFill>
                  <a:srgbClr val="94A3B8"/>
                </a:solidFill>
                <a:latin typeface="Segoe UI"/>
              </a:rPr>
              <a:t>How HTML works  ·  document structure  ·  tags &amp; attributes  ·  text content  ·  links  ·  paths &amp; folders  ·  images  ·  lists  ·  entities</a:t>
            </a:r>
          </a:p>
        </p:txBody>
      </p:sp>
      <p:sp>
        <p:nvSpPr>
          <p:cNvPr id="8" name="TextBox 7"/>
          <p:cNvSpPr txBox="1"/>
          <p:nvPr/>
        </p:nvSpPr>
        <p:spPr>
          <a:xfrm>
            <a:off x="685800" y="5989320"/>
            <a:ext cx="5486400" cy="320040"/>
          </a:xfrm>
          <a:prstGeom prst="rect">
            <a:avLst/>
          </a:prstGeom>
          <a:noFill/>
        </p:spPr>
        <p:txBody>
          <a:bodyPr wrap="square" anchor="t" lIns="0" rIns="0" tIns="0" bIns="0">
            <a:spAutoFit/>
          </a:bodyPr>
          <a:lstStyle/>
          <a:p>
            <a:pPr algn="l">
              <a:lnSpc>
                <a:spcPct val="125000"/>
              </a:lnSpc>
            </a:pPr>
            <a:r>
              <a:rPr sz="1300" b="0">
                <a:solidFill>
                  <a:srgbClr val="94A3B8"/>
                </a:solidFill>
                <a:latin typeface="Segoe UI Semibold"/>
              </a:rPr>
              <a:t>~5 hours</a:t>
            </a:r>
          </a:p>
        </p:txBody>
      </p:sp>
      <p:sp>
        <p:nvSpPr>
          <p:cNvPr id="9" name="Rectangle 8"/>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1" name="TextBox 10"/>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 / 47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WHY IT MATTERS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What HTML actually is</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A vocabulary for describing what a thing is, not what it looks like</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The browser reads it, builds a tree of objects, and paints that tree</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&lt;h1&gt; says “this is the main heading” — not “this is 32px bold”</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CSS answers “how does it look”. HTML answers “what is it”</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Get this backwards and you end up styling paragraphs because you could not find a heading element</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5 / 47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HOW IT WORKS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From file to pixels</a:t>
            </a:r>
          </a:p>
        </p:txBody>
      </p:sp>
      <p:sp>
        <p:nvSpPr>
          <p:cNvPr id="5" name="Rounded Rectangle 4"/>
          <p:cNvSpPr/>
          <p:nvPr/>
        </p:nvSpPr>
        <p:spPr>
          <a:xfrm>
            <a:off x="685800" y="1627632"/>
            <a:ext cx="10820095" cy="32918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83664"/>
            <a:ext cx="10180015" cy="2834640"/>
          </a:xfrm>
          <a:prstGeom prst="rect">
            <a:avLst/>
          </a:prstGeom>
          <a:noFill/>
        </p:spPr>
        <p:txBody>
          <a:bodyPr wrap="square" anchor="t" lIns="0" rIns="0" tIns="0" bIns="0">
            <a:spAutoFit/>
          </a:bodyPr>
          <a:lstStyle/>
          <a:p>
            <a:pPr algn="l">
              <a:lnSpc>
                <a:spcPct val="135000"/>
              </a:lnSpc>
            </a:pPr>
            <a:r>
              <a:rPr sz="1400" b="0">
                <a:solidFill>
                  <a:srgbClr val="E2E8F0"/>
                </a:solidFill>
                <a:latin typeface="Consolas"/>
              </a:rPr>
              <a:t/>
            </a:r>
          </a:p>
          <a:p>
            <a:pPr algn="l">
              <a:lnSpc>
                <a:spcPct val="135000"/>
              </a:lnSpc>
            </a:pPr>
            <a:r>
              <a:rPr sz="1400" b="0">
                <a:solidFill>
                  <a:srgbClr val="E2E8F0"/>
                </a:solidFill>
                <a:latin typeface="Consolas"/>
              </a:rPr>
              <a:t>  .html  →  parse  →  DOM tree  →  render  →  layout  →  paint</a:t>
            </a:r>
          </a:p>
          <a:p>
            <a:pPr algn="l">
              <a:lnSpc>
                <a:spcPct val="135000"/>
              </a:lnSpc>
            </a:pPr>
            <a:r>
              <a:rPr sz="1400" b="0">
                <a:solidFill>
                  <a:srgbClr val="E2E8F0"/>
                </a:solidFill>
                <a:latin typeface="Consolas"/>
              </a:rPr>
              <a:t>  bytes      tokens       objects      box        positions  pixels</a:t>
            </a:r>
          </a:p>
          <a:p>
            <a:pPr algn="l">
              <a:lnSpc>
                <a:spcPct val="135000"/>
              </a:lnSpc>
            </a:pPr>
            <a:r>
              <a:rPr sz="1400" b="0">
                <a:solidFill>
                  <a:srgbClr val="E2E8F0"/>
                </a:solidFill>
                <a:latin typeface="Consolas"/>
              </a:rPr>
              <a:t/>
            </a:r>
          </a:p>
        </p:txBody>
      </p:sp>
      <p:sp>
        <p:nvSpPr>
          <p:cNvPr id="7" name="TextBox 6"/>
          <p:cNvSpPr txBox="1"/>
          <p:nvPr/>
        </p:nvSpPr>
        <p:spPr>
          <a:xfrm>
            <a:off x="685800" y="5120640"/>
            <a:ext cx="10820095" cy="457200"/>
          </a:xfrm>
          <a:prstGeom prst="rect">
            <a:avLst/>
          </a:prstGeom>
          <a:noFill/>
        </p:spPr>
        <p:txBody>
          <a:bodyPr wrap="square" anchor="t" lIns="0" rIns="0" tIns="0" bIns="0">
            <a:spAutoFit/>
          </a:bodyPr>
          <a:lstStyle/>
          <a:p>
            <a:pPr algn="l">
              <a:lnSpc>
                <a:spcPct val="125000"/>
              </a:lnSpc>
            </a:pPr>
            <a:r>
              <a:rPr sz="1400" b="0">
                <a:solidFill>
                  <a:srgbClr val="64748B"/>
                </a:solidFill>
                <a:latin typeface="Segoe UI"/>
              </a:rPr>
              <a:t>Parse errors are recoverable. Wrong elements are not — the browser fixes your markup and then quietly gives you a page you did not design.</a:t>
            </a:r>
          </a:p>
        </p:txBody>
      </p:sp>
      <p:sp>
        <p:nvSpPr>
          <p:cNvPr id="8" name="Rectangle 7"/>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0" name="TextBox 9"/>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6 / 47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DOCUMENT STRUCTURE</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The minimum valid document</a:t>
            </a:r>
          </a:p>
        </p:txBody>
      </p:sp>
      <p:sp>
        <p:nvSpPr>
          <p:cNvPr id="5" name="Rounded Rectangle 4"/>
          <p:cNvSpPr/>
          <p:nvPr/>
        </p:nvSpPr>
        <p:spPr>
          <a:xfrm>
            <a:off x="685800" y="1627632"/>
            <a:ext cx="10820095" cy="365760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83664"/>
            <a:ext cx="10180015" cy="3200400"/>
          </a:xfrm>
          <a:prstGeom prst="rect">
            <a:avLst/>
          </a:prstGeom>
          <a:noFill/>
        </p:spPr>
        <p:txBody>
          <a:bodyPr wrap="square" anchor="t" lIns="0" rIns="0" tIns="0" bIns="0">
            <a:spAutoFit/>
          </a:bodyPr>
          <a:lstStyle/>
          <a:p>
            <a:pPr algn="l">
              <a:lnSpc>
                <a:spcPct val="135000"/>
              </a:lnSpc>
            </a:pPr>
            <a:r>
              <a:rPr sz="1300" b="0">
                <a:solidFill>
                  <a:srgbClr val="E2E8F0"/>
                </a:solidFill>
                <a:latin typeface="Consolas"/>
              </a:rPr>
              <a:t/>
            </a:r>
          </a:p>
          <a:p>
            <a:pPr algn="l">
              <a:lnSpc>
                <a:spcPct val="135000"/>
              </a:lnSpc>
            </a:pPr>
            <a:r>
              <a:rPr sz="1300" b="0">
                <a:solidFill>
                  <a:srgbClr val="E2E8F0"/>
                </a:solidFill>
                <a:latin typeface="Consolas"/>
              </a:rPr>
              <a:t>&amp;lt;!DOCTYPE html&amp;gt;</a:t>
            </a:r>
          </a:p>
          <a:p>
            <a:pPr algn="l">
              <a:lnSpc>
                <a:spcPct val="135000"/>
              </a:lnSpc>
            </a:pPr>
            <a:r>
              <a:rPr sz="1300" b="0">
                <a:solidFill>
                  <a:srgbClr val="E2E8F0"/>
                </a:solidFill>
                <a:latin typeface="Consolas"/>
              </a:rPr>
              <a:t>&amp;lt;html lang="en"&amp;gt;</a:t>
            </a:r>
          </a:p>
          <a:p>
            <a:pPr algn="l">
              <a:lnSpc>
                <a:spcPct val="135000"/>
              </a:lnSpc>
            </a:pPr>
            <a:r>
              <a:rPr sz="1300" b="0">
                <a:solidFill>
                  <a:srgbClr val="E2E8F0"/>
                </a:solidFill>
                <a:latin typeface="Consolas"/>
              </a:rPr>
              <a:t>&amp;lt;head&amp;gt;</a:t>
            </a:r>
          </a:p>
          <a:p>
            <a:pPr algn="l">
              <a:lnSpc>
                <a:spcPct val="135000"/>
              </a:lnSpc>
            </a:pPr>
            <a:r>
              <a:rPr sz="1300" b="0">
                <a:solidFill>
                  <a:srgbClr val="E2E8F0"/>
                </a:solidFill>
                <a:latin typeface="Consolas"/>
              </a:rPr>
              <a:t>  &amp;lt;meta charset="UTF-8"&amp;gt;</a:t>
            </a:r>
          </a:p>
          <a:p>
            <a:pPr algn="l">
              <a:lnSpc>
                <a:spcPct val="135000"/>
              </a:lnSpc>
            </a:pPr>
            <a:r>
              <a:rPr sz="1300" b="0">
                <a:solidFill>
                  <a:srgbClr val="E2E8F0"/>
                </a:solidFill>
                <a:latin typeface="Consolas"/>
              </a:rPr>
              <a:t>  &amp;lt;meta name="viewport" content="width=device-width, initial-scale=1.0"&amp;gt;</a:t>
            </a:r>
          </a:p>
          <a:p>
            <a:pPr algn="l">
              <a:lnSpc>
                <a:spcPct val="135000"/>
              </a:lnSpc>
            </a:pPr>
            <a:r>
              <a:rPr sz="1300" b="0">
                <a:solidFill>
                  <a:srgbClr val="E2E8F0"/>
                </a:solidFill>
                <a:latin typeface="Consolas"/>
              </a:rPr>
              <a:t>  &amp;lt;title&amp;gt;My page&amp;lt;/title&amp;gt;</a:t>
            </a:r>
          </a:p>
          <a:p>
            <a:pPr algn="l">
              <a:lnSpc>
                <a:spcPct val="135000"/>
              </a:lnSpc>
            </a:pPr>
            <a:r>
              <a:rPr sz="1300" b="0">
                <a:solidFill>
                  <a:srgbClr val="E2E8F0"/>
                </a:solidFill>
                <a:latin typeface="Consolas"/>
              </a:rPr>
              <a:t>&amp;lt;/head&amp;gt;</a:t>
            </a:r>
          </a:p>
          <a:p>
            <a:pPr algn="l">
              <a:lnSpc>
                <a:spcPct val="135000"/>
              </a:lnSpc>
            </a:pPr>
            <a:r>
              <a:rPr sz="1300" b="0">
                <a:solidFill>
                  <a:srgbClr val="E2E8F0"/>
                </a:solidFill>
                <a:latin typeface="Consolas"/>
              </a:rPr>
              <a:t>&amp;lt;body&amp;gt;</a:t>
            </a:r>
          </a:p>
          <a:p>
            <a:pPr algn="l">
              <a:lnSpc>
                <a:spcPct val="135000"/>
              </a:lnSpc>
            </a:pPr>
            <a:r>
              <a:rPr sz="1300" b="0">
                <a:solidFill>
                  <a:srgbClr val="E2E8F0"/>
                </a:solidFill>
                <a:latin typeface="Consolas"/>
              </a:rPr>
              <a:t>  &amp;lt;h1&amp;gt;Hello&amp;lt;/h1&amp;gt;</a:t>
            </a:r>
          </a:p>
          <a:p>
            <a:pPr algn="l">
              <a:lnSpc>
                <a:spcPct val="135000"/>
              </a:lnSpc>
            </a:pPr>
            <a:r>
              <a:rPr sz="1300" b="0">
                <a:solidFill>
                  <a:srgbClr val="E2E8F0"/>
                </a:solidFill>
                <a:latin typeface="Consolas"/>
              </a:rPr>
              <a:t>&amp;lt;/body&amp;gt;</a:t>
            </a:r>
          </a:p>
          <a:p>
            <a:pPr algn="l">
              <a:lnSpc>
                <a:spcPct val="135000"/>
              </a:lnSpc>
            </a:pPr>
            <a:r>
              <a:rPr sz="1300" b="0">
                <a:solidFill>
                  <a:srgbClr val="E2E8F0"/>
                </a:solidFill>
                <a:latin typeface="Consolas"/>
              </a:rPr>
              <a:t>&amp;lt;/html&amp;gt;</a:t>
            </a:r>
          </a:p>
        </p:txBody>
      </p:sp>
      <p:sp>
        <p:nvSpPr>
          <p:cNvPr id="7" name="Rectangle 6"/>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9" name="TextBox 8"/>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7 / 47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DOCUMENT STRUCTURE</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The three parts, and nothing else</a:t>
            </a:r>
          </a:p>
        </p:txBody>
      </p:sp>
      <p:sp>
        <p:nvSpPr>
          <p:cNvPr id="5" name="Rounded Rectangle 4"/>
          <p:cNvSpPr/>
          <p:nvPr/>
        </p:nvSpPr>
        <p:spPr>
          <a:xfrm>
            <a:off x="685800"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&lt;head&gt;</a:t>
            </a:r>
          </a:p>
        </p:txBody>
      </p:sp>
      <p:sp>
        <p:nvSpPr>
          <p:cNvPr id="8" name="TextBox 7"/>
          <p:cNvSpPr txBox="1"/>
          <p:nvPr/>
        </p:nvSpPr>
        <p:spPr>
          <a:xfrm>
            <a:off x="960120"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Metadata. Not visible. Title, charset, viewport, links, scripts.</a:t>
            </a:r>
          </a:p>
        </p:txBody>
      </p:sp>
      <p:sp>
        <p:nvSpPr>
          <p:cNvPr id="9" name="Rounded Rectangle 8"/>
          <p:cNvSpPr/>
          <p:nvPr/>
        </p:nvSpPr>
        <p:spPr>
          <a:xfrm>
            <a:off x="4383938"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3938"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8258"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&lt;body&gt;</a:t>
            </a:r>
          </a:p>
        </p:txBody>
      </p:sp>
      <p:sp>
        <p:nvSpPr>
          <p:cNvPr id="12" name="TextBox 11"/>
          <p:cNvSpPr txBox="1"/>
          <p:nvPr/>
        </p:nvSpPr>
        <p:spPr>
          <a:xfrm>
            <a:off x="4658258"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Everything visible. This is the page.</a:t>
            </a:r>
          </a:p>
        </p:txBody>
      </p:sp>
      <p:sp>
        <p:nvSpPr>
          <p:cNvPr id="13" name="Rounded Rectangle 12"/>
          <p:cNvSpPr/>
          <p:nvPr/>
        </p:nvSpPr>
        <p:spPr>
          <a:xfrm>
            <a:off x="8082076"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2076"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396"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The &lt;html&gt; element</a:t>
            </a:r>
          </a:p>
        </p:txBody>
      </p:sp>
      <p:sp>
        <p:nvSpPr>
          <p:cNvPr id="16" name="TextBox 15"/>
          <p:cNvSpPr txBox="1"/>
          <p:nvPr/>
        </p:nvSpPr>
        <p:spPr>
          <a:xfrm>
            <a:off x="8356396"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The root. Carries lang and dir. Not a container you style.</a:t>
            </a:r>
          </a:p>
        </p:txBody>
      </p:sp>
      <p:sp>
        <p:nvSpPr>
          <p:cNvPr id="17" name="Rectangle 16"/>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9" name="TextBox 18"/>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8 / 47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DOCUMENT STRUCTURE</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lang and dir are not decoration</a:t>
            </a:r>
          </a:p>
        </p:txBody>
      </p:sp>
      <p:sp>
        <p:nvSpPr>
          <p:cNvPr id="5" name="Rectangle 4"/>
          <p:cNvSpPr/>
          <p:nvPr/>
        </p:nvSpPr>
        <p:spPr>
          <a:xfrm>
            <a:off x="685800" y="1645920"/>
            <a:ext cx="5230368" cy="45720"/>
          </a:xfrm>
          <a:prstGeom prst="rect">
            <a:avLst/>
          </a:prstGeom>
          <a:solidFill>
            <a:srgbClr val="0586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What they buy you</a:t>
            </a:r>
          </a:p>
        </p:txBody>
      </p:sp>
      <p:sp>
        <p:nvSpPr>
          <p:cNvPr id="7" name="TextBox 6"/>
          <p:cNvSpPr txBox="1"/>
          <p:nvPr/>
        </p:nvSpPr>
        <p:spPr>
          <a:xfrm>
            <a:off x="685800"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Screen readers switch voice and pronunciation per language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Browsers use it to pick the right font and hyphenation</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Search engines use it to target the right locale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dir="rtl" flips the whole document correctly</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Arabic, Hebrew, Persian and Urdu all need it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It is one attribute and it is unfixable later</a:t>
            </a:r>
          </a:p>
        </p:txBody>
      </p:sp>
      <p:sp>
        <p:nvSpPr>
          <p:cNvPr id="8" name="Rectangle 7"/>
          <p:cNvSpPr/>
          <p:nvPr/>
        </p:nvSpPr>
        <p:spPr>
          <a:xfrm>
            <a:off x="6281928" y="1645920"/>
            <a:ext cx="5230368"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What you lose without them</a:t>
            </a:r>
          </a:p>
        </p:txBody>
      </p:sp>
      <p:sp>
        <p:nvSpPr>
          <p:cNvPr id="10" name="TextBox 9"/>
          <p:cNvSpPr txBox="1"/>
          <p:nvPr/>
        </p:nvSpPr>
        <p:spPr>
          <a:xfrm>
            <a:off x="6281928"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An Arabic page read by an English screen reader is unusable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The browser picks a Latin font for Arabic text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Your page shows up for the wrong language searches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You rebuild the entire layout to flip it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Mirrored padding needs per-direction overrides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One attribute, retrofitted across the whole codebase</a:t>
            </a:r>
          </a:p>
        </p:txBody>
      </p:sp>
      <p:sp>
        <p:nvSpPr>
          <p:cNvPr id="11" name="Rectangle 1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3" name="TextBox 1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9 / 47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DOCUMENT STRUCTURE</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Meta tags that actually matter</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&lt;meta charset="UTF-8"&gt;</a:t>
            </a:r>
          </a:p>
          <a:p>
            <a:pPr lvl="1">
              <a:lnSpc>
                <a:spcPct val="118000"/>
              </a:lnSpc>
              <a:spcAft>
                <a:spcPts val="500"/>
              </a:spcAft>
            </a:pPr>
            <a:r>
              <a:t/>
            </a:r>
            <a:r>
              <a:rPr sz="1500" b="1">
                <a:solidFill>
                  <a:srgbClr val="64748B"/>
                </a:solidFill>
                <a:latin typeface="Segoe UI"/>
              </a:rPr>
              <a:t>•  </a:t>
            </a:r>
            <a:r>
              <a:rPr sz="1500" b="0">
                <a:solidFill>
                  <a:srgbClr val="334155"/>
                </a:solidFill>
                <a:latin typeface="Segoe UI"/>
              </a:rPr>
              <a:t>First thing in &lt;head&gt;. Without it, non-Latin text can break.</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&lt;meta name="viewport" content="width=device-width, initial-scale=1.0"&gt;</a:t>
            </a:r>
          </a:p>
          <a:p>
            <a:pPr lvl="1">
              <a:lnSpc>
                <a:spcPct val="118000"/>
              </a:lnSpc>
              <a:spcAft>
                <a:spcPts val="500"/>
              </a:spcAft>
            </a:pPr>
            <a:r>
              <a:t/>
            </a:r>
            <a:r>
              <a:rPr sz="1500" b="1">
                <a:solidFill>
                  <a:srgbClr val="64748B"/>
                </a:solidFill>
                <a:latin typeface="Segoe UI"/>
              </a:rPr>
              <a:t>•  </a:t>
            </a:r>
            <a:r>
              <a:rPr sz="1500" b="0">
                <a:solidFill>
                  <a:srgbClr val="334155"/>
                </a:solidFill>
                <a:latin typeface="Segoe UI"/>
              </a:rPr>
              <a:t>Mandatory. Without it mobile browsers guess a 980px-wide screen.</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&lt;meta name="description" content="..."&gt;</a:t>
            </a:r>
          </a:p>
          <a:p>
            <a:pPr lvl="1">
              <a:lnSpc>
                <a:spcPct val="118000"/>
              </a:lnSpc>
              <a:spcAft>
                <a:spcPts val="500"/>
              </a:spcAft>
            </a:pPr>
            <a:r>
              <a:t/>
            </a:r>
            <a:r>
              <a:rPr sz="1500" b="1">
                <a:solidFill>
                  <a:srgbClr val="64748B"/>
                </a:solidFill>
                <a:latin typeface="Segoe UI"/>
              </a:rPr>
              <a:t>•  </a:t>
            </a:r>
            <a:r>
              <a:rPr sz="1500" b="0">
                <a:solidFill>
                  <a:srgbClr val="334155"/>
                </a:solidFill>
                <a:latin typeface="Segoe UI"/>
              </a:rPr>
              <a:t>The snippet under your title in search results.</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&lt;title&gt; is not a meta tag, but forget it and the tab says the URL</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Open Graph tags control how the link looks when shared on social media</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10 / 47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VOCABULARY</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Tag vs element vs attribute</a:t>
            </a:r>
          </a:p>
        </p:txBody>
      </p:sp>
      <p:sp>
        <p:nvSpPr>
          <p:cNvPr id="5" name="Rectangle 4"/>
          <p:cNvSpPr/>
          <p:nvPr/>
        </p:nvSpPr>
        <p:spPr>
          <a:xfrm>
            <a:off x="685800" y="1691640"/>
            <a:ext cx="237744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92224"/>
            <a:ext cx="210312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Code</a:t>
            </a:r>
          </a:p>
        </p:txBody>
      </p:sp>
      <p:sp>
        <p:nvSpPr>
          <p:cNvPr id="7" name="Rectangle 6"/>
          <p:cNvSpPr/>
          <p:nvPr/>
        </p:nvSpPr>
        <p:spPr>
          <a:xfrm>
            <a:off x="3063240" y="1691640"/>
            <a:ext cx="219456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9544" y="1792224"/>
            <a:ext cx="192024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Term</a:t>
            </a:r>
          </a:p>
        </p:txBody>
      </p:sp>
      <p:sp>
        <p:nvSpPr>
          <p:cNvPr id="9" name="Rectangle 8"/>
          <p:cNvSpPr/>
          <p:nvPr/>
        </p:nvSpPr>
        <p:spPr>
          <a:xfrm>
            <a:off x="5257800" y="1691640"/>
            <a:ext cx="621792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04104" y="1792224"/>
            <a:ext cx="594360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Meaning</a:t>
            </a:r>
          </a:p>
        </p:txBody>
      </p:sp>
      <p:sp>
        <p:nvSpPr>
          <p:cNvPr id="11" name="Rectangle 10"/>
          <p:cNvSpPr/>
          <p:nvPr/>
        </p:nvSpPr>
        <p:spPr>
          <a:xfrm>
            <a:off x="685800" y="2112264"/>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2240280"/>
            <a:ext cx="21031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&lt;p&gt;</a:t>
            </a:r>
          </a:p>
        </p:txBody>
      </p:sp>
      <p:sp>
        <p:nvSpPr>
          <p:cNvPr id="13" name="TextBox 12"/>
          <p:cNvSpPr txBox="1"/>
          <p:nvPr/>
        </p:nvSpPr>
        <p:spPr>
          <a:xfrm>
            <a:off x="3209544" y="2240280"/>
            <a:ext cx="19202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a tag</a:t>
            </a:r>
          </a:p>
        </p:txBody>
      </p:sp>
      <p:sp>
        <p:nvSpPr>
          <p:cNvPr id="14" name="TextBox 13"/>
          <p:cNvSpPr txBox="1"/>
          <p:nvPr/>
        </p:nvSpPr>
        <p:spPr>
          <a:xfrm>
            <a:off x="5404104" y="2240280"/>
            <a:ext cx="59436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Written with angle brackets</a:t>
            </a:r>
          </a:p>
        </p:txBody>
      </p:sp>
      <p:sp>
        <p:nvSpPr>
          <p:cNvPr id="15" name="Rectangle 14"/>
          <p:cNvSpPr/>
          <p:nvPr/>
        </p:nvSpPr>
        <p:spPr>
          <a:xfrm>
            <a:off x="685800" y="2587752"/>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2715768"/>
            <a:ext cx="21031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&lt;p&gt;Hello&lt;/p&gt;</a:t>
            </a:r>
          </a:p>
        </p:txBody>
      </p:sp>
      <p:sp>
        <p:nvSpPr>
          <p:cNvPr id="17" name="TextBox 16"/>
          <p:cNvSpPr txBox="1"/>
          <p:nvPr/>
        </p:nvSpPr>
        <p:spPr>
          <a:xfrm>
            <a:off x="3209544" y="2715768"/>
            <a:ext cx="19202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an element</a:t>
            </a:r>
          </a:p>
        </p:txBody>
      </p:sp>
      <p:sp>
        <p:nvSpPr>
          <p:cNvPr id="18" name="TextBox 17"/>
          <p:cNvSpPr txBox="1"/>
          <p:nvPr/>
        </p:nvSpPr>
        <p:spPr>
          <a:xfrm>
            <a:off x="5404104" y="2715768"/>
            <a:ext cx="59436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Tag + content + closing tag</a:t>
            </a:r>
          </a:p>
        </p:txBody>
      </p:sp>
      <p:sp>
        <p:nvSpPr>
          <p:cNvPr id="19" name="Rectangle 18"/>
          <p:cNvSpPr/>
          <p:nvPr/>
        </p:nvSpPr>
        <p:spPr>
          <a:xfrm>
            <a:off x="685800" y="3063240"/>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91256"/>
            <a:ext cx="21031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&lt;p class="lead"&gt;</a:t>
            </a:r>
          </a:p>
        </p:txBody>
      </p:sp>
      <p:sp>
        <p:nvSpPr>
          <p:cNvPr id="21" name="TextBox 20"/>
          <p:cNvSpPr txBox="1"/>
          <p:nvPr/>
        </p:nvSpPr>
        <p:spPr>
          <a:xfrm>
            <a:off x="3209544" y="3191256"/>
            <a:ext cx="19202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an attribute</a:t>
            </a:r>
          </a:p>
        </p:txBody>
      </p:sp>
      <p:sp>
        <p:nvSpPr>
          <p:cNvPr id="22" name="TextBox 21"/>
          <p:cNvSpPr txBox="1"/>
          <p:nvPr/>
        </p:nvSpPr>
        <p:spPr>
          <a:xfrm>
            <a:off x="5404104" y="3191256"/>
            <a:ext cx="59436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Extra information on the tag</a:t>
            </a:r>
          </a:p>
        </p:txBody>
      </p:sp>
      <p:sp>
        <p:nvSpPr>
          <p:cNvPr id="23" name="Rectangle 22"/>
          <p:cNvSpPr/>
          <p:nvPr/>
        </p:nvSpPr>
        <p:spPr>
          <a:xfrm>
            <a:off x="685800" y="1691640"/>
            <a:ext cx="10820095" cy="1847088"/>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26" name="TextBox 25"/>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11 / 47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VOCABULARY</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Void elements take no closing tag</a:t>
            </a:r>
          </a:p>
        </p:txBody>
      </p:sp>
      <p:sp>
        <p:nvSpPr>
          <p:cNvPr id="5" name="Rounded Rectangle 4"/>
          <p:cNvSpPr/>
          <p:nvPr/>
        </p:nvSpPr>
        <p:spPr>
          <a:xfrm>
            <a:off x="685800"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&lt;img&gt;</a:t>
            </a:r>
          </a:p>
        </p:txBody>
      </p:sp>
      <p:sp>
        <p:nvSpPr>
          <p:cNvPr id="8" name="TextBox 7"/>
          <p:cNvSpPr txBox="1"/>
          <p:nvPr/>
        </p:nvSpPr>
        <p:spPr>
          <a:xfrm>
            <a:off x="960120"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Image. All of them: the &lt;img&gt; you are reading is void.</a:t>
            </a:r>
          </a:p>
        </p:txBody>
      </p:sp>
      <p:sp>
        <p:nvSpPr>
          <p:cNvPr id="9" name="Rounded Rectangle 8"/>
          <p:cNvSpPr/>
          <p:nvPr/>
        </p:nvSpPr>
        <p:spPr>
          <a:xfrm>
            <a:off x="4383938"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3938"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8258"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&lt;br&gt;</a:t>
            </a:r>
          </a:p>
        </p:txBody>
      </p:sp>
      <p:sp>
        <p:nvSpPr>
          <p:cNvPr id="12" name="TextBox 11"/>
          <p:cNvSpPr txBox="1"/>
          <p:nvPr/>
        </p:nvSpPr>
        <p:spPr>
          <a:xfrm>
            <a:off x="4658258"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Line break. Use sparingly — see the text section.</a:t>
            </a:r>
          </a:p>
        </p:txBody>
      </p:sp>
      <p:sp>
        <p:nvSpPr>
          <p:cNvPr id="13" name="Rounded Rectangle 12"/>
          <p:cNvSpPr/>
          <p:nvPr/>
        </p:nvSpPr>
        <p:spPr>
          <a:xfrm>
            <a:off x="8082076"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2076"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396"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&lt;input&gt;</a:t>
            </a:r>
          </a:p>
        </p:txBody>
      </p:sp>
      <p:sp>
        <p:nvSpPr>
          <p:cNvPr id="16" name="TextBox 15"/>
          <p:cNvSpPr txBox="1"/>
          <p:nvPr/>
        </p:nvSpPr>
        <p:spPr>
          <a:xfrm>
            <a:off x="8356396"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Form field. One tag, no children, no closing.</a:t>
            </a:r>
          </a:p>
        </p:txBody>
      </p:sp>
      <p:sp>
        <p:nvSpPr>
          <p:cNvPr id="17" name="Rounded Rectangle 16"/>
          <p:cNvSpPr/>
          <p:nvPr/>
        </p:nvSpPr>
        <p:spPr>
          <a:xfrm>
            <a:off x="685800" y="3227832"/>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227832"/>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410712"/>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&lt;hr&gt;</a:t>
            </a:r>
          </a:p>
        </p:txBody>
      </p:sp>
      <p:sp>
        <p:nvSpPr>
          <p:cNvPr id="20" name="TextBox 19"/>
          <p:cNvSpPr txBox="1"/>
          <p:nvPr/>
        </p:nvSpPr>
        <p:spPr>
          <a:xfrm>
            <a:off x="960120" y="3758184"/>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Thematic break. Rarely the right answer.</a:t>
            </a:r>
          </a:p>
        </p:txBody>
      </p:sp>
      <p:sp>
        <p:nvSpPr>
          <p:cNvPr id="21" name="Rounded Rectangle 20"/>
          <p:cNvSpPr/>
          <p:nvPr/>
        </p:nvSpPr>
        <p:spPr>
          <a:xfrm>
            <a:off x="4383938" y="3227832"/>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3938" y="3227832"/>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58258" y="3410712"/>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&lt;meta&gt;, &lt;link&gt;</a:t>
            </a:r>
          </a:p>
        </p:txBody>
      </p:sp>
      <p:sp>
        <p:nvSpPr>
          <p:cNvPr id="24" name="TextBox 23"/>
          <p:cNvSpPr txBox="1"/>
          <p:nvPr/>
        </p:nvSpPr>
        <p:spPr>
          <a:xfrm>
            <a:off x="4658258" y="3758184"/>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Head elements. Both void, both easy to forget and malform.</a:t>
            </a:r>
          </a:p>
        </p:txBody>
      </p:sp>
      <p:sp>
        <p:nvSpPr>
          <p:cNvPr id="25" name="Rectangle 24"/>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27" name="TextBox 26"/>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12 / 47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TEXT CONTENT</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Headings build an outline, and the outline is a feature</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&lt;h1&gt; to &lt;h6&gt;. One question: what is this, in the hierarchy?</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One &lt;h1&gt; per page, and it is the page title</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Levels describe nesting, not font size</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Never skip a level to get a different size — that is CSS's job</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Screen reader users navigate by jumping between headings</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Search engines use the same outline</a:t>
            </a:r>
          </a:p>
          <a:p>
            <a:pPr>
              <a:lnSpc>
                <a:spcPct val="118000"/>
              </a:lnSpc>
              <a:spcAft>
                <a:spcPts val="900"/>
              </a:spcAft>
            </a:pPr>
            <a:r>
              <a:t/>
            </a:r>
            <a:r>
              <a:rPr sz="1700" b="1">
                <a:solidFill>
                  <a:srgbClr val="B91C1C"/>
                </a:solidFill>
                <a:latin typeface="Segoe UI"/>
              </a:rPr>
              <a:t>✕  </a:t>
            </a:r>
            <a:r>
              <a:rPr sz="1700" b="0">
                <a:solidFill>
                  <a:srgbClr val="0F172A"/>
                </a:solidFill>
                <a:latin typeface="Segoe UI"/>
              </a:rPr>
              <a:t>Choosing a heading by how big it looks is the most common structural mistake</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13 / 47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TEXT CONTENT</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Line breaks are not layout</a:t>
            </a:r>
          </a:p>
        </p:txBody>
      </p:sp>
      <p:sp>
        <p:nvSpPr>
          <p:cNvPr id="5" name="Rectangle 4"/>
          <p:cNvSpPr/>
          <p:nvPr/>
        </p:nvSpPr>
        <p:spPr>
          <a:xfrm>
            <a:off x="685800" y="1645920"/>
            <a:ext cx="5230368" cy="45720"/>
          </a:xfrm>
          <a:prstGeom prst="rect">
            <a:avLst/>
          </a:prstGeom>
          <a:solidFill>
            <a:srgbClr val="0586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The right tool</a:t>
            </a:r>
          </a:p>
        </p:txBody>
      </p:sp>
      <p:sp>
        <p:nvSpPr>
          <p:cNvPr id="7" name="TextBox 6"/>
          <p:cNvSpPr txBox="1"/>
          <p:nvPr/>
        </p:nvSpPr>
        <p:spPr>
          <a:xfrm>
            <a:off x="685800"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Use a block element: &lt;p&gt;, &lt;div&gt;, &lt;section&gt;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New block element = new line, and it is semantic</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&lt;br&gt; for a line break inside a sentence — an address, a poem</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Full control over spacing with CSS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The DOM stays clean and shallow</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Copy-paste from your page looks correct</a:t>
            </a:r>
          </a:p>
        </p:txBody>
      </p:sp>
      <p:sp>
        <p:nvSpPr>
          <p:cNvPr id="8" name="Rectangle 7"/>
          <p:cNvSpPr/>
          <p:nvPr/>
        </p:nvSpPr>
        <p:spPr>
          <a:xfrm>
            <a:off x="6281928" y="1645920"/>
            <a:ext cx="5230368"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The div-and-&lt;br&gt; reflex</a:t>
            </a:r>
          </a:p>
        </p:txBody>
      </p:sp>
      <p:sp>
        <p:nvSpPr>
          <p:cNvPr id="10" name="TextBox 9"/>
          <p:cNvSpPr txBox="1"/>
          <p:nvPr/>
        </p:nvSpPr>
        <p:spPr>
          <a:xfrm>
            <a:off x="6281928"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A stack of &lt;br&gt; tags to force line breaks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Or empty &lt;div&gt; elements as spacers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Works, and breaks the moment the text reflows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Responsive layout becomes impossible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The DOM is a mess and screen readers announce it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Looks wrong at every width except the one you built</a:t>
            </a:r>
          </a:p>
        </p:txBody>
      </p:sp>
      <p:sp>
        <p:nvSpPr>
          <p:cNvPr id="11" name="Rectangle 1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3" name="TextBox 1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14 / 47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TEXT CONTENT</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Formatting: semantics or just looks?</a:t>
            </a:r>
          </a:p>
        </p:txBody>
      </p:sp>
      <p:sp>
        <p:nvSpPr>
          <p:cNvPr id="5" name="Rectangle 4"/>
          <p:cNvSpPr/>
          <p:nvPr/>
        </p:nvSpPr>
        <p:spPr>
          <a:xfrm>
            <a:off x="685800" y="1645920"/>
            <a:ext cx="5230368"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Means something</a:t>
            </a:r>
          </a:p>
        </p:txBody>
      </p:sp>
      <p:sp>
        <p:nvSpPr>
          <p:cNvPr id="7" name="TextBox 6"/>
          <p:cNvSpPr txBox="1"/>
          <p:nvPr/>
        </p:nvSpPr>
        <p:spPr>
          <a:xfrm>
            <a:off x="685800"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&lt;strong&gt; importance, not just weight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&lt;em&gt; stress or emphasis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&lt;mark&gt; highlighted as relevant right now</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&lt;del&gt; deleted, and visible as deleted</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&lt;small&gt; fine print, legal, side content</a:t>
            </a:r>
          </a:p>
        </p:txBody>
      </p:sp>
      <p:sp>
        <p:nvSpPr>
          <p:cNvPr id="8" name="Rectangle 7"/>
          <p:cNvSpPr/>
          <p:nvPr/>
        </p:nvSpPr>
        <p:spPr>
          <a:xfrm>
            <a:off x="6281928" y="1645920"/>
            <a:ext cx="5230368"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Only means bold or italic</a:t>
            </a:r>
          </a:p>
        </p:txBody>
      </p:sp>
      <p:sp>
        <p:nvSpPr>
          <p:cNvPr id="10" name="TextBox 9"/>
          <p:cNvSpPr txBox="1"/>
          <p:nvPr/>
        </p:nvSpPr>
        <p:spPr>
          <a:xfrm>
            <a:off x="6281928"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&lt;b&gt; — bold, nothing more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&lt;i&gt; — italic, nothing more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Both still valid, both legitimate uses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No screen reader announces either one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Choosing these loses the meaning for free</a:t>
            </a:r>
          </a:p>
        </p:txBody>
      </p:sp>
      <p:sp>
        <p:nvSpPr>
          <p:cNvPr id="11" name="Rectangle 1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3" name="TextBox 1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15 / 47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LINKS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Links: the whole API in one attribute</a:t>
            </a:r>
          </a:p>
        </p:txBody>
      </p:sp>
      <p:sp>
        <p:nvSpPr>
          <p:cNvPr id="5" name="Rounded Rectangle 4"/>
          <p:cNvSpPr/>
          <p:nvPr/>
        </p:nvSpPr>
        <p:spPr>
          <a:xfrm>
            <a:off x="685800" y="1627632"/>
            <a:ext cx="10820095" cy="329184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83664"/>
            <a:ext cx="10180015" cy="2834640"/>
          </a:xfrm>
          <a:prstGeom prst="rect">
            <a:avLst/>
          </a:prstGeom>
          <a:noFill/>
        </p:spPr>
        <p:txBody>
          <a:bodyPr wrap="square" anchor="t" lIns="0" rIns="0" tIns="0" bIns="0">
            <a:spAutoFit/>
          </a:bodyPr>
          <a:lstStyle/>
          <a:p>
            <a:pPr algn="l">
              <a:lnSpc>
                <a:spcPct val="135000"/>
              </a:lnSpc>
            </a:pPr>
            <a:r>
              <a:rPr sz="1400" b="0">
                <a:solidFill>
                  <a:srgbClr val="E2E8F0"/>
                </a:solidFill>
                <a:latin typeface="Consolas"/>
              </a:rPr>
              <a:t/>
            </a:r>
          </a:p>
          <a:p>
            <a:pPr algn="l">
              <a:lnSpc>
                <a:spcPct val="135000"/>
              </a:lnSpc>
            </a:pPr>
            <a:r>
              <a:rPr sz="1400" b="0">
                <a:solidFill>
                  <a:srgbClr val="E2E8F0"/>
                </a:solidFill>
                <a:latin typeface="Consolas"/>
              </a:rPr>
              <a:t>&amp;lt;a href="/about"&amp;gt;About us&amp;lt;/a&amp;gt;</a:t>
            </a:r>
          </a:p>
          <a:p>
            <a:pPr algn="l">
              <a:lnSpc>
                <a:spcPct val="135000"/>
              </a:lnSpc>
            </a:pPr>
            <a:r>
              <a:rPr sz="1400" b="0">
                <a:solidFill>
                  <a:srgbClr val="E2E8F0"/>
                </a:solidFill>
                <a:latin typeface="Consolas"/>
              </a:rPr>
              <a:t>&amp;lt;a href="#contact"&amp;gt;Jump to contact&amp;lt;/a&amp;gt;</a:t>
            </a:r>
          </a:p>
          <a:p>
            <a:pPr algn="l">
              <a:lnSpc>
                <a:spcPct val="135000"/>
              </a:lnSpc>
            </a:pPr>
            <a:r>
              <a:rPr sz="1400" b="0">
                <a:solidFill>
                  <a:srgbClr val="E2E8F0"/>
                </a:solidFill>
                <a:latin typeface="Consolas"/>
              </a:rPr>
              <a:t>&amp;lt;a href="../index.html"&amp;gt;Up one level&amp;lt;/a&amp;gt;</a:t>
            </a:r>
          </a:p>
          <a:p>
            <a:pPr algn="l">
              <a:lnSpc>
                <a:spcPct val="135000"/>
              </a:lnSpc>
            </a:pPr>
            <a:r>
              <a:rPr sz="1400" b="0">
                <a:solidFill>
                  <a:srgbClr val="E2E8F0"/>
                </a:solidFill>
                <a:latin typeface="Consolas"/>
              </a:rPr>
              <a:t>&amp;lt;a href="mailto:hello@example.com"&amp;gt;Email us&amp;lt;/a&amp;gt;</a:t>
            </a:r>
          </a:p>
          <a:p>
            <a:pPr algn="l">
              <a:lnSpc>
                <a:spcPct val="135000"/>
              </a:lnSpc>
            </a:pPr>
            <a:r>
              <a:rPr sz="1400" b="0">
                <a:solidFill>
                  <a:srgbClr val="E2E8F0"/>
                </a:solidFill>
                <a:latin typeface="Consolas"/>
              </a:rPr>
              <a:t>&amp;lt;a href="tel:+201234567890"&amp;gt;Call us&amp;lt;/a&amp;gt;</a:t>
            </a:r>
          </a:p>
          <a:p>
            <a:pPr algn="l">
              <a:lnSpc>
                <a:spcPct val="135000"/>
              </a:lnSpc>
            </a:pPr>
            <a:r>
              <a:rPr sz="1400" b="0">
                <a:solidFill>
                  <a:srgbClr val="E2E8F0"/>
                </a:solidFill>
                <a:latin typeface="Consolas"/>
              </a:rPr>
              <a:t>&amp;lt;a href="report.pdf" download&amp;gt;Download the report&amp;lt;/a&amp;gt;</a:t>
            </a:r>
          </a:p>
        </p:txBody>
      </p:sp>
      <p:sp>
        <p:nvSpPr>
          <p:cNvPr id="7" name="Rectangle 6"/>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9" name="TextBox 8"/>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16 / 47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LINKS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target="_blank" costs something</a:t>
            </a:r>
          </a:p>
        </p:txBody>
      </p:sp>
      <p:sp>
        <p:nvSpPr>
          <p:cNvPr id="5" name="Rectangle 4"/>
          <p:cNvSpPr/>
          <p:nvPr/>
        </p:nvSpPr>
        <p:spPr>
          <a:xfrm>
            <a:off x="685800" y="1645920"/>
            <a:ext cx="5230368" cy="45720"/>
          </a:xfrm>
          <a:prstGeom prst="rect">
            <a:avLst/>
          </a:prstGeom>
          <a:solidFill>
            <a:srgbClr val="0586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The safe version</a:t>
            </a:r>
          </a:p>
        </p:txBody>
      </p:sp>
      <p:sp>
        <p:nvSpPr>
          <p:cNvPr id="7" name="TextBox 6"/>
          <p:cNvSpPr txBox="1"/>
          <p:nvPr/>
        </p:nvSpPr>
        <p:spPr>
          <a:xfrm>
            <a:off x="685800"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rel="noopener noreferrer" always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noopener severs window.opener — the old tab cannot reach the new one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noreferrer withholds the Referer header</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Links to other sites: safer and more private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Links inside your own app: usually avoid _blank entirely</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It is two words and it closes a real vulnerability</a:t>
            </a:r>
          </a:p>
        </p:txBody>
      </p:sp>
      <p:sp>
        <p:nvSpPr>
          <p:cNvPr id="8" name="Rectangle 7"/>
          <p:cNvSpPr/>
          <p:nvPr/>
        </p:nvSpPr>
        <p:spPr>
          <a:xfrm>
            <a:off x="6281928" y="1645920"/>
            <a:ext cx="5230368"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target="_blank" alone</a:t>
            </a:r>
          </a:p>
        </p:txBody>
      </p:sp>
      <p:sp>
        <p:nvSpPr>
          <p:cNvPr id="10" name="TextBox 9"/>
          <p:cNvSpPr txBox="1"/>
          <p:nvPr/>
        </p:nvSpPr>
        <p:spPr>
          <a:xfrm>
            <a:off x="6281928"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The new page can read window.opener.location</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Reverse tabnabbing: the other site redirects you</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Referer leaks the URL you came from</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Nothing about it is a syntax error</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The validator will never warn you</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It still works, which is why nobody notices</a:t>
            </a:r>
          </a:p>
        </p:txBody>
      </p:sp>
      <p:sp>
        <p:nvSpPr>
          <p:cNvPr id="11" name="Rectangle 1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3" name="TextBox 1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17 / 47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PATHS &amp; FOLDER STRUCTURE</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Paths: the thing that breaks when you move the file</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Absolute: /images/logo.png — from the site root</a:t>
            </a:r>
          </a:p>
          <a:p>
            <a:pPr>
              <a:lnSpc>
                <a:spcPct val="118000"/>
              </a:lnSpc>
              <a:spcAft>
                <a:spcPts val="900"/>
              </a:spcAft>
            </a:pPr>
            <a:r>
              <a:t/>
            </a:r>
            <a:r>
              <a:rPr sz="1700" b="1">
                <a:solidFill>
                  <a:srgbClr val="B91C1C"/>
                </a:solidFill>
                <a:latin typeface="Segoe UI"/>
              </a:rPr>
              <a:t>✕  </a:t>
            </a:r>
            <a:r>
              <a:rPr sz="1700" b="0">
                <a:solidFill>
                  <a:srgbClr val="0F172A"/>
                </a:solidFill>
                <a:latin typeface="Segoe UI"/>
              </a:rPr>
              <a:t>Breaks the moment you move the project to a subfolder</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Relative: images/logo.png — from the current file's folder</a:t>
            </a:r>
          </a:p>
          <a:p>
            <a:pPr>
              <a:lnSpc>
                <a:spcPct val="118000"/>
              </a:lnSpc>
              <a:spcAft>
                <a:spcPts val="900"/>
              </a:spcAft>
            </a:pPr>
            <a:r>
              <a:t/>
            </a:r>
            <a:r>
              <a:rPr sz="1700" b="1">
                <a:solidFill>
                  <a:srgbClr val="058653"/>
                </a:solidFill>
                <a:latin typeface="Segoe UI"/>
              </a:rPr>
              <a:t>✓  </a:t>
            </a:r>
            <a:r>
              <a:rPr sz="1700" b="0">
                <a:solidFill>
                  <a:srgbClr val="0F172A"/>
                </a:solidFill>
                <a:latin typeface="Segoe UI"/>
              </a:rPr>
              <a:t>Moves with the project. This is what you want.</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 goes up one level, ./ is the current folder</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A good test: the project still works when opened from a different path</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18 / 47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PATHS &amp; FOLDER STRUCTURE</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A folder structure that survives</a:t>
            </a:r>
          </a:p>
        </p:txBody>
      </p:sp>
      <p:sp>
        <p:nvSpPr>
          <p:cNvPr id="5" name="Rounded Rectangle 4"/>
          <p:cNvSpPr/>
          <p:nvPr/>
        </p:nvSpPr>
        <p:spPr>
          <a:xfrm>
            <a:off x="685800"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index.html</a:t>
            </a:r>
          </a:p>
        </p:txBody>
      </p:sp>
      <p:sp>
        <p:nvSpPr>
          <p:cNvPr id="8" name="TextBox 7"/>
          <p:cNvSpPr txBox="1"/>
          <p:nvPr/>
        </p:nvSpPr>
        <p:spPr>
          <a:xfrm>
            <a:off x="960120"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The entry point. One per folder means the folder alone is a valid site.</a:t>
            </a:r>
          </a:p>
        </p:txBody>
      </p:sp>
      <p:sp>
        <p:nvSpPr>
          <p:cNvPr id="9" name="Rounded Rectangle 8"/>
          <p:cNvSpPr/>
          <p:nvPr/>
        </p:nvSpPr>
        <p:spPr>
          <a:xfrm>
            <a:off x="4383938"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3938"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8258"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assets/</a:t>
            </a:r>
          </a:p>
        </p:txBody>
      </p:sp>
      <p:sp>
        <p:nvSpPr>
          <p:cNvPr id="12" name="TextBox 11"/>
          <p:cNvSpPr txBox="1"/>
          <p:nvPr/>
        </p:nvSpPr>
        <p:spPr>
          <a:xfrm>
            <a:off x="4658258"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Everything non-content. img/, icons/, fonts/ inside it.</a:t>
            </a:r>
          </a:p>
        </p:txBody>
      </p:sp>
      <p:sp>
        <p:nvSpPr>
          <p:cNvPr id="13" name="Rounded Rectangle 12"/>
          <p:cNvSpPr/>
          <p:nvPr/>
        </p:nvSpPr>
        <p:spPr>
          <a:xfrm>
            <a:off x="8082076"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2076"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396"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css/</a:t>
            </a:r>
          </a:p>
        </p:txBody>
      </p:sp>
      <p:sp>
        <p:nvSpPr>
          <p:cNvPr id="16" name="TextBox 15"/>
          <p:cNvSpPr txBox="1"/>
          <p:nvPr/>
        </p:nvSpPr>
        <p:spPr>
          <a:xfrm>
            <a:off x="8356396"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One stylesheet per concern, not per page.</a:t>
            </a:r>
          </a:p>
        </p:txBody>
      </p:sp>
      <p:sp>
        <p:nvSpPr>
          <p:cNvPr id="17" name="Rounded Rectangle 16"/>
          <p:cNvSpPr/>
          <p:nvPr/>
        </p:nvSpPr>
        <p:spPr>
          <a:xfrm>
            <a:off x="685800" y="3227832"/>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227832"/>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410712"/>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js/</a:t>
            </a:r>
          </a:p>
        </p:txBody>
      </p:sp>
      <p:sp>
        <p:nvSpPr>
          <p:cNvPr id="20" name="TextBox 19"/>
          <p:cNvSpPr txBox="1"/>
          <p:nvPr/>
        </p:nvSpPr>
        <p:spPr>
          <a:xfrm>
            <a:off x="960120" y="3758184"/>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Same rule, once you get there.</a:t>
            </a:r>
          </a:p>
        </p:txBody>
      </p:sp>
      <p:sp>
        <p:nvSpPr>
          <p:cNvPr id="21" name="Rectangle 2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23" name="TextBox 2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19 / 47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IMAGES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Images: the four required things</a:t>
            </a:r>
          </a:p>
        </p:txBody>
      </p:sp>
      <p:sp>
        <p:nvSpPr>
          <p:cNvPr id="5" name="Rounded Rectangle 4"/>
          <p:cNvSpPr/>
          <p:nvPr/>
        </p:nvSpPr>
        <p:spPr>
          <a:xfrm>
            <a:off x="685800" y="1627632"/>
            <a:ext cx="10820095" cy="292608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83664"/>
            <a:ext cx="10180015" cy="2468880"/>
          </a:xfrm>
          <a:prstGeom prst="rect">
            <a:avLst/>
          </a:prstGeom>
          <a:noFill/>
        </p:spPr>
        <p:txBody>
          <a:bodyPr wrap="square" anchor="t" lIns="0" rIns="0" tIns="0" bIns="0">
            <a:spAutoFit/>
          </a:bodyPr>
          <a:lstStyle/>
          <a:p>
            <a:pPr algn="l">
              <a:lnSpc>
                <a:spcPct val="135000"/>
              </a:lnSpc>
            </a:pPr>
            <a:r>
              <a:rPr sz="1300" b="0">
                <a:solidFill>
                  <a:srgbClr val="E2E8F0"/>
                </a:solidFill>
                <a:latin typeface="Consolas"/>
              </a:rPr>
              <a:t/>
            </a:r>
          </a:p>
          <a:p>
            <a:pPr algn="l">
              <a:lnSpc>
                <a:spcPct val="135000"/>
              </a:lnSpc>
            </a:pPr>
            <a:r>
              <a:rPr sz="1300" b="0">
                <a:solidFill>
                  <a:srgbClr val="E2E8F0"/>
                </a:solidFill>
                <a:latin typeface="Consolas"/>
              </a:rPr>
              <a:t>&amp;lt;img</a:t>
            </a:r>
          </a:p>
          <a:p>
            <a:pPr algn="l">
              <a:lnSpc>
                <a:spcPct val="135000"/>
              </a:lnSpc>
            </a:pPr>
            <a:r>
              <a:rPr sz="1300" b="0">
                <a:solidFill>
                  <a:srgbClr val="E2E8F0"/>
                </a:solidFill>
                <a:latin typeface="Consolas"/>
              </a:rPr>
              <a:t>  src="assets/img/cafe.jpg"</a:t>
            </a:r>
          </a:p>
          <a:p>
            <a:pPr algn="l">
              <a:lnSpc>
                <a:spcPct val="135000"/>
              </a:lnSpc>
            </a:pPr>
            <a:r>
              <a:rPr sz="1300" b="0">
                <a:solidFill>
                  <a:srgbClr val="E2E8F0"/>
                </a:solidFill>
                <a:latin typeface="Consolas"/>
              </a:rPr>
              <a:t>  alt="A small cafe with three tables and large windows"</a:t>
            </a:r>
          </a:p>
          <a:p>
            <a:pPr algn="l">
              <a:lnSpc>
                <a:spcPct val="135000"/>
              </a:lnSpc>
            </a:pPr>
            <a:r>
              <a:rPr sz="1300" b="0">
                <a:solidFill>
                  <a:srgbClr val="E2E8F0"/>
                </a:solidFill>
                <a:latin typeface="Consolas"/>
              </a:rPr>
              <a:t>  width="1200"</a:t>
            </a:r>
          </a:p>
          <a:p>
            <a:pPr algn="l">
              <a:lnSpc>
                <a:spcPct val="135000"/>
              </a:lnSpc>
            </a:pPr>
            <a:r>
              <a:rPr sz="1300" b="0">
                <a:solidFill>
                  <a:srgbClr val="E2E8F0"/>
                </a:solidFill>
                <a:latin typeface="Consolas"/>
              </a:rPr>
              <a:t>  height="800"</a:t>
            </a:r>
          </a:p>
          <a:p>
            <a:pPr algn="l">
              <a:lnSpc>
                <a:spcPct val="135000"/>
              </a:lnSpc>
            </a:pPr>
            <a:r>
              <a:rPr sz="1300" b="0">
                <a:solidFill>
                  <a:srgbClr val="E2E8F0"/>
                </a:solidFill>
                <a:latin typeface="Consolas"/>
              </a:rPr>
              <a:t>  loading="lazy"</a:t>
            </a:r>
          </a:p>
          <a:p>
            <a:pPr algn="l">
              <a:lnSpc>
                <a:spcPct val="135000"/>
              </a:lnSpc>
            </a:pPr>
            <a:r>
              <a:rPr sz="1300" b="0">
                <a:solidFill>
                  <a:srgbClr val="E2E8F0"/>
                </a:solidFill>
                <a:latin typeface="Consolas"/>
              </a:rPr>
              <a:t>  decoding="async"</a:t>
            </a:r>
          </a:p>
          <a:p>
            <a:pPr algn="l">
              <a:lnSpc>
                <a:spcPct val="135000"/>
              </a:lnSpc>
            </a:pPr>
            <a:r>
              <a:rPr sz="1300" b="0">
                <a:solidFill>
                  <a:srgbClr val="E2E8F0"/>
                </a:solidFill>
                <a:latin typeface="Consolas"/>
              </a:rPr>
              <a:t>/&amp;gt;</a:t>
            </a:r>
          </a:p>
        </p:txBody>
      </p:sp>
      <p:sp>
        <p:nvSpPr>
          <p:cNvPr id="7" name="TextBox 6"/>
          <p:cNvSpPr txBox="1"/>
          <p:nvPr/>
        </p:nvSpPr>
        <p:spPr>
          <a:xfrm>
            <a:off x="685800" y="4754880"/>
            <a:ext cx="10820095" cy="457200"/>
          </a:xfrm>
          <a:prstGeom prst="rect">
            <a:avLst/>
          </a:prstGeom>
          <a:noFill/>
        </p:spPr>
        <p:txBody>
          <a:bodyPr wrap="square" anchor="t" lIns="0" rIns="0" tIns="0" bIns="0">
            <a:spAutoFit/>
          </a:bodyPr>
          <a:lstStyle/>
          <a:p>
            <a:pPr algn="l">
              <a:lnSpc>
                <a:spcPct val="125000"/>
              </a:lnSpc>
            </a:pPr>
            <a:r>
              <a:rPr sz="1400" b="0">
                <a:solidFill>
                  <a:srgbClr val="64748B"/>
                </a:solidFill>
                <a:latin typeface="Segoe UI"/>
              </a:rPr>
              <a:t>src · alt · width + height · loading. Four attributes, and the page does not jump around while it loads.</a:t>
            </a:r>
          </a:p>
        </p:txBody>
      </p:sp>
      <p:sp>
        <p:nvSpPr>
          <p:cNvPr id="8" name="Rectangle 7"/>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0" name="TextBox 9"/>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20 / 47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IMAGES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Writing alt text</a:t>
            </a:r>
          </a:p>
        </p:txBody>
      </p:sp>
      <p:sp>
        <p:nvSpPr>
          <p:cNvPr id="5" name="Rectangle 4"/>
          <p:cNvSpPr/>
          <p:nvPr/>
        </p:nvSpPr>
        <p:spPr>
          <a:xfrm>
            <a:off x="685800" y="1645920"/>
            <a:ext cx="5230368" cy="45720"/>
          </a:xfrm>
          <a:prstGeom prst="rect">
            <a:avLst/>
          </a:prstGeom>
          <a:solidFill>
            <a:srgbClr val="0586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What good looks like</a:t>
            </a:r>
          </a:p>
        </p:txBody>
      </p:sp>
      <p:sp>
        <p:nvSpPr>
          <p:cNvPr id="7" name="TextBox 6"/>
          <p:cNvSpPr txBox="1"/>
          <p:nvPr/>
        </p:nvSpPr>
        <p:spPr>
          <a:xfrm>
            <a:off x="685800"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Describe what the image conveys in context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Skip ‘image of’ and ‘picture of’ — a screen reader says that already</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Keep it under about 125 characters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Keyword context: ‘oat flat white’ beats ‘coffee’ on a cafe page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Purely decorative? alt="" and nothing else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alt="" tells the reader to skip it — that is the point</a:t>
            </a:r>
          </a:p>
        </p:txBody>
      </p:sp>
      <p:sp>
        <p:nvSpPr>
          <p:cNvPr id="8" name="Rectangle 7"/>
          <p:cNvSpPr/>
          <p:nvPr/>
        </p:nvSpPr>
        <p:spPr>
          <a:xfrm>
            <a:off x="6281928" y="1645920"/>
            <a:ext cx="5230368"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What gets written instead</a:t>
            </a:r>
          </a:p>
        </p:txBody>
      </p:sp>
      <p:sp>
        <p:nvSpPr>
          <p:cNvPr id="10" name="TextBox 9"/>
          <p:cNvSpPr txBox="1"/>
          <p:nvPr/>
        </p:nvSpPr>
        <p:spPr>
          <a:xfrm>
            <a:off x="6281928"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alt="" on a photo that carries meaning</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alt="image1.jpg" — a filename, not a description</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alt="spacer" on a decorative gif</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Keyword stuffing a list of unrelated words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Capturing text that is already on the page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Silently deleting information the sighted user relies on</a:t>
            </a:r>
          </a:p>
        </p:txBody>
      </p:sp>
      <p:sp>
        <p:nvSpPr>
          <p:cNvPr id="11" name="Rectangle 1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3" name="TextBox 1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21 / 47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IMAGES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Formats, and when each one wins</a:t>
            </a:r>
          </a:p>
        </p:txBody>
      </p:sp>
      <p:sp>
        <p:nvSpPr>
          <p:cNvPr id="5" name="Rectangle 4"/>
          <p:cNvSpPr/>
          <p:nvPr/>
        </p:nvSpPr>
        <p:spPr>
          <a:xfrm>
            <a:off x="685800" y="1691640"/>
            <a:ext cx="146304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92224"/>
            <a:ext cx="118872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Format</a:t>
            </a:r>
          </a:p>
        </p:txBody>
      </p:sp>
      <p:sp>
        <p:nvSpPr>
          <p:cNvPr id="7" name="Rectangle 6"/>
          <p:cNvSpPr/>
          <p:nvPr/>
        </p:nvSpPr>
        <p:spPr>
          <a:xfrm>
            <a:off x="2148840" y="1691640"/>
            <a:ext cx="356616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295144" y="1792224"/>
            <a:ext cx="329184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Use it for</a:t>
            </a:r>
          </a:p>
        </p:txBody>
      </p:sp>
      <p:sp>
        <p:nvSpPr>
          <p:cNvPr id="9" name="Rectangle 8"/>
          <p:cNvSpPr/>
          <p:nvPr/>
        </p:nvSpPr>
        <p:spPr>
          <a:xfrm>
            <a:off x="5715000" y="1691640"/>
            <a:ext cx="576072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61304" y="1792224"/>
            <a:ext cx="548640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Watch out for</a:t>
            </a:r>
          </a:p>
        </p:txBody>
      </p:sp>
      <p:sp>
        <p:nvSpPr>
          <p:cNvPr id="11" name="Rectangle 10"/>
          <p:cNvSpPr/>
          <p:nvPr/>
        </p:nvSpPr>
        <p:spPr>
          <a:xfrm>
            <a:off x="685800" y="2112264"/>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2240280"/>
            <a:ext cx="11887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JPEG</a:t>
            </a:r>
          </a:p>
        </p:txBody>
      </p:sp>
      <p:sp>
        <p:nvSpPr>
          <p:cNvPr id="13" name="TextBox 12"/>
          <p:cNvSpPr txBox="1"/>
          <p:nvPr/>
        </p:nvSpPr>
        <p:spPr>
          <a:xfrm>
            <a:off x="2295144" y="2240280"/>
            <a:ext cx="32918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Photos, gradients</a:t>
            </a:r>
          </a:p>
        </p:txBody>
      </p:sp>
      <p:sp>
        <p:nvSpPr>
          <p:cNvPr id="14" name="TextBox 13"/>
          <p:cNvSpPr txBox="1"/>
          <p:nvPr/>
        </p:nvSpPr>
        <p:spPr>
          <a:xfrm>
            <a:off x="5861304" y="2240280"/>
            <a:ext cx="5486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No transparency. Artifacts on flat colour.</a:t>
            </a:r>
          </a:p>
        </p:txBody>
      </p:sp>
      <p:sp>
        <p:nvSpPr>
          <p:cNvPr id="15" name="Rectangle 14"/>
          <p:cNvSpPr/>
          <p:nvPr/>
        </p:nvSpPr>
        <p:spPr>
          <a:xfrm>
            <a:off x="685800" y="2587752"/>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2715768"/>
            <a:ext cx="11887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PNG</a:t>
            </a:r>
          </a:p>
        </p:txBody>
      </p:sp>
      <p:sp>
        <p:nvSpPr>
          <p:cNvPr id="17" name="TextBox 16"/>
          <p:cNvSpPr txBox="1"/>
          <p:nvPr/>
        </p:nvSpPr>
        <p:spPr>
          <a:xfrm>
            <a:off x="2295144" y="2715768"/>
            <a:ext cx="32918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Screenshots, logos, flat art</a:t>
            </a:r>
          </a:p>
        </p:txBody>
      </p:sp>
      <p:sp>
        <p:nvSpPr>
          <p:cNvPr id="18" name="TextBox 17"/>
          <p:cNvSpPr txBox="1"/>
          <p:nvPr/>
        </p:nvSpPr>
        <p:spPr>
          <a:xfrm>
            <a:off x="5861304" y="2715768"/>
            <a:ext cx="5486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Lossless, huge. Avoid on photos.</a:t>
            </a:r>
          </a:p>
        </p:txBody>
      </p:sp>
      <p:sp>
        <p:nvSpPr>
          <p:cNvPr id="19" name="Rectangle 18"/>
          <p:cNvSpPr/>
          <p:nvPr/>
        </p:nvSpPr>
        <p:spPr>
          <a:xfrm>
            <a:off x="685800" y="3063240"/>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91256"/>
            <a:ext cx="11887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WebP</a:t>
            </a:r>
          </a:p>
        </p:txBody>
      </p:sp>
      <p:sp>
        <p:nvSpPr>
          <p:cNvPr id="21" name="TextBox 20"/>
          <p:cNvSpPr txBox="1"/>
          <p:nvPr/>
        </p:nvSpPr>
        <p:spPr>
          <a:xfrm>
            <a:off x="2295144" y="3191256"/>
            <a:ext cx="32918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Everything, by default now</a:t>
            </a:r>
          </a:p>
        </p:txBody>
      </p:sp>
      <p:sp>
        <p:nvSpPr>
          <p:cNvPr id="22" name="TextBox 21"/>
          <p:cNvSpPr txBox="1"/>
          <p:nvPr/>
        </p:nvSpPr>
        <p:spPr>
          <a:xfrm>
            <a:off x="5861304" y="3191256"/>
            <a:ext cx="5486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Smaller than both. Broad support.</a:t>
            </a:r>
          </a:p>
        </p:txBody>
      </p:sp>
      <p:sp>
        <p:nvSpPr>
          <p:cNvPr id="23" name="Rectangle 22"/>
          <p:cNvSpPr/>
          <p:nvPr/>
        </p:nvSpPr>
        <p:spPr>
          <a:xfrm>
            <a:off x="685800" y="3538728"/>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 y="3666744"/>
            <a:ext cx="11887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AVIF</a:t>
            </a:r>
          </a:p>
        </p:txBody>
      </p:sp>
      <p:sp>
        <p:nvSpPr>
          <p:cNvPr id="25" name="TextBox 24"/>
          <p:cNvSpPr txBox="1"/>
          <p:nvPr/>
        </p:nvSpPr>
        <p:spPr>
          <a:xfrm>
            <a:off x="2295144" y="3666744"/>
            <a:ext cx="32918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Everything, budget permitting</a:t>
            </a:r>
          </a:p>
        </p:txBody>
      </p:sp>
      <p:sp>
        <p:nvSpPr>
          <p:cNvPr id="26" name="TextBox 25"/>
          <p:cNvSpPr txBox="1"/>
          <p:nvPr/>
        </p:nvSpPr>
        <p:spPr>
          <a:xfrm>
            <a:off x="5861304" y="3666744"/>
            <a:ext cx="5486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Smallest. Slower to encode.</a:t>
            </a:r>
          </a:p>
        </p:txBody>
      </p:sp>
      <p:sp>
        <p:nvSpPr>
          <p:cNvPr id="27" name="Rectangle 26"/>
          <p:cNvSpPr/>
          <p:nvPr/>
        </p:nvSpPr>
        <p:spPr>
          <a:xfrm>
            <a:off x="685800" y="4014216"/>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32104" y="4142232"/>
            <a:ext cx="11887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SVG</a:t>
            </a:r>
          </a:p>
        </p:txBody>
      </p:sp>
      <p:sp>
        <p:nvSpPr>
          <p:cNvPr id="29" name="TextBox 28"/>
          <p:cNvSpPr txBox="1"/>
          <p:nvPr/>
        </p:nvSpPr>
        <p:spPr>
          <a:xfrm>
            <a:off x="2295144" y="4142232"/>
            <a:ext cx="329184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Icons, illustrations, charts</a:t>
            </a:r>
          </a:p>
        </p:txBody>
      </p:sp>
      <p:sp>
        <p:nvSpPr>
          <p:cNvPr id="30" name="TextBox 29"/>
          <p:cNvSpPr txBox="1"/>
          <p:nvPr/>
        </p:nvSpPr>
        <p:spPr>
          <a:xfrm>
            <a:off x="5861304" y="4142232"/>
            <a:ext cx="548640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Infinite, themable, DOM-addressable.</a:t>
            </a:r>
          </a:p>
        </p:txBody>
      </p:sp>
      <p:sp>
        <p:nvSpPr>
          <p:cNvPr id="31" name="Rectangle 30"/>
          <p:cNvSpPr/>
          <p:nvPr/>
        </p:nvSpPr>
        <p:spPr>
          <a:xfrm>
            <a:off x="685800" y="1691640"/>
            <a:ext cx="10820095" cy="2798064"/>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34" name="TextBox 33"/>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22 / 47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IMAGES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Responsive images in four lines</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srcset offers the browser several files at different widths</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sizes tells it how wide the image will actually render</a:t>
            </a:r>
          </a:p>
          <a:p>
            <a:pPr>
              <a:lnSpc>
                <a:spcPct val="118000"/>
              </a:lnSpc>
              <a:spcAft>
                <a:spcPts val="900"/>
              </a:spcAft>
            </a:pPr>
            <a:r>
              <a:t/>
            </a:r>
            <a:r>
              <a:rPr sz="1700" b="1">
                <a:solidFill>
                  <a:srgbClr val="058653"/>
                </a:solidFill>
                <a:latin typeface="Segoe UI"/>
              </a:rPr>
              <a:t>✓  </a:t>
            </a:r>
            <a:r>
              <a:rPr sz="1700" b="0">
                <a:solidFill>
                  <a:srgbClr val="0F172A"/>
                </a:solidFill>
                <a:latin typeface="Segoe UI"/>
              </a:rPr>
              <a:t>The browser then downloads the smallest file that is still sharp</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&lt;picture&gt; goes further: art direction, not just resolution</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&lt;picture&gt;&lt;source media="..."&gt; then a final &lt;img&gt; fallback</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sizes is where people go wrong — a wrong sizes means the wrong file</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23 / 47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LISTS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Lists: structure, not bullets</a:t>
            </a:r>
          </a:p>
        </p:txBody>
      </p:sp>
      <p:sp>
        <p:nvSpPr>
          <p:cNvPr id="5" name="Rectangle 4"/>
          <p:cNvSpPr/>
          <p:nvPr/>
        </p:nvSpPr>
        <p:spPr>
          <a:xfrm>
            <a:off x="685800" y="1645920"/>
            <a:ext cx="5230368"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Use a list</a:t>
            </a:r>
          </a:p>
        </p:txBody>
      </p:sp>
      <p:sp>
        <p:nvSpPr>
          <p:cNvPr id="7" name="TextBox 6"/>
          <p:cNvSpPr txBox="1"/>
          <p:nvPr/>
        </p:nvSpPr>
        <p:spPr>
          <a:xfrm>
            <a:off x="685800"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Navigation menus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 set of steps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Ingredients, features, tags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 glossary — &lt;dl&gt; with &lt;dt&gt; and &lt;dd&gt;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Nested categories use nested &lt;ul&gt;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Free indentation, and a screen reader announces ‘list of 5’</a:t>
            </a:r>
          </a:p>
        </p:txBody>
      </p:sp>
      <p:sp>
        <p:nvSpPr>
          <p:cNvPr id="8" name="Rectangle 7"/>
          <p:cNvSpPr/>
          <p:nvPr/>
        </p:nvSpPr>
        <p:spPr>
          <a:xfrm>
            <a:off x="6281928" y="1645920"/>
            <a:ext cx="5230368"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Do not use a list</a:t>
            </a:r>
          </a:p>
        </p:txBody>
      </p:sp>
      <p:sp>
        <p:nvSpPr>
          <p:cNvPr id="10" name="TextBox 9"/>
          <p:cNvSpPr txBox="1"/>
          <p:nvPr/>
        </p:nvSpPr>
        <p:spPr>
          <a:xfrm>
            <a:off x="6281928"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A row of links styled as a flex row</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That is a nav, not a list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Five &lt;div&gt;s with bullets from background images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Or paragraphs that happen to end in a period</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Or a table, which is never for layout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Semantics first; the visual is your call</a:t>
            </a:r>
          </a:p>
        </p:txBody>
      </p:sp>
      <p:sp>
        <p:nvSpPr>
          <p:cNvPr id="11" name="Rectangle 1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3" name="TextBox 1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24 / 47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ENTITIES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Entities: reserved characters and beyond</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&amp;amp; &amp;lt; &amp;gt; &amp;quot; — must be escaped in content</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&amp;nbsp;   — a non-breaking space, for units like 10 km</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&amp;copy; &amp;reg; &amp;deg; &amp;mdash; &amp;hellip; — typography</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&amp;#169; or &amp;#xA9; — the numeric form of anything</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Escaping is mandatory wherever user input is rendered</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This is the exact mechanism an XSS payload uses — you will meet it in the JavaScript track</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25 / 47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ENTITIES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Bidi entities — the Arabic edge cases</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Text direction is inferred, and inference fails at the edges</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A phone number inside Arabic text renders in the wrong order</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A URL at the end of a line moves the punctuation to the wrong side</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&amp;lrm; &amp;ltr; — force a left-to-right run</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&amp;rlm; &amp;rtl; — force a right-to-left run</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&lt;bdo dir="ltr"&gt; — override direction for a whole fragment</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26 / 47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58368"/>
            <a:ext cx="5486400" cy="320040"/>
          </a:xfrm>
          <a:prstGeom prst="rect">
            <a:avLst/>
          </a:prstGeom>
          <a:noFill/>
        </p:spPr>
        <p:txBody>
          <a:bodyPr wrap="square" anchor="t" lIns="0" rIns="0" tIns="0" bIns="0">
            <a:spAutoFit/>
          </a:bodyPr>
          <a:lstStyle/>
          <a:p>
            <a:pPr algn="l">
              <a:lnSpc>
                <a:spcPct val="125000"/>
              </a:lnSpc>
            </a:pPr>
            <a:r>
              <a:rPr sz="1300" b="1">
                <a:solidFill>
                  <a:srgbClr val="4F46E5"/>
                </a:solidFill>
                <a:latin typeface="Segoe UI Semibold"/>
              </a:rPr>
              <a:t>LIVE CODING</a:t>
            </a:r>
          </a:p>
        </p:txBody>
      </p:sp>
      <p:sp>
        <p:nvSpPr>
          <p:cNvPr id="4" name="TextBox 3"/>
          <p:cNvSpPr txBox="1"/>
          <p:nvPr/>
        </p:nvSpPr>
        <p:spPr>
          <a:xfrm>
            <a:off x="685800" y="1005840"/>
            <a:ext cx="10058400" cy="640080"/>
          </a:xfrm>
          <a:prstGeom prst="rect">
            <a:avLst/>
          </a:prstGeom>
          <a:noFill/>
        </p:spPr>
        <p:txBody>
          <a:bodyPr wrap="square" anchor="t" lIns="0" rIns="0" tIns="0" bIns="0">
            <a:spAutoFit/>
          </a:bodyPr>
          <a:lstStyle/>
          <a:p>
            <a:pPr algn="l">
              <a:lnSpc>
                <a:spcPct val="125000"/>
              </a:lnSpc>
            </a:pPr>
            <a:r>
              <a:rPr sz="3000" b="1">
                <a:solidFill>
                  <a:srgbClr val="0F172A"/>
                </a:solidFill>
                <a:latin typeface="Segoe UI Semibold"/>
              </a:rPr>
              <a:t>Write a page from memory</a:t>
            </a:r>
          </a:p>
        </p:txBody>
      </p:sp>
      <p:sp>
        <p:nvSpPr>
          <p:cNvPr id="5" name="TextBox 4"/>
          <p:cNvSpPr txBox="1"/>
          <p:nvPr/>
        </p:nvSpPr>
        <p:spPr>
          <a:xfrm>
            <a:off x="9692640" y="685800"/>
            <a:ext cx="1783080" cy="320040"/>
          </a:xfrm>
          <a:prstGeom prst="rect">
            <a:avLst/>
          </a:prstGeom>
          <a:noFill/>
        </p:spPr>
        <p:txBody>
          <a:bodyPr wrap="square" anchor="t" lIns="0" rIns="0" tIns="0" bIns="0">
            <a:spAutoFit/>
          </a:bodyPr>
          <a:lstStyle/>
          <a:p>
            <a:pPr algn="r">
              <a:lnSpc>
                <a:spcPct val="125000"/>
              </a:lnSpc>
            </a:pPr>
            <a:r>
              <a:rPr sz="1300" b="0">
                <a:solidFill>
                  <a:srgbClr val="64748B"/>
                </a:solidFill>
                <a:latin typeface="Segoe UI"/>
              </a:rPr>
              <a:t>40 min</a:t>
            </a:r>
          </a:p>
        </p:txBody>
      </p:sp>
      <p:sp>
        <p:nvSpPr>
          <p:cNvPr id="6" name="Rounded Rectangle 5"/>
          <p:cNvSpPr/>
          <p:nvPr/>
        </p:nvSpPr>
        <p:spPr>
          <a:xfrm>
            <a:off x="685800" y="2093976"/>
            <a:ext cx="237744" cy="237744"/>
          </a:xfrm>
          <a:prstGeom prst="roundRect">
            <a:avLst>
              <a:gd name="adj" fmla="val 50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21408"/>
            <a:ext cx="237744" cy="219456"/>
          </a:xfrm>
          <a:prstGeom prst="rect">
            <a:avLst/>
          </a:prstGeom>
          <a:noFill/>
        </p:spPr>
        <p:txBody>
          <a:bodyPr wrap="square" anchor="t" lIns="0" rIns="0" tIns="0" bIns="0">
            <a:spAutoFit/>
          </a:bodyPr>
          <a:lstStyle/>
          <a:p>
            <a:pPr algn="ctr">
              <a:lnSpc>
                <a:spcPct val="125000"/>
              </a:lnSpc>
            </a:pPr>
            <a:r>
              <a:rPr sz="1100" b="1">
                <a:solidFill>
                  <a:srgbClr val="4F46E5"/>
                </a:solidFill>
                <a:latin typeface="Segoe UI Semibold"/>
              </a:rPr>
              <a:t>1</a:t>
            </a:r>
          </a:p>
        </p:txBody>
      </p:sp>
      <p:sp>
        <p:nvSpPr>
          <p:cNvPr id="8" name="TextBox 7"/>
          <p:cNvSpPr txBox="1"/>
          <p:nvPr/>
        </p:nvSpPr>
        <p:spPr>
          <a:xfrm>
            <a:off x="1143000" y="2057400"/>
            <a:ext cx="9692640" cy="731520"/>
          </a:xfrm>
          <a:prstGeom prst="rect">
            <a:avLst/>
          </a:prstGeom>
          <a:noFill/>
        </p:spPr>
        <p:txBody>
          <a:bodyPr wrap="square" anchor="t" lIns="0" rIns="0" tIns="0" bIns="0">
            <a:spAutoFit/>
          </a:bodyPr>
          <a:lstStyle/>
          <a:p>
            <a:pPr algn="l">
              <a:lnSpc>
                <a:spcPct val="130000"/>
              </a:lnSpc>
            </a:pPr>
            <a:r>
              <a:rPr sz="1700" b="0">
                <a:solidFill>
                  <a:srgbClr val="334155"/>
                </a:solidFill>
                <a:latin typeface="Segoe UI"/>
              </a:rPr>
              <a:t>Build the skeleton of a valid HTML document with no reference</a:t>
            </a:r>
          </a:p>
        </p:txBody>
      </p:sp>
      <p:sp>
        <p:nvSpPr>
          <p:cNvPr id="9" name="Rounded Rectangle 8"/>
          <p:cNvSpPr/>
          <p:nvPr/>
        </p:nvSpPr>
        <p:spPr>
          <a:xfrm>
            <a:off x="685800" y="2807208"/>
            <a:ext cx="237744" cy="237744"/>
          </a:xfrm>
          <a:prstGeom prst="roundRect">
            <a:avLst>
              <a:gd name="adj" fmla="val 50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34640"/>
            <a:ext cx="237744" cy="219456"/>
          </a:xfrm>
          <a:prstGeom prst="rect">
            <a:avLst/>
          </a:prstGeom>
          <a:noFill/>
        </p:spPr>
        <p:txBody>
          <a:bodyPr wrap="square" anchor="t" lIns="0" rIns="0" tIns="0" bIns="0">
            <a:spAutoFit/>
          </a:bodyPr>
          <a:lstStyle/>
          <a:p>
            <a:pPr algn="ctr">
              <a:lnSpc>
                <a:spcPct val="125000"/>
              </a:lnSpc>
            </a:pPr>
            <a:r>
              <a:rPr sz="1100" b="1">
                <a:solidFill>
                  <a:srgbClr val="4F46E5"/>
                </a:solidFill>
                <a:latin typeface="Segoe UI Semibold"/>
              </a:rPr>
              <a:t>2</a:t>
            </a:r>
          </a:p>
        </p:txBody>
      </p:sp>
      <p:sp>
        <p:nvSpPr>
          <p:cNvPr id="11" name="TextBox 10"/>
          <p:cNvSpPr txBox="1"/>
          <p:nvPr/>
        </p:nvSpPr>
        <p:spPr>
          <a:xfrm>
            <a:off x="1143000" y="2770632"/>
            <a:ext cx="9692640" cy="731520"/>
          </a:xfrm>
          <a:prstGeom prst="rect">
            <a:avLst/>
          </a:prstGeom>
          <a:noFill/>
        </p:spPr>
        <p:txBody>
          <a:bodyPr wrap="square" anchor="t" lIns="0" rIns="0" tIns="0" bIns="0">
            <a:spAutoFit/>
          </a:bodyPr>
          <a:lstStyle/>
          <a:p>
            <a:pPr algn="l">
              <a:lnSpc>
                <a:spcPct val="130000"/>
              </a:lnSpc>
            </a:pPr>
            <a:r>
              <a:rPr sz="1700" b="0">
                <a:solidFill>
                  <a:srgbClr val="334155"/>
                </a:solidFill>
                <a:latin typeface="Segoe UI"/>
              </a:rPr>
              <a:t>Convert a plain text document into headings and paragraphs</a:t>
            </a:r>
          </a:p>
        </p:txBody>
      </p:sp>
      <p:sp>
        <p:nvSpPr>
          <p:cNvPr id="12" name="Rounded Rectangle 11"/>
          <p:cNvSpPr/>
          <p:nvPr/>
        </p:nvSpPr>
        <p:spPr>
          <a:xfrm>
            <a:off x="685800" y="3520440"/>
            <a:ext cx="237744" cy="237744"/>
          </a:xfrm>
          <a:prstGeom prst="roundRect">
            <a:avLst>
              <a:gd name="adj" fmla="val 50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547872"/>
            <a:ext cx="237744" cy="219456"/>
          </a:xfrm>
          <a:prstGeom prst="rect">
            <a:avLst/>
          </a:prstGeom>
          <a:noFill/>
        </p:spPr>
        <p:txBody>
          <a:bodyPr wrap="square" anchor="t" lIns="0" rIns="0" tIns="0" bIns="0">
            <a:spAutoFit/>
          </a:bodyPr>
          <a:lstStyle/>
          <a:p>
            <a:pPr algn="ctr">
              <a:lnSpc>
                <a:spcPct val="125000"/>
              </a:lnSpc>
            </a:pPr>
            <a:r>
              <a:rPr sz="1100" b="1">
                <a:solidFill>
                  <a:srgbClr val="4F46E5"/>
                </a:solidFill>
                <a:latin typeface="Segoe UI Semibold"/>
              </a:rPr>
              <a:t>3</a:t>
            </a:r>
          </a:p>
        </p:txBody>
      </p:sp>
      <p:sp>
        <p:nvSpPr>
          <p:cNvPr id="14" name="TextBox 13"/>
          <p:cNvSpPr txBox="1"/>
          <p:nvPr/>
        </p:nvSpPr>
        <p:spPr>
          <a:xfrm>
            <a:off x="1143000" y="3483864"/>
            <a:ext cx="9692640" cy="731520"/>
          </a:xfrm>
          <a:prstGeom prst="rect">
            <a:avLst/>
          </a:prstGeom>
          <a:noFill/>
        </p:spPr>
        <p:txBody>
          <a:bodyPr wrap="square" anchor="t" lIns="0" rIns="0" tIns="0" bIns="0">
            <a:spAutoFit/>
          </a:bodyPr>
          <a:lstStyle/>
          <a:p>
            <a:pPr algn="l">
              <a:lnSpc>
                <a:spcPct val="130000"/>
              </a:lnSpc>
            </a:pPr>
            <a:r>
              <a:rPr sz="1700" b="0">
                <a:solidFill>
                  <a:srgbClr val="334155"/>
                </a:solidFill>
                <a:latin typeface="Segoe UI"/>
              </a:rPr>
              <a:t>Find and fix three intentionally broken documents</a:t>
            </a:r>
          </a:p>
        </p:txBody>
      </p:sp>
      <p:sp>
        <p:nvSpPr>
          <p:cNvPr id="15" name="Rounded Rectangle 14"/>
          <p:cNvSpPr/>
          <p:nvPr/>
        </p:nvSpPr>
        <p:spPr>
          <a:xfrm>
            <a:off x="685800" y="4334256"/>
            <a:ext cx="10820095" cy="868680"/>
          </a:xfrm>
          <a:prstGeom prst="roundRect">
            <a:avLst>
              <a:gd name="adj" fmla="val 5000"/>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334256"/>
            <a:ext cx="45720" cy="868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471416"/>
            <a:ext cx="914400" cy="274320"/>
          </a:xfrm>
          <a:prstGeom prst="rect">
            <a:avLst/>
          </a:prstGeom>
          <a:noFill/>
        </p:spPr>
        <p:txBody>
          <a:bodyPr wrap="square" anchor="t" lIns="0" rIns="0" tIns="0" bIns="0">
            <a:spAutoFit/>
          </a:bodyPr>
          <a:lstStyle/>
          <a:p>
            <a:pPr algn="l">
              <a:lnSpc>
                <a:spcPct val="125000"/>
              </a:lnSpc>
            </a:pPr>
            <a:r>
              <a:rPr sz="1100" b="1">
                <a:solidFill>
                  <a:srgbClr val="B45309"/>
                </a:solidFill>
                <a:latin typeface="Segoe UI Semibold"/>
              </a:rPr>
              <a:t>HINT</a:t>
            </a:r>
          </a:p>
        </p:txBody>
      </p:sp>
      <p:sp>
        <p:nvSpPr>
          <p:cNvPr id="18" name="TextBox 17"/>
          <p:cNvSpPr txBox="1"/>
          <p:nvPr/>
        </p:nvSpPr>
        <p:spPr>
          <a:xfrm>
            <a:off x="960120" y="4727448"/>
            <a:ext cx="10271455" cy="411480"/>
          </a:xfrm>
          <a:prstGeom prst="rect">
            <a:avLst/>
          </a:prstGeom>
          <a:noFill/>
        </p:spPr>
        <p:txBody>
          <a:bodyPr wrap="square" anchor="t" lIns="0" rIns="0" tIns="0" bIns="0">
            <a:spAutoFit/>
          </a:bodyPr>
          <a:lstStyle/>
          <a:p>
            <a:pPr algn="l">
              <a:lnSpc>
                <a:spcPct val="125000"/>
              </a:lnSpc>
            </a:pPr>
            <a:r>
              <a:rPr sz="1350" b="0">
                <a:solidFill>
                  <a:srgbClr val="B45309"/>
                </a:solidFill>
                <a:latin typeface="Segoe UI"/>
              </a:rPr>
              <a:t>Broken #1 is a missing viewport meta. Broken #2 is &lt;h3&gt; used with no &lt;h2&gt; above it. Broken #3 is a root-absolute src that breaks when the folder moves.</a:t>
            </a:r>
          </a:p>
        </p:txBody>
      </p:sp>
      <p:sp>
        <p:nvSpPr>
          <p:cNvPr id="19" name="Rectangle 18"/>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21" name="TextBox 20"/>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27 / 47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SESSION 1 DELIVERABLES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Homework &amp; project</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Homework — Personal Profile Page</a:t>
            </a:r>
          </a:p>
          <a:p>
            <a:pPr lvl="1">
              <a:lnSpc>
                <a:spcPct val="118000"/>
              </a:lnSpc>
              <a:spcAft>
                <a:spcPts val="500"/>
              </a:spcAft>
            </a:pPr>
            <a:r>
              <a:t/>
            </a:r>
            <a:r>
              <a:rPr sz="1500" b="1">
                <a:solidFill>
                  <a:srgbClr val="64748B"/>
                </a:solidFill>
                <a:latin typeface="Segoe UI"/>
              </a:rPr>
              <a:t>•  </a:t>
            </a:r>
            <a:r>
              <a:rPr sz="1500" b="0">
                <a:solidFill>
                  <a:srgbClr val="334155"/>
                </a:solidFill>
                <a:latin typeface="Segoe UI"/>
              </a:rPr>
              <a:t>Your name, a short bio, and your hobbies as text</a:t>
            </a:r>
          </a:p>
          <a:p>
            <a:pPr lvl="1">
              <a:lnSpc>
                <a:spcPct val="118000"/>
              </a:lnSpc>
              <a:spcAft>
                <a:spcPts val="500"/>
              </a:spcAft>
            </a:pPr>
            <a:r>
              <a:t/>
            </a:r>
            <a:r>
              <a:rPr sz="1500" b="1">
                <a:solidFill>
                  <a:srgbClr val="64748B"/>
                </a:solidFill>
                <a:latin typeface="Segoe UI"/>
              </a:rPr>
              <a:t>•  </a:t>
            </a:r>
            <a:r>
              <a:rPr sz="1500" b="0">
                <a:solidFill>
                  <a:srgbClr val="334155"/>
                </a:solidFill>
                <a:latin typeface="Segoe UI"/>
              </a:rPr>
              <a:t>Use a heading hierarchy that would survive review</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Project Work — Personal Profile Page, properly</a:t>
            </a:r>
          </a:p>
          <a:p>
            <a:pPr lvl="1">
              <a:lnSpc>
                <a:spcPct val="118000"/>
              </a:lnSpc>
              <a:spcAft>
                <a:spcPts val="500"/>
              </a:spcAft>
            </a:pPr>
            <a:r>
              <a:t/>
            </a:r>
            <a:r>
              <a:rPr sz="1500" b="1">
                <a:solidFill>
                  <a:srgbClr val="64748B"/>
                </a:solidFill>
                <a:latin typeface="Segoe UI"/>
              </a:rPr>
              <a:t>•  </a:t>
            </a:r>
            <a:r>
              <a:rPr sz="1500" b="0">
                <a:solidFill>
                  <a:srgbClr val="334155"/>
                </a:solidFill>
                <a:latin typeface="Segoe UI"/>
              </a:rPr>
              <a:t>A valid document with correct heading hierarchy</a:t>
            </a:r>
          </a:p>
          <a:p>
            <a:pPr lvl="1">
              <a:lnSpc>
                <a:spcPct val="118000"/>
              </a:lnSpc>
              <a:spcAft>
                <a:spcPts val="500"/>
              </a:spcAft>
            </a:pPr>
            <a:r>
              <a:t/>
            </a:r>
            <a:r>
              <a:rPr sz="1500" b="1">
                <a:solidFill>
                  <a:srgbClr val="64748B"/>
                </a:solidFill>
                <a:latin typeface="Segoe UI"/>
              </a:rPr>
              <a:t>•  </a:t>
            </a:r>
            <a:r>
              <a:rPr sz="1500" b="0">
                <a:solidFill>
                  <a:srgbClr val="334155"/>
                </a:solidFill>
                <a:latin typeface="Segoe UI"/>
              </a:rPr>
              <a:t>A nav of links, and a fragment-link table of contents</a:t>
            </a:r>
          </a:p>
          <a:p>
            <a:pPr lvl="1">
              <a:lnSpc>
                <a:spcPct val="118000"/>
              </a:lnSpc>
              <a:spcAft>
                <a:spcPts val="500"/>
              </a:spcAft>
            </a:pPr>
            <a:r>
              <a:t/>
            </a:r>
            <a:r>
              <a:rPr sz="1500" b="1">
                <a:solidFill>
                  <a:srgbClr val="64748B"/>
                </a:solidFill>
                <a:latin typeface="Segoe UI"/>
              </a:rPr>
              <a:t>•  </a:t>
            </a:r>
            <a:r>
              <a:rPr sz="1500" b="0">
                <a:solidFill>
                  <a:srgbClr val="334155"/>
                </a:solidFill>
                <a:latin typeface="Segoe UI"/>
              </a:rPr>
              <a:t>A meaningful footer</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No CSS yet. Structure only — that is the point of the session</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28 / 47</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85800" y="65836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05256" y="60350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Session 1 — what you now know</a:t>
            </a:r>
          </a:p>
        </p:txBody>
      </p:sp>
      <p:sp>
        <p:nvSpPr>
          <p:cNvPr id="4" name="Rounded Rectangle 3"/>
          <p:cNvSpPr/>
          <p:nvPr/>
        </p:nvSpPr>
        <p:spPr>
          <a:xfrm>
            <a:off x="685800" y="1783080"/>
            <a:ext cx="182880" cy="18288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69848" y="1691640"/>
            <a:ext cx="4846320" cy="685800"/>
          </a:xfrm>
          <a:prstGeom prst="rect">
            <a:avLst/>
          </a:prstGeom>
          <a:noFill/>
        </p:spPr>
        <p:txBody>
          <a:bodyPr wrap="square" anchor="t" lIns="0" rIns="0" tIns="0" bIns="0">
            <a:spAutoFit/>
          </a:bodyPr>
          <a:lstStyle/>
          <a:p>
            <a:pPr algn="l">
              <a:lnSpc>
                <a:spcPct val="125000"/>
              </a:lnSpc>
            </a:pPr>
            <a:r>
              <a:rPr sz="1500" b="0">
                <a:solidFill>
                  <a:srgbClr val="334155"/>
                </a:solidFill>
                <a:latin typeface="Segoe UI"/>
              </a:rPr>
              <a:t>HTML describes meaning; CSS describes appearance</a:t>
            </a:r>
          </a:p>
        </p:txBody>
      </p:sp>
      <p:sp>
        <p:nvSpPr>
          <p:cNvPr id="6" name="Rounded Rectangle 5"/>
          <p:cNvSpPr/>
          <p:nvPr/>
        </p:nvSpPr>
        <p:spPr>
          <a:xfrm>
            <a:off x="685800" y="2569464"/>
            <a:ext cx="182880" cy="18288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69848" y="2478024"/>
            <a:ext cx="4846320" cy="685800"/>
          </a:xfrm>
          <a:prstGeom prst="rect">
            <a:avLst/>
          </a:prstGeom>
          <a:noFill/>
        </p:spPr>
        <p:txBody>
          <a:bodyPr wrap="square" anchor="t" lIns="0" rIns="0" tIns="0" bIns="0">
            <a:spAutoFit/>
          </a:bodyPr>
          <a:lstStyle/>
          <a:p>
            <a:pPr algn="l">
              <a:lnSpc>
                <a:spcPct val="125000"/>
              </a:lnSpc>
            </a:pPr>
            <a:r>
              <a:rPr sz="1500" b="0">
                <a:solidFill>
                  <a:srgbClr val="334155"/>
                </a:solidFill>
                <a:latin typeface="Segoe UI"/>
              </a:rPr>
              <a:t>DOCTYPE, lang, charset, viewport — every document, no exceptions</a:t>
            </a:r>
          </a:p>
        </p:txBody>
      </p:sp>
      <p:sp>
        <p:nvSpPr>
          <p:cNvPr id="8" name="Rounded Rectangle 7"/>
          <p:cNvSpPr/>
          <p:nvPr/>
        </p:nvSpPr>
        <p:spPr>
          <a:xfrm>
            <a:off x="685800" y="3355848"/>
            <a:ext cx="182880" cy="18288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69848" y="3264408"/>
            <a:ext cx="4846320" cy="685800"/>
          </a:xfrm>
          <a:prstGeom prst="rect">
            <a:avLst/>
          </a:prstGeom>
          <a:noFill/>
        </p:spPr>
        <p:txBody>
          <a:bodyPr wrap="square" anchor="t" lIns="0" rIns="0" tIns="0" bIns="0">
            <a:spAutoFit/>
          </a:bodyPr>
          <a:lstStyle/>
          <a:p>
            <a:pPr algn="l">
              <a:lnSpc>
                <a:spcPct val="125000"/>
              </a:lnSpc>
            </a:pPr>
            <a:r>
              <a:rPr sz="1500" b="0">
                <a:solidFill>
                  <a:srgbClr val="334155"/>
                </a:solidFill>
                <a:latin typeface="Segoe UI"/>
              </a:rPr>
              <a:t>One h1, a real hierarchy, never skip a level</a:t>
            </a:r>
          </a:p>
        </p:txBody>
      </p:sp>
      <p:sp>
        <p:nvSpPr>
          <p:cNvPr id="10" name="Rounded Rectangle 9"/>
          <p:cNvSpPr/>
          <p:nvPr/>
        </p:nvSpPr>
        <p:spPr>
          <a:xfrm>
            <a:off x="685800" y="4142232"/>
            <a:ext cx="182880" cy="18288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69848" y="4050792"/>
            <a:ext cx="4846320" cy="685800"/>
          </a:xfrm>
          <a:prstGeom prst="rect">
            <a:avLst/>
          </a:prstGeom>
          <a:noFill/>
        </p:spPr>
        <p:txBody>
          <a:bodyPr wrap="square" anchor="t" lIns="0" rIns="0" tIns="0" bIns="0">
            <a:spAutoFit/>
          </a:bodyPr>
          <a:lstStyle/>
          <a:p>
            <a:pPr algn="l">
              <a:lnSpc>
                <a:spcPct val="125000"/>
              </a:lnSpc>
            </a:pPr>
            <a:r>
              <a:rPr sz="1500" b="0">
                <a:solidFill>
                  <a:srgbClr val="334155"/>
                </a:solidFill>
                <a:latin typeface="Segoe UI"/>
              </a:rPr>
              <a:t>Relative paths so the project survives being moved</a:t>
            </a:r>
          </a:p>
        </p:txBody>
      </p:sp>
      <p:sp>
        <p:nvSpPr>
          <p:cNvPr id="12" name="Rounded Rectangle 11"/>
          <p:cNvSpPr/>
          <p:nvPr/>
        </p:nvSpPr>
        <p:spPr>
          <a:xfrm>
            <a:off x="6172200" y="1783080"/>
            <a:ext cx="182880" cy="18288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556248" y="1691640"/>
            <a:ext cx="4846320" cy="685800"/>
          </a:xfrm>
          <a:prstGeom prst="rect">
            <a:avLst/>
          </a:prstGeom>
          <a:noFill/>
        </p:spPr>
        <p:txBody>
          <a:bodyPr wrap="square" anchor="t" lIns="0" rIns="0" tIns="0" bIns="0">
            <a:spAutoFit/>
          </a:bodyPr>
          <a:lstStyle/>
          <a:p>
            <a:pPr algn="l">
              <a:lnSpc>
                <a:spcPct val="125000"/>
              </a:lnSpc>
            </a:pPr>
            <a:r>
              <a:rPr sz="1500" b="0">
                <a:solidFill>
                  <a:srgbClr val="334155"/>
                </a:solidFill>
                <a:latin typeface="Segoe UI"/>
              </a:rPr>
              <a:t>alt is a description, alt="" is a decision</a:t>
            </a:r>
          </a:p>
        </p:txBody>
      </p:sp>
      <p:sp>
        <p:nvSpPr>
          <p:cNvPr id="14" name="Rounded Rectangle 13"/>
          <p:cNvSpPr/>
          <p:nvPr/>
        </p:nvSpPr>
        <p:spPr>
          <a:xfrm>
            <a:off x="6172200" y="2569464"/>
            <a:ext cx="182880" cy="18288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56248" y="2478024"/>
            <a:ext cx="4846320" cy="685800"/>
          </a:xfrm>
          <a:prstGeom prst="rect">
            <a:avLst/>
          </a:prstGeom>
          <a:noFill/>
        </p:spPr>
        <p:txBody>
          <a:bodyPr wrap="square" anchor="t" lIns="0" rIns="0" tIns="0" bIns="0">
            <a:spAutoFit/>
          </a:bodyPr>
          <a:lstStyle/>
          <a:p>
            <a:pPr algn="l">
              <a:lnSpc>
                <a:spcPct val="125000"/>
              </a:lnSpc>
            </a:pPr>
            <a:r>
              <a:rPr sz="1500" b="0">
                <a:solidFill>
                  <a:srgbClr val="334155"/>
                </a:solidFill>
                <a:latin typeface="Segoe UI"/>
              </a:rPr>
              <a:t>width and height stop the page jumping</a:t>
            </a:r>
          </a:p>
        </p:txBody>
      </p:sp>
      <p:sp>
        <p:nvSpPr>
          <p:cNvPr id="16" name="Rounded Rectangle 15"/>
          <p:cNvSpPr/>
          <p:nvPr/>
        </p:nvSpPr>
        <p:spPr>
          <a:xfrm>
            <a:off x="6172200" y="3355848"/>
            <a:ext cx="182880" cy="18288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56248" y="3264408"/>
            <a:ext cx="4846320" cy="685800"/>
          </a:xfrm>
          <a:prstGeom prst="rect">
            <a:avLst/>
          </a:prstGeom>
          <a:noFill/>
        </p:spPr>
        <p:txBody>
          <a:bodyPr wrap="square" anchor="t" lIns="0" rIns="0" tIns="0" bIns="0">
            <a:spAutoFit/>
          </a:bodyPr>
          <a:lstStyle/>
          <a:p>
            <a:pPr algn="l">
              <a:lnSpc>
                <a:spcPct val="125000"/>
              </a:lnSpc>
            </a:pPr>
            <a:r>
              <a:rPr sz="1500" b="0">
                <a:solidFill>
                  <a:srgbClr val="334155"/>
                </a:solidFill>
                <a:latin typeface="Segoe UI"/>
              </a:rPr>
              <a:t>Entities exist for a reason, and so do bidi ones</a:t>
            </a:r>
          </a:p>
        </p:txBody>
      </p:sp>
      <p:sp>
        <p:nvSpPr>
          <p:cNvPr id="18" name="Rounded Rectangle 17"/>
          <p:cNvSpPr/>
          <p:nvPr/>
        </p:nvSpPr>
        <p:spPr>
          <a:xfrm>
            <a:off x="6172200" y="4142232"/>
            <a:ext cx="182880" cy="182880"/>
          </a:xfrm>
          <a:prstGeom prst="roundRect">
            <a:avLst>
              <a:gd name="adj" fmla="val 50000"/>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556248" y="4050792"/>
            <a:ext cx="4846320" cy="685800"/>
          </a:xfrm>
          <a:prstGeom prst="rect">
            <a:avLst/>
          </a:prstGeom>
          <a:noFill/>
        </p:spPr>
        <p:txBody>
          <a:bodyPr wrap="square" anchor="t" lIns="0" rIns="0" tIns="0" bIns="0">
            <a:spAutoFit/>
          </a:bodyPr>
          <a:lstStyle/>
          <a:p>
            <a:pPr algn="l">
              <a:lnSpc>
                <a:spcPct val="125000"/>
              </a:lnSpc>
            </a:pPr>
            <a:r>
              <a:rPr sz="1500" b="0">
                <a:solidFill>
                  <a:srgbClr val="334155"/>
                </a:solidFill>
                <a:latin typeface="Segoe UI"/>
              </a:rPr>
              <a:t>Validate before you call it done</a:t>
            </a:r>
          </a:p>
        </p:txBody>
      </p:sp>
      <p:sp>
        <p:nvSpPr>
          <p:cNvPr id="20" name="Rectangle 19"/>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22" name="TextBox 21"/>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29 / 47</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1417320"/>
            <a:ext cx="2743200" cy="365760"/>
          </a:xfrm>
          <a:prstGeom prst="rect">
            <a:avLst/>
          </a:prstGeom>
          <a:noFill/>
        </p:spPr>
        <p:txBody>
          <a:bodyPr wrap="square" anchor="t" lIns="0" rIns="0" tIns="0" bIns="0">
            <a:spAutoFit/>
          </a:bodyPr>
          <a:lstStyle/>
          <a:p>
            <a:pPr algn="l">
              <a:lnSpc>
                <a:spcPct val="125000"/>
              </a:lnSpc>
            </a:pPr>
            <a:r>
              <a:rPr sz="1400" b="1">
                <a:solidFill>
                  <a:srgbClr val="4F46E5"/>
                </a:solidFill>
                <a:latin typeface="Segoe UI Semibold"/>
              </a:rPr>
              <a:t>SESSION 2</a:t>
            </a:r>
          </a:p>
        </p:txBody>
      </p:sp>
      <p:sp>
        <p:nvSpPr>
          <p:cNvPr id="4" name="TextBox 3"/>
          <p:cNvSpPr txBox="1"/>
          <p:nvPr/>
        </p:nvSpPr>
        <p:spPr>
          <a:xfrm>
            <a:off x="685800" y="1828800"/>
            <a:ext cx="9875520" cy="1280160"/>
          </a:xfrm>
          <a:prstGeom prst="rect">
            <a:avLst/>
          </a:prstGeom>
          <a:noFill/>
        </p:spPr>
        <p:txBody>
          <a:bodyPr wrap="square" anchor="t" lIns="0" rIns="0" tIns="0" bIns="0">
            <a:spAutoFit/>
          </a:bodyPr>
          <a:lstStyle/>
          <a:p>
            <a:pPr algn="l">
              <a:lnSpc>
                <a:spcPct val="105000"/>
              </a:lnSpc>
            </a:pPr>
            <a:r>
              <a:rPr sz="3800" b="1">
                <a:solidFill>
                  <a:srgbClr val="FFFFFF"/>
                </a:solidFill>
                <a:latin typeface="Segoe UI Semibold"/>
              </a:rPr>
              <a:t>Forms, Semantics, Tables &amp; Media</a:t>
            </a:r>
          </a:p>
        </p:txBody>
      </p:sp>
      <p:sp>
        <p:nvSpPr>
          <p:cNvPr id="5" name="TextBox 4"/>
          <p:cNvSpPr txBox="1"/>
          <p:nvPr/>
        </p:nvSpPr>
        <p:spPr>
          <a:xfrm>
            <a:off x="685800" y="3246120"/>
            <a:ext cx="9601200" cy="548640"/>
          </a:xfrm>
          <a:prstGeom prst="rect">
            <a:avLst/>
          </a:prstGeom>
          <a:noFill/>
        </p:spPr>
        <p:txBody>
          <a:bodyPr wrap="square" anchor="t" lIns="0" rIns="0" tIns="0" bIns="0">
            <a:spAutoFit/>
          </a:bodyPr>
          <a:lstStyle/>
          <a:p>
            <a:pPr algn="l">
              <a:lnSpc>
                <a:spcPct val="125000"/>
              </a:lnSpc>
            </a:pPr>
            <a:r>
              <a:rPr sz="1700" b="0">
                <a:solidFill>
                  <a:srgbClr val="CBD5E1"/>
                </a:solidFill>
                <a:latin typeface="Segoe UI"/>
              </a:rPr>
              <a:t>Build forms, meaningful page structure, and data-rich content — then ship the capstone.</a:t>
            </a:r>
          </a:p>
        </p:txBody>
      </p:sp>
      <p:sp>
        <p:nvSpPr>
          <p:cNvPr id="6" name="Rectangle 5"/>
          <p:cNvSpPr/>
          <p:nvPr/>
        </p:nvSpPr>
        <p:spPr>
          <a:xfrm>
            <a:off x="685800" y="3977639"/>
            <a:ext cx="1005840" cy="411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4343400"/>
            <a:ext cx="10058400" cy="1188720"/>
          </a:xfrm>
          <a:prstGeom prst="rect">
            <a:avLst/>
          </a:prstGeom>
          <a:noFill/>
        </p:spPr>
        <p:txBody>
          <a:bodyPr wrap="square" anchor="t" lIns="0" rIns="0" tIns="0" bIns="0">
            <a:spAutoFit/>
          </a:bodyPr>
          <a:lstStyle/>
          <a:p>
            <a:pPr algn="l">
              <a:lnSpc>
                <a:spcPct val="145000"/>
              </a:lnSpc>
            </a:pPr>
            <a:r>
              <a:rPr sz="1400" b="0">
                <a:solidFill>
                  <a:srgbClr val="94A3B8"/>
                </a:solidFill>
                <a:latin typeface="Segoe UI"/>
              </a:rPr>
              <a:t>forms &amp; inputs  ·  validation UX  ·  semantics &amp; landmarks  ·  div vs span  ·  tables  ·  audio &amp; video  ·  iframes  ·  ARIA essentials  ·  quality</a:t>
            </a:r>
          </a:p>
        </p:txBody>
      </p:sp>
      <p:sp>
        <p:nvSpPr>
          <p:cNvPr id="8" name="TextBox 7"/>
          <p:cNvSpPr txBox="1"/>
          <p:nvPr/>
        </p:nvSpPr>
        <p:spPr>
          <a:xfrm>
            <a:off x="685800" y="5989320"/>
            <a:ext cx="5486400" cy="320040"/>
          </a:xfrm>
          <a:prstGeom prst="rect">
            <a:avLst/>
          </a:prstGeom>
          <a:noFill/>
        </p:spPr>
        <p:txBody>
          <a:bodyPr wrap="square" anchor="t" lIns="0" rIns="0" tIns="0" bIns="0">
            <a:spAutoFit/>
          </a:bodyPr>
          <a:lstStyle/>
          <a:p>
            <a:pPr algn="l">
              <a:lnSpc>
                <a:spcPct val="125000"/>
              </a:lnSpc>
            </a:pPr>
            <a:r>
              <a:rPr sz="1300" b="0">
                <a:solidFill>
                  <a:srgbClr val="94A3B8"/>
                </a:solidFill>
                <a:latin typeface="Segoe UI Semibold"/>
              </a:rPr>
              <a:t>~6 hours</a:t>
            </a:r>
          </a:p>
        </p:txBody>
      </p:sp>
      <p:sp>
        <p:nvSpPr>
          <p:cNvPr id="9" name="Rectangle 8"/>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1" name="TextBox 10"/>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30 / 47</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FORMS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A form is three attributes and a promise</a:t>
            </a:r>
          </a:p>
        </p:txBody>
      </p:sp>
      <p:sp>
        <p:nvSpPr>
          <p:cNvPr id="5" name="Rounded Rectangle 4"/>
          <p:cNvSpPr/>
          <p:nvPr/>
        </p:nvSpPr>
        <p:spPr>
          <a:xfrm>
            <a:off x="685800" y="1627632"/>
            <a:ext cx="10820095" cy="2194560"/>
          </a:xfrm>
          <a:prstGeom prst="roundRect">
            <a:avLst>
              <a:gd name="adj" fmla="val 3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1883664"/>
            <a:ext cx="10180015" cy="1737360"/>
          </a:xfrm>
          <a:prstGeom prst="rect">
            <a:avLst/>
          </a:prstGeom>
          <a:noFill/>
        </p:spPr>
        <p:txBody>
          <a:bodyPr wrap="square" anchor="t" lIns="0" rIns="0" tIns="0" bIns="0">
            <a:spAutoFit/>
          </a:bodyPr>
          <a:lstStyle/>
          <a:p>
            <a:pPr algn="l">
              <a:lnSpc>
                <a:spcPct val="135000"/>
              </a:lnSpc>
            </a:pPr>
            <a:r>
              <a:rPr sz="1400" b="0">
                <a:solidFill>
                  <a:srgbClr val="E2E8F0"/>
                </a:solidFill>
                <a:latin typeface="Consolas"/>
              </a:rPr>
              <a:t/>
            </a:r>
          </a:p>
          <a:p>
            <a:pPr algn="l">
              <a:lnSpc>
                <a:spcPct val="135000"/>
              </a:lnSpc>
            </a:pPr>
            <a:r>
              <a:rPr sz="1400" b="0">
                <a:solidFill>
                  <a:srgbClr val="E2E8F0"/>
                </a:solidFill>
                <a:latin typeface="Consolas"/>
              </a:rPr>
              <a:t>&amp;lt;form action="/order" method="post"&amp;gt;</a:t>
            </a:r>
          </a:p>
          <a:p>
            <a:pPr algn="l">
              <a:lnSpc>
                <a:spcPct val="135000"/>
              </a:lnSpc>
            </a:pPr>
            <a:r>
              <a:rPr sz="1400" b="0">
                <a:solidFill>
                  <a:srgbClr val="E2E8F0"/>
                </a:solidFill>
                <a:latin typeface="Consolas"/>
              </a:rPr>
              <a:t>  &amp;lt;label for="email"&amp;gt;Email&amp;lt;/label&amp;gt;</a:t>
            </a:r>
          </a:p>
          <a:p>
            <a:pPr algn="l">
              <a:lnSpc>
                <a:spcPct val="135000"/>
              </a:lnSpc>
            </a:pPr>
            <a:r>
              <a:rPr sz="1400" b="0">
                <a:solidFill>
                  <a:srgbClr val="E2E8F0"/>
                </a:solidFill>
                <a:latin typeface="Consolas"/>
              </a:rPr>
              <a:t>  &amp;lt;input id="email" name="email" type="email" required&amp;gt;</a:t>
            </a:r>
          </a:p>
          <a:p>
            <a:pPr algn="l">
              <a:lnSpc>
                <a:spcPct val="135000"/>
              </a:lnSpc>
            </a:pPr>
            <a:r>
              <a:rPr sz="1400" b="0">
                <a:solidFill>
                  <a:srgbClr val="E2E8F0"/>
                </a:solidFill>
                <a:latin typeface="Consolas"/>
              </a:rPr>
              <a:t>&amp;lt;/form&amp;gt;</a:t>
            </a:r>
          </a:p>
        </p:txBody>
      </p:sp>
      <p:sp>
        <p:nvSpPr>
          <p:cNvPr id="7" name="TextBox 6"/>
          <p:cNvSpPr txBox="1"/>
          <p:nvPr/>
        </p:nvSpPr>
        <p:spPr>
          <a:xfrm>
            <a:off x="685800" y="4023360"/>
            <a:ext cx="10820095" cy="457200"/>
          </a:xfrm>
          <a:prstGeom prst="rect">
            <a:avLst/>
          </a:prstGeom>
          <a:noFill/>
        </p:spPr>
        <p:txBody>
          <a:bodyPr wrap="square" anchor="t" lIns="0" rIns="0" tIns="0" bIns="0">
            <a:spAutoFit/>
          </a:bodyPr>
          <a:lstStyle/>
          <a:p>
            <a:pPr algn="l">
              <a:lnSpc>
                <a:spcPct val="125000"/>
              </a:lnSpc>
            </a:pPr>
            <a:r>
              <a:rPr sz="1400" b="0">
                <a:solidFill>
                  <a:srgbClr val="64748B"/>
                </a:solidFill>
                <a:latin typeface="Segoe UI"/>
              </a:rPr>
              <a:t>action: where it goes · method: how · name: the key it arrives under. Without name, the field is not submitted — at all.</a:t>
            </a:r>
          </a:p>
        </p:txBody>
      </p:sp>
      <p:sp>
        <p:nvSpPr>
          <p:cNvPr id="8" name="Rectangle 7"/>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0" name="TextBox 9"/>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31 / 47</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FORMS &amp; INPUTS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Input types are a contract with the browser</a:t>
            </a:r>
          </a:p>
        </p:txBody>
      </p:sp>
      <p:sp>
        <p:nvSpPr>
          <p:cNvPr id="5" name="Rounded Rectangle 4"/>
          <p:cNvSpPr/>
          <p:nvPr/>
        </p:nvSpPr>
        <p:spPr>
          <a:xfrm>
            <a:off x="685800"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85800"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type="email"</a:t>
            </a:r>
          </a:p>
        </p:txBody>
      </p:sp>
      <p:sp>
        <p:nvSpPr>
          <p:cNvPr id="8" name="TextBox 7"/>
          <p:cNvSpPr txBox="1"/>
          <p:nvPr/>
        </p:nvSpPr>
        <p:spPr>
          <a:xfrm>
            <a:off x="960120"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Mobile keyboard, plus built-in format validation.</a:t>
            </a:r>
          </a:p>
        </p:txBody>
      </p:sp>
      <p:sp>
        <p:nvSpPr>
          <p:cNvPr id="9" name="Rounded Rectangle 8"/>
          <p:cNvSpPr/>
          <p:nvPr/>
        </p:nvSpPr>
        <p:spPr>
          <a:xfrm>
            <a:off x="4383938"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383938"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58258"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type="number"</a:t>
            </a:r>
          </a:p>
        </p:txBody>
      </p:sp>
      <p:sp>
        <p:nvSpPr>
          <p:cNvPr id="12" name="TextBox 11"/>
          <p:cNvSpPr txBox="1"/>
          <p:nvPr/>
        </p:nvSpPr>
        <p:spPr>
          <a:xfrm>
            <a:off x="4658258"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Numeric keyboard, plus min / max / step.</a:t>
            </a:r>
          </a:p>
        </p:txBody>
      </p:sp>
      <p:sp>
        <p:nvSpPr>
          <p:cNvPr id="13" name="Rounded Rectangle 12"/>
          <p:cNvSpPr/>
          <p:nvPr/>
        </p:nvSpPr>
        <p:spPr>
          <a:xfrm>
            <a:off x="8082076" y="1691640"/>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82076" y="1691640"/>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56396" y="1874520"/>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type="date"</a:t>
            </a:r>
          </a:p>
        </p:txBody>
      </p:sp>
      <p:sp>
        <p:nvSpPr>
          <p:cNvPr id="16" name="TextBox 15"/>
          <p:cNvSpPr txBox="1"/>
          <p:nvPr/>
        </p:nvSpPr>
        <p:spPr>
          <a:xfrm>
            <a:off x="8356396" y="2221992"/>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A real date picker. Never build one yourself.</a:t>
            </a:r>
          </a:p>
        </p:txBody>
      </p:sp>
      <p:sp>
        <p:nvSpPr>
          <p:cNvPr id="17" name="Rounded Rectangle 16"/>
          <p:cNvSpPr/>
          <p:nvPr/>
        </p:nvSpPr>
        <p:spPr>
          <a:xfrm>
            <a:off x="685800" y="3227832"/>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85800" y="3227832"/>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0120" y="3410712"/>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type="file"</a:t>
            </a:r>
          </a:p>
        </p:txBody>
      </p:sp>
      <p:sp>
        <p:nvSpPr>
          <p:cNvPr id="20" name="TextBox 19"/>
          <p:cNvSpPr txBox="1"/>
          <p:nvPr/>
        </p:nvSpPr>
        <p:spPr>
          <a:xfrm>
            <a:off x="960120" y="3758184"/>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accept filters the picker, multiple allows more than one.</a:t>
            </a:r>
          </a:p>
        </p:txBody>
      </p:sp>
      <p:sp>
        <p:nvSpPr>
          <p:cNvPr id="21" name="Rounded Rectangle 20"/>
          <p:cNvSpPr/>
          <p:nvPr/>
        </p:nvSpPr>
        <p:spPr>
          <a:xfrm>
            <a:off x="4383938" y="3227832"/>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4383938" y="3227832"/>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658258" y="3410712"/>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checkbox vs radio</a:t>
            </a:r>
          </a:p>
        </p:txBody>
      </p:sp>
      <p:sp>
        <p:nvSpPr>
          <p:cNvPr id="24" name="TextBox 23"/>
          <p:cNvSpPr txBox="1"/>
          <p:nvPr/>
        </p:nvSpPr>
        <p:spPr>
          <a:xfrm>
            <a:off x="4658258" y="3758184"/>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Many vs one. Group radios by a shared name attribute.</a:t>
            </a:r>
          </a:p>
        </p:txBody>
      </p:sp>
      <p:sp>
        <p:nvSpPr>
          <p:cNvPr id="25" name="Rounded Rectangle 24"/>
          <p:cNvSpPr/>
          <p:nvPr/>
        </p:nvSpPr>
        <p:spPr>
          <a:xfrm>
            <a:off x="8082076" y="3227832"/>
            <a:ext cx="3423818" cy="1298448"/>
          </a:xfrm>
          <a:prstGeom prst="roundRect">
            <a:avLst>
              <a:gd name="adj" fmla="val 6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082076" y="3227832"/>
            <a:ext cx="45720" cy="129844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356396" y="3410712"/>
            <a:ext cx="2920898" cy="292608"/>
          </a:xfrm>
          <a:prstGeom prst="rect">
            <a:avLst/>
          </a:prstGeom>
          <a:noFill/>
        </p:spPr>
        <p:txBody>
          <a:bodyPr wrap="square" anchor="t" lIns="0" rIns="0" tIns="0" bIns="0">
            <a:spAutoFit/>
          </a:bodyPr>
          <a:lstStyle/>
          <a:p>
            <a:pPr algn="l">
              <a:lnSpc>
                <a:spcPct val="125000"/>
              </a:lnSpc>
            </a:pPr>
            <a:r>
              <a:rPr sz="1400" b="1">
                <a:solidFill>
                  <a:srgbClr val="0F172A"/>
                </a:solidFill>
                <a:latin typeface="Segoe UI Semibold"/>
              </a:rPr>
              <a:t>type="search"</a:t>
            </a:r>
          </a:p>
        </p:txBody>
      </p:sp>
      <p:sp>
        <p:nvSpPr>
          <p:cNvPr id="28" name="TextBox 27"/>
          <p:cNvSpPr txBox="1"/>
          <p:nvPr/>
        </p:nvSpPr>
        <p:spPr>
          <a:xfrm>
            <a:off x="8356396" y="3758184"/>
            <a:ext cx="2920898" cy="685800"/>
          </a:xfrm>
          <a:prstGeom prst="rect">
            <a:avLst/>
          </a:prstGeom>
          <a:noFill/>
        </p:spPr>
        <p:txBody>
          <a:bodyPr wrap="square" anchor="t" lIns="0" rIns="0" tIns="0" bIns="0">
            <a:spAutoFit/>
          </a:bodyPr>
          <a:lstStyle/>
          <a:p>
            <a:pPr algn="l">
              <a:lnSpc>
                <a:spcPct val="120000"/>
              </a:lnSpc>
            </a:pPr>
            <a:r>
              <a:rPr sz="1250" b="0">
                <a:solidFill>
                  <a:srgbClr val="334155"/>
                </a:solidFill>
                <a:latin typeface="Segoe UI"/>
              </a:rPr>
              <a:t>A search field: clear button and the right keyboard.</a:t>
            </a:r>
          </a:p>
        </p:txBody>
      </p:sp>
      <p:sp>
        <p:nvSpPr>
          <p:cNvPr id="29" name="Rectangle 28"/>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31" name="TextBox 30"/>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32 / 47</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FORMS &amp; INPUTS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Constraints the browser checks for you</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required — cannot be empty</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pattern="..." — a regex the browser applies</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minlength / maxlength</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min / max / step on number and range</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readonly is visible but not editable</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disabled is not submitted and cannot be focused</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These are constraints, not validation messages — the two are different</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33 / 47</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FORMS &amp; INPUTS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Every input needs a label. This is the rule.</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&lt;label for="email"&gt; ↔ &lt;input id="email"&gt;</a:t>
            </a:r>
          </a:p>
          <a:p>
            <a:pPr>
              <a:lnSpc>
                <a:spcPct val="118000"/>
              </a:lnSpc>
              <a:spcAft>
                <a:spcPts val="900"/>
              </a:spcAft>
            </a:pPr>
            <a:r>
              <a:t/>
            </a:r>
            <a:r>
              <a:rPr sz="1700" b="1">
                <a:solidFill>
                  <a:srgbClr val="058653"/>
                </a:solidFill>
                <a:latin typeface="Segoe UI"/>
              </a:rPr>
              <a:t>✓  </a:t>
            </a:r>
            <a:r>
              <a:rPr sz="1700" b="0">
                <a:solidFill>
                  <a:srgbClr val="0F172A"/>
                </a:solidFill>
                <a:latin typeface="Segoe UI"/>
              </a:rPr>
              <a:t>Clicking the label focuses the field. That is a usability feature.</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The screen reader announces the label instead of ‘edit text, blank’</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Wrapping the input inside the label works too</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id must be unique, and must match the label's for</a:t>
            </a:r>
          </a:p>
          <a:p>
            <a:pPr>
              <a:lnSpc>
                <a:spcPct val="118000"/>
              </a:lnSpc>
              <a:spcAft>
                <a:spcPts val="900"/>
              </a:spcAft>
            </a:pPr>
            <a:r>
              <a:t/>
            </a:r>
            <a:r>
              <a:rPr sz="1700" b="1">
                <a:solidFill>
                  <a:srgbClr val="B91C1C"/>
                </a:solidFill>
                <a:latin typeface="Segoe UI"/>
              </a:rPr>
              <a:t>✕  </a:t>
            </a:r>
            <a:r>
              <a:rPr sz="1700" b="0">
                <a:solidFill>
                  <a:srgbClr val="0F172A"/>
                </a:solidFill>
                <a:latin typeface="Segoe UI"/>
              </a:rPr>
              <a:t>placeholder is a hint, not a label — it disappears and it fails contrast</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aria-label is the fallback when there is no visible text at all</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34 / 47</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FORMS &amp; INPUTS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Fieldsets group; they are not decoration</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&lt;fieldset&gt; — a related group of controls</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&lt;legend&gt; — the group’s caption</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Radios belong in one fieldset — grouping by name alone is not enough</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A screen reader announces the legend as you enter the group</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The default border and indentation are ugly — that is a CSS problem</a:t>
            </a:r>
          </a:p>
          <a:p>
            <a:pPr>
              <a:lnSpc>
                <a:spcPct val="118000"/>
              </a:lnSpc>
              <a:spcAft>
                <a:spcPts val="900"/>
              </a:spcAft>
            </a:pPr>
            <a:r>
              <a:t/>
            </a:r>
            <a:r>
              <a:rPr sz="1700" b="1">
                <a:solidFill>
                  <a:srgbClr val="058653"/>
                </a:solidFill>
                <a:latin typeface="Segoe UI"/>
              </a:rPr>
              <a:t>✓  </a:t>
            </a:r>
            <a:r>
              <a:rPr sz="1700" b="0">
                <a:solidFill>
                  <a:srgbClr val="0F172A"/>
                </a:solidFill>
                <a:latin typeface="Segoe UI"/>
              </a:rPr>
              <a:t>Reset the border, keep the semantics</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35 / 47</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VALIDATION &amp; UX</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Native validation, done properly</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The browser blocks submission and shows its own message</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:user-invalid styles a field only after interaction, not on page load</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:invalid would paint every empty required field red on arrival — avoid it</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Custom messages: aria-describedby pointing at your own error text</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Client-side validation is a convenience, never a guarantee</a:t>
            </a:r>
          </a:p>
          <a:p>
            <a:pPr>
              <a:lnSpc>
                <a:spcPct val="118000"/>
              </a:lnSpc>
              <a:spcAft>
                <a:spcPts val="900"/>
              </a:spcAft>
            </a:pPr>
            <a:r>
              <a:t/>
            </a:r>
            <a:r>
              <a:rPr sz="1700" b="1">
                <a:solidFill>
                  <a:srgbClr val="B91C1C"/>
                </a:solidFill>
                <a:latin typeface="Segoe UI"/>
              </a:rPr>
              <a:t>✕  </a:t>
            </a:r>
            <a:r>
              <a:rPr sz="1700" b="0">
                <a:solidFill>
                  <a:srgbClr val="0F172A"/>
                </a:solidFill>
                <a:latin typeface="Segoe UI"/>
              </a:rPr>
              <a:t>The server validates everything again. Always. Twice.</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36 / 47</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SEMANTICS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Div and span</a:t>
            </a:r>
          </a:p>
        </p:txBody>
      </p:sp>
      <p:sp>
        <p:nvSpPr>
          <p:cNvPr id="5" name="Rectangle 4"/>
          <p:cNvSpPr/>
          <p:nvPr/>
        </p:nvSpPr>
        <p:spPr>
          <a:xfrm>
            <a:off x="685800" y="1645920"/>
            <a:ext cx="5230368" cy="45720"/>
          </a:xfrm>
          <a:prstGeom prst="rect">
            <a:avLst/>
          </a:prstGeom>
          <a:solidFill>
            <a:srgbClr val="05865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&lt;div&gt; — block</a:t>
            </a:r>
          </a:p>
        </p:txBody>
      </p:sp>
      <p:sp>
        <p:nvSpPr>
          <p:cNvPr id="7" name="TextBox 6"/>
          <p:cNvSpPr txBox="1"/>
          <p:nvPr/>
        </p:nvSpPr>
        <p:spPr>
          <a:xfrm>
            <a:off x="685800"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Starts a new line by default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For grouping content where no semantic element fits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 generic container, and that is all</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No meaning to a screen reader</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The right answer when nothing else fits</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Common for layout before Flexbox and Grid</a:t>
            </a:r>
          </a:p>
        </p:txBody>
      </p:sp>
      <p:sp>
        <p:nvSpPr>
          <p:cNvPr id="8" name="Rectangle 7"/>
          <p:cNvSpPr/>
          <p:nvPr/>
        </p:nvSpPr>
        <p:spPr>
          <a:xfrm>
            <a:off x="6281928" y="1645920"/>
            <a:ext cx="5230368" cy="4572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&lt;span&gt; — inline</a:t>
            </a:r>
          </a:p>
        </p:txBody>
      </p:sp>
      <p:sp>
        <p:nvSpPr>
          <p:cNvPr id="10" name="TextBox 9"/>
          <p:cNvSpPr txBox="1"/>
          <p:nvPr/>
        </p:nvSpPr>
        <p:spPr>
          <a:xfrm>
            <a:off x="6281928"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Stays inside the current line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For a fragment of text inside a paragraph</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Used to attach a class to part of a sentence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Cannot contain block-level content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Also no meaning of its own</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Wrong tool for ‘I need a box’</a:t>
            </a:r>
          </a:p>
        </p:txBody>
      </p:sp>
      <p:sp>
        <p:nvSpPr>
          <p:cNvPr id="11" name="Rectangle 1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3" name="TextBox 1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37 / 47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SEMANTICS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Landmarks: five elements that give the page a skeleton</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&lt;header&gt; — site or section header</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&lt;nav&gt; — major navigation</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&lt;main&gt; — the primary content, once per page</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&lt;footer&gt; — site or section footer</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&lt;aside&gt; — tangential content: a sidebar, a related links block</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&lt;article&gt; — a self-contained piece: a post, a comment</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&lt;section&gt; — a thematic grouping that has no better element</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38 / 47</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SEMANTICS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Why semantics pay off three times</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Screen readers — structure becomes navigable, not a wall of text</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Search engines — headings and landmarks are a page outline</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You — the code reads like what it does, six months later</a:t>
            </a:r>
          </a:p>
          <a:p>
            <a:pPr>
              <a:lnSpc>
                <a:spcPct val="118000"/>
              </a:lnSpc>
              <a:spcAft>
                <a:spcPts val="900"/>
              </a:spcAft>
            </a:pPr>
            <a:r>
              <a:t/>
            </a:r>
            <a:r>
              <a:rPr sz="1700" b="1">
                <a:solidFill>
                  <a:srgbClr val="058653"/>
                </a:solidFill>
                <a:latin typeface="Segoe UI"/>
              </a:rPr>
              <a:t>✓  </a:t>
            </a:r>
            <a:r>
              <a:rPr sz="1700" b="0">
                <a:solidFill>
                  <a:srgbClr val="0F172A"/>
                </a:solidFill>
                <a:latin typeface="Segoe UI"/>
              </a:rPr>
              <a:t>Free side effect: correct default styling you did not have to write</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&lt;time datetime="2026-01-15"&gt; renders localised, machine-readable</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&lt;figure&gt; + &lt;figcaption&gt; for images that need a caption</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39 / 47</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TABLES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Tables are for data. Never for layout.</a:t>
            </a:r>
          </a:p>
        </p:txBody>
      </p:sp>
      <p:sp>
        <p:nvSpPr>
          <p:cNvPr id="5" name="Rectangle 4"/>
          <p:cNvSpPr/>
          <p:nvPr/>
        </p:nvSpPr>
        <p:spPr>
          <a:xfrm>
            <a:off x="685800" y="1691640"/>
            <a:ext cx="3749039"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92224"/>
            <a:ext cx="3474719"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Element</a:t>
            </a:r>
          </a:p>
        </p:txBody>
      </p:sp>
      <p:sp>
        <p:nvSpPr>
          <p:cNvPr id="7" name="Rectangle 6"/>
          <p:cNvSpPr/>
          <p:nvPr/>
        </p:nvSpPr>
        <p:spPr>
          <a:xfrm>
            <a:off x="4434839" y="1691640"/>
            <a:ext cx="704088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81143" y="1792224"/>
            <a:ext cx="676656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What it is for</a:t>
            </a:r>
          </a:p>
        </p:txBody>
      </p:sp>
      <p:sp>
        <p:nvSpPr>
          <p:cNvPr id="9" name="Rectangle 8"/>
          <p:cNvSpPr/>
          <p:nvPr/>
        </p:nvSpPr>
        <p:spPr>
          <a:xfrm>
            <a:off x="685800" y="2112264"/>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32104" y="2240280"/>
            <a:ext cx="3474719"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&lt;table&gt;</a:t>
            </a:r>
          </a:p>
        </p:txBody>
      </p:sp>
      <p:sp>
        <p:nvSpPr>
          <p:cNvPr id="11" name="TextBox 10"/>
          <p:cNvSpPr txBox="1"/>
          <p:nvPr/>
        </p:nvSpPr>
        <p:spPr>
          <a:xfrm>
            <a:off x="4581143" y="2240280"/>
            <a:ext cx="67665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The data table itself</a:t>
            </a:r>
          </a:p>
        </p:txBody>
      </p:sp>
      <p:sp>
        <p:nvSpPr>
          <p:cNvPr id="12" name="Rectangle 11"/>
          <p:cNvSpPr/>
          <p:nvPr/>
        </p:nvSpPr>
        <p:spPr>
          <a:xfrm>
            <a:off x="685800" y="2587752"/>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2104" y="2715768"/>
            <a:ext cx="3474719"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&lt;caption&gt;</a:t>
            </a:r>
          </a:p>
        </p:txBody>
      </p:sp>
      <p:sp>
        <p:nvSpPr>
          <p:cNvPr id="14" name="TextBox 13"/>
          <p:cNvSpPr txBox="1"/>
          <p:nvPr/>
        </p:nvSpPr>
        <p:spPr>
          <a:xfrm>
            <a:off x="4581143" y="2715768"/>
            <a:ext cx="67665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A title, announced before the data</a:t>
            </a:r>
          </a:p>
        </p:txBody>
      </p:sp>
      <p:sp>
        <p:nvSpPr>
          <p:cNvPr id="15" name="Rectangle 14"/>
          <p:cNvSpPr/>
          <p:nvPr/>
        </p:nvSpPr>
        <p:spPr>
          <a:xfrm>
            <a:off x="685800" y="3063240"/>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3191256"/>
            <a:ext cx="3474719"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&lt;thead&gt; / &lt;tbody&gt; / &lt;tfoot&gt;</a:t>
            </a:r>
          </a:p>
        </p:txBody>
      </p:sp>
      <p:sp>
        <p:nvSpPr>
          <p:cNvPr id="17" name="TextBox 16"/>
          <p:cNvSpPr txBox="1"/>
          <p:nvPr/>
        </p:nvSpPr>
        <p:spPr>
          <a:xfrm>
            <a:off x="4581143" y="3191256"/>
            <a:ext cx="67665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Header, body, and summary rows</a:t>
            </a:r>
          </a:p>
        </p:txBody>
      </p:sp>
      <p:sp>
        <p:nvSpPr>
          <p:cNvPr id="18" name="Rectangle 17"/>
          <p:cNvSpPr/>
          <p:nvPr/>
        </p:nvSpPr>
        <p:spPr>
          <a:xfrm>
            <a:off x="685800" y="3538728"/>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 y="3666744"/>
            <a:ext cx="3474719"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&lt;th&gt; / &lt;td&gt;</a:t>
            </a:r>
          </a:p>
        </p:txBody>
      </p:sp>
      <p:sp>
        <p:nvSpPr>
          <p:cNvPr id="20" name="TextBox 19"/>
          <p:cNvSpPr txBox="1"/>
          <p:nvPr/>
        </p:nvSpPr>
        <p:spPr>
          <a:xfrm>
            <a:off x="4581143" y="3666744"/>
            <a:ext cx="67665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A header cell / a data cell</a:t>
            </a:r>
          </a:p>
        </p:txBody>
      </p:sp>
      <p:sp>
        <p:nvSpPr>
          <p:cNvPr id="21" name="Rectangle 20"/>
          <p:cNvSpPr/>
          <p:nvPr/>
        </p:nvSpPr>
        <p:spPr>
          <a:xfrm>
            <a:off x="685800" y="4014216"/>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2104" y="4142232"/>
            <a:ext cx="3474719"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scope="col" / scope="row"</a:t>
            </a:r>
          </a:p>
        </p:txBody>
      </p:sp>
      <p:sp>
        <p:nvSpPr>
          <p:cNvPr id="23" name="TextBox 22"/>
          <p:cNvSpPr txBox="1"/>
          <p:nvPr/>
        </p:nvSpPr>
        <p:spPr>
          <a:xfrm>
            <a:off x="4581143" y="4142232"/>
            <a:ext cx="67665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Tells a screen reader which axis it is on</a:t>
            </a:r>
          </a:p>
        </p:txBody>
      </p:sp>
      <p:sp>
        <p:nvSpPr>
          <p:cNvPr id="24" name="Rectangle 23"/>
          <p:cNvSpPr/>
          <p:nvPr/>
        </p:nvSpPr>
        <p:spPr>
          <a:xfrm>
            <a:off x="685800" y="4489704"/>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32104" y="4617720"/>
            <a:ext cx="3474719"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colspan / rowspan</a:t>
            </a:r>
          </a:p>
        </p:txBody>
      </p:sp>
      <p:sp>
        <p:nvSpPr>
          <p:cNvPr id="26" name="TextBox 25"/>
          <p:cNvSpPr txBox="1"/>
          <p:nvPr/>
        </p:nvSpPr>
        <p:spPr>
          <a:xfrm>
            <a:off x="4581143" y="4617720"/>
            <a:ext cx="67665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Spanning cells — use sparingly</a:t>
            </a:r>
          </a:p>
        </p:txBody>
      </p:sp>
      <p:sp>
        <p:nvSpPr>
          <p:cNvPr id="27" name="Rectangle 26"/>
          <p:cNvSpPr/>
          <p:nvPr/>
        </p:nvSpPr>
        <p:spPr>
          <a:xfrm>
            <a:off x="685800" y="1691640"/>
            <a:ext cx="10820095" cy="3273552"/>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30" name="TextBox 29"/>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40 / 47</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MEDIA &amp; EMBEDDING</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Media, done accessibly</a:t>
            </a:r>
          </a:p>
        </p:txBody>
      </p:sp>
      <p:sp>
        <p:nvSpPr>
          <p:cNvPr id="5" name="Rectangle 4"/>
          <p:cNvSpPr/>
          <p:nvPr/>
        </p:nvSpPr>
        <p:spPr>
          <a:xfrm>
            <a:off x="685800" y="1645920"/>
            <a:ext cx="5230368"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85800"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Video and audio</a:t>
            </a:r>
          </a:p>
        </p:txBody>
      </p:sp>
      <p:sp>
        <p:nvSpPr>
          <p:cNvPr id="7" name="TextBox 6"/>
          <p:cNvSpPr txBox="1"/>
          <p:nvPr/>
        </p:nvSpPr>
        <p:spPr>
          <a:xfrm>
            <a:off x="685800"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&lt;video controls poster="..."&gt; with a width/height</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autoplay requires muted, or it is blocked</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&lt;source&gt; lets you offer WebM and MP4</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&lt;track kind="captions"&gt; is not optional for a public site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preload="none" if the video is below the fold</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Always give it a poster frame</a:t>
            </a:r>
          </a:p>
        </p:txBody>
      </p:sp>
      <p:sp>
        <p:nvSpPr>
          <p:cNvPr id="8" name="Rectangle 7"/>
          <p:cNvSpPr/>
          <p:nvPr/>
        </p:nvSpPr>
        <p:spPr>
          <a:xfrm>
            <a:off x="6281928" y="1645920"/>
            <a:ext cx="5230368" cy="4572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81928" y="1847088"/>
            <a:ext cx="5230368" cy="365760"/>
          </a:xfrm>
          <a:prstGeom prst="rect">
            <a:avLst/>
          </a:prstGeom>
          <a:noFill/>
        </p:spPr>
        <p:txBody>
          <a:bodyPr wrap="square" anchor="t" lIns="0" rIns="0" tIns="0" bIns="0">
            <a:spAutoFit/>
          </a:bodyPr>
          <a:lstStyle/>
          <a:p>
            <a:pPr algn="l">
              <a:lnSpc>
                <a:spcPct val="125000"/>
              </a:lnSpc>
            </a:pPr>
            <a:r>
              <a:rPr sz="1600" b="1">
                <a:solidFill>
                  <a:srgbClr val="0F172A"/>
                </a:solidFill>
                <a:latin typeface="Segoe UI Semibold"/>
              </a:rPr>
              <a:t>Iframes</a:t>
            </a:r>
          </a:p>
        </p:txBody>
      </p:sp>
      <p:sp>
        <p:nvSpPr>
          <p:cNvPr id="10" name="TextBox 9"/>
          <p:cNvSpPr txBox="1"/>
          <p:nvPr/>
        </p:nvSpPr>
        <p:spPr>
          <a:xfrm>
            <a:off x="6281928" y="2359152"/>
            <a:ext cx="5230368" cy="3657600"/>
          </a:xfrm>
          <a:prstGeom prst="rect">
            <a:avLst/>
          </a:prstGeom>
          <a:noFill/>
        </p:spPr>
        <p:txBody>
          <a:bodyPr wrap="square" lIns="0" rIns="0" tIns="0" bIns="0">
            <a:spAutoFit/>
          </a:bodyPr>
          <a:lstStyle/>
          <a:p>
            <a:pPr>
              <a:lnSpc>
                <a:spcPct val="118000"/>
              </a:lnSpc>
              <a:spcAft>
                <a:spcPts val="700"/>
              </a:spcAft>
            </a:pPr>
            <a:r>
              <a:t/>
            </a:r>
            <a:r>
              <a:rPr sz="1500" b="1">
                <a:solidFill>
                  <a:srgbClr val="64748B"/>
                </a:solidFill>
                <a:latin typeface="Segoe UI"/>
              </a:rPr>
              <a:t>•  </a:t>
            </a:r>
            <a:r>
              <a:rPr sz="1500" b="0">
                <a:solidFill>
                  <a:srgbClr val="334155"/>
                </a:solidFill>
                <a:latin typeface="Segoe UI"/>
              </a:rPr>
              <a:t>title is required — it is the accessible name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sandbox locks down what the frame may do</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loading="lazy" for anything not above the fold</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referrerpolicy to avoid leaking your URL</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Embeds are heavy and slow down the page</a:t>
            </a:r>
          </a:p>
          <a:p>
            <a:pPr>
              <a:lnSpc>
                <a:spcPct val="118000"/>
              </a:lnSpc>
              <a:spcAft>
                <a:spcPts val="700"/>
              </a:spcAft>
            </a:pPr>
            <a:r>
              <a:t/>
            </a:r>
            <a:r>
              <a:rPr sz="1500" b="1">
                <a:solidFill>
                  <a:srgbClr val="64748B"/>
                </a:solidFill>
                <a:latin typeface="Segoe UI"/>
              </a:rPr>
              <a:t>•  </a:t>
            </a:r>
            <a:r>
              <a:rPr sz="1500" b="0">
                <a:solidFill>
                  <a:srgbClr val="334155"/>
                </a:solidFill>
                <a:latin typeface="Segoe UI"/>
              </a:rPr>
              <a:t>Use the native element when one exists</a:t>
            </a:r>
          </a:p>
        </p:txBody>
      </p:sp>
      <p:sp>
        <p:nvSpPr>
          <p:cNvPr id="11" name="Rectangle 10"/>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13" name="TextBox 12"/>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41 / 47</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ARIA ESSENTIALS</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ARIA: what it is and when to reach for it</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First rule: do not use ARIA if a semantic element exists</a:t>
            </a:r>
          </a:p>
          <a:p>
            <a:pPr>
              <a:lnSpc>
                <a:spcPct val="118000"/>
              </a:lnSpc>
              <a:spcAft>
                <a:spcPts val="900"/>
              </a:spcAft>
            </a:pPr>
            <a:r>
              <a:t/>
            </a:r>
            <a:r>
              <a:rPr sz="1700" b="1">
                <a:solidFill>
                  <a:srgbClr val="058653"/>
                </a:solidFill>
                <a:latin typeface="Segoe UI"/>
              </a:rPr>
              <a:t>✓  </a:t>
            </a:r>
            <a:r>
              <a:rPr sz="1700" b="0">
                <a:solidFill>
                  <a:srgbClr val="0F172A"/>
                </a:solidFill>
                <a:latin typeface="Segoe UI"/>
              </a:rPr>
              <a:t>A native button is focusable, keyboard-operable, and announced correctly</a:t>
            </a:r>
          </a:p>
          <a:p>
            <a:pPr>
              <a:lnSpc>
                <a:spcPct val="118000"/>
              </a:lnSpc>
              <a:spcAft>
                <a:spcPts val="900"/>
              </a:spcAft>
            </a:pPr>
            <a:r>
              <a:t/>
            </a:r>
            <a:r>
              <a:rPr sz="1700" b="1">
                <a:solidFill>
                  <a:srgbClr val="B91C1C"/>
                </a:solidFill>
                <a:latin typeface="Segoe UI"/>
              </a:rPr>
              <a:t>✕  </a:t>
            </a:r>
            <a:r>
              <a:rPr sz="1700" b="0">
                <a:solidFill>
                  <a:srgbClr val="0F172A"/>
                </a:solidFill>
                <a:latin typeface="Segoe UI"/>
              </a:rPr>
              <a:t>&lt;div role="button"&gt; is none of those, and you now own the keyboard</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aria-expanded on a disclosure — and keep it honest</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aria-current="page" on the active nav link</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aria-live="polite" for a status; role="alert" for an error</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aria-label only when there is no visible text to reference</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More ARIA is not better ARIA</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42 / 47</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QUALITY</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Ship it: what ‘done’ means for a page</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Passes the W3C validator with zero errors</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One h1, real heading order, real landmarks</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Every image has alt text, every iframe has a title</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Every input has a label</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You can tab through the whole page and reach everything</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No inline styles and no inline scripts — keep it in files</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One brief structured-data block with application/ld+json</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43 / 47</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658368"/>
            <a:ext cx="5486400" cy="320040"/>
          </a:xfrm>
          <a:prstGeom prst="rect">
            <a:avLst/>
          </a:prstGeom>
          <a:noFill/>
        </p:spPr>
        <p:txBody>
          <a:bodyPr wrap="square" anchor="t" lIns="0" rIns="0" tIns="0" bIns="0">
            <a:spAutoFit/>
          </a:bodyPr>
          <a:lstStyle/>
          <a:p>
            <a:pPr algn="l">
              <a:lnSpc>
                <a:spcPct val="125000"/>
              </a:lnSpc>
            </a:pPr>
            <a:r>
              <a:rPr sz="1300" b="1">
                <a:solidFill>
                  <a:srgbClr val="4F46E5"/>
                </a:solidFill>
                <a:latin typeface="Segoe UI Semibold"/>
              </a:rPr>
              <a:t>LIVE CODING</a:t>
            </a:r>
          </a:p>
        </p:txBody>
      </p:sp>
      <p:sp>
        <p:nvSpPr>
          <p:cNvPr id="4" name="TextBox 3"/>
          <p:cNvSpPr txBox="1"/>
          <p:nvPr/>
        </p:nvSpPr>
        <p:spPr>
          <a:xfrm>
            <a:off x="685800" y="1005840"/>
            <a:ext cx="10058400" cy="640080"/>
          </a:xfrm>
          <a:prstGeom prst="rect">
            <a:avLst/>
          </a:prstGeom>
          <a:noFill/>
        </p:spPr>
        <p:txBody>
          <a:bodyPr wrap="square" anchor="t" lIns="0" rIns="0" tIns="0" bIns="0">
            <a:spAutoFit/>
          </a:bodyPr>
          <a:lstStyle/>
          <a:p>
            <a:pPr algn="l">
              <a:lnSpc>
                <a:spcPct val="125000"/>
              </a:lnSpc>
            </a:pPr>
            <a:r>
              <a:rPr sz="3000" b="1">
                <a:solidFill>
                  <a:srgbClr val="0F172A"/>
                </a:solidFill>
                <a:latin typeface="Segoe UI Semibold"/>
              </a:rPr>
              <a:t>Refactor and rebuild</a:t>
            </a:r>
          </a:p>
        </p:txBody>
      </p:sp>
      <p:sp>
        <p:nvSpPr>
          <p:cNvPr id="5" name="TextBox 4"/>
          <p:cNvSpPr txBox="1"/>
          <p:nvPr/>
        </p:nvSpPr>
        <p:spPr>
          <a:xfrm>
            <a:off x="9692640" y="685800"/>
            <a:ext cx="1783080" cy="320040"/>
          </a:xfrm>
          <a:prstGeom prst="rect">
            <a:avLst/>
          </a:prstGeom>
          <a:noFill/>
        </p:spPr>
        <p:txBody>
          <a:bodyPr wrap="square" anchor="t" lIns="0" rIns="0" tIns="0" bIns="0">
            <a:spAutoFit/>
          </a:bodyPr>
          <a:lstStyle/>
          <a:p>
            <a:pPr algn="r">
              <a:lnSpc>
                <a:spcPct val="125000"/>
              </a:lnSpc>
            </a:pPr>
            <a:r>
              <a:rPr sz="1300" b="0">
                <a:solidFill>
                  <a:srgbClr val="64748B"/>
                </a:solidFill>
                <a:latin typeface="Segoe UI"/>
              </a:rPr>
              <a:t>45 min</a:t>
            </a:r>
          </a:p>
        </p:txBody>
      </p:sp>
      <p:sp>
        <p:nvSpPr>
          <p:cNvPr id="6" name="Rounded Rectangle 5"/>
          <p:cNvSpPr/>
          <p:nvPr/>
        </p:nvSpPr>
        <p:spPr>
          <a:xfrm>
            <a:off x="685800" y="2093976"/>
            <a:ext cx="237744" cy="237744"/>
          </a:xfrm>
          <a:prstGeom prst="roundRect">
            <a:avLst>
              <a:gd name="adj" fmla="val 50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2121408"/>
            <a:ext cx="237744" cy="219456"/>
          </a:xfrm>
          <a:prstGeom prst="rect">
            <a:avLst/>
          </a:prstGeom>
          <a:noFill/>
        </p:spPr>
        <p:txBody>
          <a:bodyPr wrap="square" anchor="t" lIns="0" rIns="0" tIns="0" bIns="0">
            <a:spAutoFit/>
          </a:bodyPr>
          <a:lstStyle/>
          <a:p>
            <a:pPr algn="ctr">
              <a:lnSpc>
                <a:spcPct val="125000"/>
              </a:lnSpc>
            </a:pPr>
            <a:r>
              <a:rPr sz="1100" b="1">
                <a:solidFill>
                  <a:srgbClr val="4F46E5"/>
                </a:solidFill>
                <a:latin typeface="Segoe UI Semibold"/>
              </a:rPr>
              <a:t>1</a:t>
            </a:r>
          </a:p>
        </p:txBody>
      </p:sp>
      <p:sp>
        <p:nvSpPr>
          <p:cNvPr id="8" name="TextBox 7"/>
          <p:cNvSpPr txBox="1"/>
          <p:nvPr/>
        </p:nvSpPr>
        <p:spPr>
          <a:xfrm>
            <a:off x="1143000" y="2057400"/>
            <a:ext cx="9692640" cy="731520"/>
          </a:xfrm>
          <a:prstGeom prst="rect">
            <a:avLst/>
          </a:prstGeom>
          <a:noFill/>
        </p:spPr>
        <p:txBody>
          <a:bodyPr wrap="square" anchor="t" lIns="0" rIns="0" tIns="0" bIns="0">
            <a:spAutoFit/>
          </a:bodyPr>
          <a:lstStyle/>
          <a:p>
            <a:pPr algn="l">
              <a:lnSpc>
                <a:spcPct val="130000"/>
              </a:lnSpc>
            </a:pPr>
            <a:r>
              <a:rPr sz="1700" b="0">
                <a:solidFill>
                  <a:srgbClr val="334155"/>
                </a:solidFill>
                <a:latin typeface="Segoe UI"/>
              </a:rPr>
              <a:t>Build an eight-field registration form, fully labelled, no CSS</a:t>
            </a:r>
          </a:p>
        </p:txBody>
      </p:sp>
      <p:sp>
        <p:nvSpPr>
          <p:cNvPr id="9" name="Rounded Rectangle 8"/>
          <p:cNvSpPr/>
          <p:nvPr/>
        </p:nvSpPr>
        <p:spPr>
          <a:xfrm>
            <a:off x="685800" y="2807208"/>
            <a:ext cx="237744" cy="237744"/>
          </a:xfrm>
          <a:prstGeom prst="roundRect">
            <a:avLst>
              <a:gd name="adj" fmla="val 50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834640"/>
            <a:ext cx="237744" cy="219456"/>
          </a:xfrm>
          <a:prstGeom prst="rect">
            <a:avLst/>
          </a:prstGeom>
          <a:noFill/>
        </p:spPr>
        <p:txBody>
          <a:bodyPr wrap="square" anchor="t" lIns="0" rIns="0" tIns="0" bIns="0">
            <a:spAutoFit/>
          </a:bodyPr>
          <a:lstStyle/>
          <a:p>
            <a:pPr algn="ctr">
              <a:lnSpc>
                <a:spcPct val="125000"/>
              </a:lnSpc>
            </a:pPr>
            <a:r>
              <a:rPr sz="1100" b="1">
                <a:solidFill>
                  <a:srgbClr val="4F46E5"/>
                </a:solidFill>
                <a:latin typeface="Segoe UI Semibold"/>
              </a:rPr>
              <a:t>2</a:t>
            </a:r>
          </a:p>
        </p:txBody>
      </p:sp>
      <p:sp>
        <p:nvSpPr>
          <p:cNvPr id="11" name="TextBox 10"/>
          <p:cNvSpPr txBox="1"/>
          <p:nvPr/>
        </p:nvSpPr>
        <p:spPr>
          <a:xfrm>
            <a:off x="1143000" y="2770632"/>
            <a:ext cx="9692640" cy="731520"/>
          </a:xfrm>
          <a:prstGeom prst="rect">
            <a:avLst/>
          </a:prstGeom>
          <a:noFill/>
        </p:spPr>
        <p:txBody>
          <a:bodyPr wrap="square" anchor="t" lIns="0" rIns="0" tIns="0" bIns="0">
            <a:spAutoFit/>
          </a:bodyPr>
          <a:lstStyle/>
          <a:p>
            <a:pPr algn="l">
              <a:lnSpc>
                <a:spcPct val="130000"/>
              </a:lnSpc>
            </a:pPr>
            <a:r>
              <a:rPr sz="1700" b="0">
                <a:solidFill>
                  <a:srgbClr val="334155"/>
                </a:solidFill>
                <a:latin typeface="Segoe UI"/>
              </a:rPr>
              <a:t>Refactor a 200-line div soup page into semantic HTML</a:t>
            </a:r>
          </a:p>
        </p:txBody>
      </p:sp>
      <p:sp>
        <p:nvSpPr>
          <p:cNvPr id="12" name="Rounded Rectangle 11"/>
          <p:cNvSpPr/>
          <p:nvPr/>
        </p:nvSpPr>
        <p:spPr>
          <a:xfrm>
            <a:off x="685800" y="3520440"/>
            <a:ext cx="237744" cy="237744"/>
          </a:xfrm>
          <a:prstGeom prst="roundRect">
            <a:avLst>
              <a:gd name="adj" fmla="val 50000"/>
            </a:avLst>
          </a:prstGeom>
          <a:solidFill>
            <a:srgbClr val="EE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3547872"/>
            <a:ext cx="237744" cy="219456"/>
          </a:xfrm>
          <a:prstGeom prst="rect">
            <a:avLst/>
          </a:prstGeom>
          <a:noFill/>
        </p:spPr>
        <p:txBody>
          <a:bodyPr wrap="square" anchor="t" lIns="0" rIns="0" tIns="0" bIns="0">
            <a:spAutoFit/>
          </a:bodyPr>
          <a:lstStyle/>
          <a:p>
            <a:pPr algn="ctr">
              <a:lnSpc>
                <a:spcPct val="125000"/>
              </a:lnSpc>
            </a:pPr>
            <a:r>
              <a:rPr sz="1100" b="1">
                <a:solidFill>
                  <a:srgbClr val="4F46E5"/>
                </a:solidFill>
                <a:latin typeface="Segoe UI Semibold"/>
              </a:rPr>
              <a:t>3</a:t>
            </a:r>
          </a:p>
        </p:txBody>
      </p:sp>
      <p:sp>
        <p:nvSpPr>
          <p:cNvPr id="14" name="TextBox 13"/>
          <p:cNvSpPr txBox="1"/>
          <p:nvPr/>
        </p:nvSpPr>
        <p:spPr>
          <a:xfrm>
            <a:off x="1143000" y="3483864"/>
            <a:ext cx="9692640" cy="731520"/>
          </a:xfrm>
          <a:prstGeom prst="rect">
            <a:avLst/>
          </a:prstGeom>
          <a:noFill/>
        </p:spPr>
        <p:txBody>
          <a:bodyPr wrap="square" anchor="t" lIns="0" rIns="0" tIns="0" bIns="0">
            <a:spAutoFit/>
          </a:bodyPr>
          <a:lstStyle/>
          <a:p>
            <a:pPr algn="l">
              <a:lnSpc>
                <a:spcPct val="130000"/>
              </a:lnSpc>
            </a:pPr>
            <a:r>
              <a:rPr sz="1700" b="0">
                <a:solidFill>
                  <a:srgbClr val="334155"/>
                </a:solidFill>
                <a:latin typeface="Segoe UI"/>
              </a:rPr>
              <a:t>Build an accessible data table, and compare the accessibility tree before and after</a:t>
            </a:r>
          </a:p>
        </p:txBody>
      </p:sp>
      <p:sp>
        <p:nvSpPr>
          <p:cNvPr id="15" name="Rounded Rectangle 14"/>
          <p:cNvSpPr/>
          <p:nvPr/>
        </p:nvSpPr>
        <p:spPr>
          <a:xfrm>
            <a:off x="685800" y="4334256"/>
            <a:ext cx="10820095" cy="868680"/>
          </a:xfrm>
          <a:prstGeom prst="roundRect">
            <a:avLst>
              <a:gd name="adj" fmla="val 5000"/>
            </a:avLst>
          </a:prstGeom>
          <a:solidFill>
            <a:srgbClr val="FFFB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85800" y="4334256"/>
            <a:ext cx="45720" cy="8686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471416"/>
            <a:ext cx="914400" cy="274320"/>
          </a:xfrm>
          <a:prstGeom prst="rect">
            <a:avLst/>
          </a:prstGeom>
          <a:noFill/>
        </p:spPr>
        <p:txBody>
          <a:bodyPr wrap="square" anchor="t" lIns="0" rIns="0" tIns="0" bIns="0">
            <a:spAutoFit/>
          </a:bodyPr>
          <a:lstStyle/>
          <a:p>
            <a:pPr algn="l">
              <a:lnSpc>
                <a:spcPct val="125000"/>
              </a:lnSpc>
            </a:pPr>
            <a:r>
              <a:rPr sz="1100" b="1">
                <a:solidFill>
                  <a:srgbClr val="B45309"/>
                </a:solidFill>
                <a:latin typeface="Segoe UI Semibold"/>
              </a:rPr>
              <a:t>HINT</a:t>
            </a:r>
          </a:p>
        </p:txBody>
      </p:sp>
      <p:sp>
        <p:nvSpPr>
          <p:cNvPr id="18" name="TextBox 17"/>
          <p:cNvSpPr txBox="1"/>
          <p:nvPr/>
        </p:nvSpPr>
        <p:spPr>
          <a:xfrm>
            <a:off x="960120" y="4727448"/>
            <a:ext cx="10271455" cy="411480"/>
          </a:xfrm>
          <a:prstGeom prst="rect">
            <a:avLst/>
          </a:prstGeom>
          <a:noFill/>
        </p:spPr>
        <p:txBody>
          <a:bodyPr wrap="square" anchor="t" lIns="0" rIns="0" tIns="0" bIns="0">
            <a:spAutoFit/>
          </a:bodyPr>
          <a:lstStyle/>
          <a:p>
            <a:pPr algn="l">
              <a:lnSpc>
                <a:spcPct val="125000"/>
              </a:lnSpc>
            </a:pPr>
            <a:r>
              <a:rPr sz="1350" b="0">
                <a:solidFill>
                  <a:srgbClr val="B45309"/>
                </a:solidFill>
                <a:latin typeface="Segoe UI"/>
              </a:rPr>
              <a:t>Start with the validator open in one tab. Run it before you think you are done, not after. The errors it reports are the exact errors you have been making.</a:t>
            </a:r>
          </a:p>
        </p:txBody>
      </p:sp>
      <p:sp>
        <p:nvSpPr>
          <p:cNvPr id="19" name="Rectangle 18"/>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21" name="TextBox 20"/>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44 / 47</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CAPSTONE</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The capstone — Restaurant Menu &amp; Order Page</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Header with the restaurant name, and a nav menu</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The menu as an accessible table: item, category, price, availability</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An order form with at least eight validated fields</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An embedded map or video, with title and sandbox</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Semantic landmarks, a skip link, and a meaningful footer</a:t>
            </a:r>
          </a:p>
          <a:p>
            <a:pPr>
              <a:lnSpc>
                <a:spcPct val="118000"/>
              </a:lnSpc>
              <a:spcAft>
                <a:spcPts val="900"/>
              </a:spcAft>
            </a:pPr>
            <a:r>
              <a:t/>
            </a:r>
            <a:r>
              <a:rPr sz="1700" b="1">
                <a:solidFill>
                  <a:srgbClr val="4F46E5"/>
                </a:solidFill>
                <a:latin typeface="Segoe UI"/>
              </a:rPr>
              <a:t>▪  </a:t>
            </a:r>
            <a:r>
              <a:rPr sz="1700" b="1">
                <a:solidFill>
                  <a:srgbClr val="0F172A"/>
                </a:solidFill>
                <a:latin typeface="Segoe UI"/>
              </a:rPr>
              <a:t>Zero errors in the W3C validator</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This is the deliverable. Everything above session 2 feeds it.</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45 / 47</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ASSESSMENT</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How the capstone is marked</a:t>
            </a:r>
          </a:p>
        </p:txBody>
      </p:sp>
      <p:sp>
        <p:nvSpPr>
          <p:cNvPr id="5" name="Rectangle 4"/>
          <p:cNvSpPr/>
          <p:nvPr/>
        </p:nvSpPr>
        <p:spPr>
          <a:xfrm>
            <a:off x="685800" y="1691640"/>
            <a:ext cx="237744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32104" y="1792224"/>
            <a:ext cx="210312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Criterion</a:t>
            </a:r>
          </a:p>
        </p:txBody>
      </p:sp>
      <p:sp>
        <p:nvSpPr>
          <p:cNvPr id="7" name="Rectangle 6"/>
          <p:cNvSpPr/>
          <p:nvPr/>
        </p:nvSpPr>
        <p:spPr>
          <a:xfrm>
            <a:off x="3063240" y="1691640"/>
            <a:ext cx="109728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209544" y="1792224"/>
            <a:ext cx="82296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Weight</a:t>
            </a:r>
          </a:p>
        </p:txBody>
      </p:sp>
      <p:sp>
        <p:nvSpPr>
          <p:cNvPr id="9" name="Rectangle 8"/>
          <p:cNvSpPr/>
          <p:nvPr/>
        </p:nvSpPr>
        <p:spPr>
          <a:xfrm>
            <a:off x="4160520" y="1691640"/>
            <a:ext cx="7315200" cy="420624"/>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06824" y="1792224"/>
            <a:ext cx="7040880" cy="274320"/>
          </a:xfrm>
          <a:prstGeom prst="rect">
            <a:avLst/>
          </a:prstGeom>
          <a:noFill/>
        </p:spPr>
        <p:txBody>
          <a:bodyPr wrap="square" anchor="t" lIns="0" rIns="0" tIns="0" bIns="0">
            <a:spAutoFit/>
          </a:bodyPr>
          <a:lstStyle/>
          <a:p>
            <a:pPr algn="l">
              <a:lnSpc>
                <a:spcPct val="125000"/>
              </a:lnSpc>
            </a:pPr>
            <a:r>
              <a:rPr sz="1300" b="1">
                <a:solidFill>
                  <a:srgbClr val="FFFFFF"/>
                </a:solidFill>
                <a:latin typeface="Segoe UI Semibold"/>
              </a:rPr>
              <a:t>What earns the marks</a:t>
            </a:r>
          </a:p>
        </p:txBody>
      </p:sp>
      <p:sp>
        <p:nvSpPr>
          <p:cNvPr id="11" name="Rectangle 10"/>
          <p:cNvSpPr/>
          <p:nvPr/>
        </p:nvSpPr>
        <p:spPr>
          <a:xfrm>
            <a:off x="685800" y="2112264"/>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 y="2240280"/>
            <a:ext cx="21031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Correctness</a:t>
            </a:r>
          </a:p>
        </p:txBody>
      </p:sp>
      <p:sp>
        <p:nvSpPr>
          <p:cNvPr id="13" name="TextBox 12"/>
          <p:cNvSpPr txBox="1"/>
          <p:nvPr/>
        </p:nvSpPr>
        <p:spPr>
          <a:xfrm>
            <a:off x="3209544" y="2240280"/>
            <a:ext cx="8229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30</a:t>
            </a:r>
          </a:p>
        </p:txBody>
      </p:sp>
      <p:sp>
        <p:nvSpPr>
          <p:cNvPr id="14" name="TextBox 13"/>
          <p:cNvSpPr txBox="1"/>
          <p:nvPr/>
        </p:nvSpPr>
        <p:spPr>
          <a:xfrm>
            <a:off x="4306824" y="2240280"/>
            <a:ext cx="704088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Zero validator errors. Nothing broken.</a:t>
            </a:r>
          </a:p>
        </p:txBody>
      </p:sp>
      <p:sp>
        <p:nvSpPr>
          <p:cNvPr id="15" name="Rectangle 14"/>
          <p:cNvSpPr/>
          <p:nvPr/>
        </p:nvSpPr>
        <p:spPr>
          <a:xfrm>
            <a:off x="685800" y="2587752"/>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2715768"/>
            <a:ext cx="21031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Semantics</a:t>
            </a:r>
          </a:p>
        </p:txBody>
      </p:sp>
      <p:sp>
        <p:nvSpPr>
          <p:cNvPr id="17" name="TextBox 16"/>
          <p:cNvSpPr txBox="1"/>
          <p:nvPr/>
        </p:nvSpPr>
        <p:spPr>
          <a:xfrm>
            <a:off x="3209544" y="2715768"/>
            <a:ext cx="8229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25</a:t>
            </a:r>
          </a:p>
        </p:txBody>
      </p:sp>
      <p:sp>
        <p:nvSpPr>
          <p:cNvPr id="18" name="TextBox 17"/>
          <p:cNvSpPr txBox="1"/>
          <p:nvPr/>
        </p:nvSpPr>
        <p:spPr>
          <a:xfrm>
            <a:off x="4306824" y="2715768"/>
            <a:ext cx="704088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Landmarks, one h1, real heading order, no layout tables.</a:t>
            </a:r>
          </a:p>
        </p:txBody>
      </p:sp>
      <p:sp>
        <p:nvSpPr>
          <p:cNvPr id="19" name="Rectangle 18"/>
          <p:cNvSpPr/>
          <p:nvPr/>
        </p:nvSpPr>
        <p:spPr>
          <a:xfrm>
            <a:off x="685800" y="3063240"/>
            <a:ext cx="10820095" cy="475488"/>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2104" y="3191256"/>
            <a:ext cx="21031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Accessibility</a:t>
            </a:r>
          </a:p>
        </p:txBody>
      </p:sp>
      <p:sp>
        <p:nvSpPr>
          <p:cNvPr id="21" name="TextBox 20"/>
          <p:cNvSpPr txBox="1"/>
          <p:nvPr/>
        </p:nvSpPr>
        <p:spPr>
          <a:xfrm>
            <a:off x="3209544" y="3191256"/>
            <a:ext cx="8229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25</a:t>
            </a:r>
          </a:p>
        </p:txBody>
      </p:sp>
      <p:sp>
        <p:nvSpPr>
          <p:cNvPr id="22" name="TextBox 21"/>
          <p:cNvSpPr txBox="1"/>
          <p:nvPr/>
        </p:nvSpPr>
        <p:spPr>
          <a:xfrm>
            <a:off x="4306824" y="3191256"/>
            <a:ext cx="704088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Labels, alt text, iframe titles, keyboard navigable.</a:t>
            </a:r>
          </a:p>
        </p:txBody>
      </p:sp>
      <p:sp>
        <p:nvSpPr>
          <p:cNvPr id="23" name="Rectangle 22"/>
          <p:cNvSpPr/>
          <p:nvPr/>
        </p:nvSpPr>
        <p:spPr>
          <a:xfrm>
            <a:off x="685800" y="3538728"/>
            <a:ext cx="10820095" cy="47548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2104" y="3666744"/>
            <a:ext cx="210312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Structure</a:t>
            </a:r>
          </a:p>
        </p:txBody>
      </p:sp>
      <p:sp>
        <p:nvSpPr>
          <p:cNvPr id="25" name="TextBox 24"/>
          <p:cNvSpPr txBox="1"/>
          <p:nvPr/>
        </p:nvSpPr>
        <p:spPr>
          <a:xfrm>
            <a:off x="3209544" y="3666744"/>
            <a:ext cx="82296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20</a:t>
            </a:r>
          </a:p>
        </p:txBody>
      </p:sp>
      <p:sp>
        <p:nvSpPr>
          <p:cNvPr id="26" name="TextBox 25"/>
          <p:cNvSpPr txBox="1"/>
          <p:nvPr/>
        </p:nvSpPr>
        <p:spPr>
          <a:xfrm>
            <a:off x="4306824" y="3666744"/>
            <a:ext cx="7040880" cy="274320"/>
          </a:xfrm>
          <a:prstGeom prst="rect">
            <a:avLst/>
          </a:prstGeom>
          <a:noFill/>
        </p:spPr>
        <p:txBody>
          <a:bodyPr wrap="square" anchor="t" lIns="0" rIns="0" tIns="0" bIns="0">
            <a:spAutoFit/>
          </a:bodyPr>
          <a:lstStyle/>
          <a:p>
            <a:pPr algn="l">
              <a:lnSpc>
                <a:spcPct val="125000"/>
              </a:lnSpc>
            </a:pPr>
            <a:r>
              <a:rPr sz="1300" b="0">
                <a:solidFill>
                  <a:srgbClr val="334155"/>
                </a:solidFill>
                <a:latin typeface="Segoe UI"/>
              </a:rPr>
              <a:t>Relative paths, tidy folders, no inline styles or scripts.</a:t>
            </a:r>
          </a:p>
        </p:txBody>
      </p:sp>
      <p:sp>
        <p:nvSpPr>
          <p:cNvPr id="27" name="Rectangle 26"/>
          <p:cNvSpPr/>
          <p:nvPr/>
        </p:nvSpPr>
        <p:spPr>
          <a:xfrm>
            <a:off x="685800" y="1691640"/>
            <a:ext cx="10820095" cy="2322576"/>
          </a:xfrm>
          <a:prstGeom prst="rect">
            <a:avLst/>
          </a:prstGeom>
          <a:noFill/>
          <a:ln w="12700">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30" name="TextBox 29"/>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46 / 47</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685800" y="475488"/>
            <a:ext cx="8229600" cy="274320"/>
          </a:xfrm>
          <a:prstGeom prst="rect">
            <a:avLst/>
          </a:prstGeom>
          <a:noFill/>
        </p:spPr>
        <p:txBody>
          <a:bodyPr wrap="square" anchor="t" lIns="0" rIns="0" tIns="0" bIns="0">
            <a:spAutoFit/>
          </a:bodyPr>
          <a:lstStyle/>
          <a:p>
            <a:pPr algn="l">
              <a:lnSpc>
                <a:spcPct val="125000"/>
              </a:lnSpc>
            </a:pPr>
            <a:r>
              <a:rPr sz="1250" b="1">
                <a:solidFill>
                  <a:srgbClr val="4F46E5"/>
                </a:solidFill>
                <a:latin typeface="Segoe UI Semibold"/>
              </a:rPr>
              <a:t>WHAT NEXT</a:t>
            </a:r>
          </a:p>
        </p:txBody>
      </p:sp>
      <p:sp>
        <p:nvSpPr>
          <p:cNvPr id="3" name="Rectangle 2"/>
          <p:cNvSpPr/>
          <p:nvPr/>
        </p:nvSpPr>
        <p:spPr>
          <a:xfrm>
            <a:off x="685800" y="841248"/>
            <a:ext cx="64008" cy="475488"/>
          </a:xfrm>
          <a:prstGeom prst="rect">
            <a:avLst/>
          </a:prstGeom>
          <a:solidFill>
            <a:srgbClr val="4F46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05256" y="786384"/>
            <a:ext cx="10424160" cy="640080"/>
          </a:xfrm>
          <a:prstGeom prst="rect">
            <a:avLst/>
          </a:prstGeom>
          <a:noFill/>
        </p:spPr>
        <p:txBody>
          <a:bodyPr wrap="square" anchor="t" lIns="0" rIns="0" tIns="0" bIns="0">
            <a:spAutoFit/>
          </a:bodyPr>
          <a:lstStyle/>
          <a:p>
            <a:pPr algn="l">
              <a:lnSpc>
                <a:spcPct val="105000"/>
              </a:lnSpc>
            </a:pPr>
            <a:r>
              <a:rPr sz="2800" b="1">
                <a:solidFill>
                  <a:srgbClr val="0F172A"/>
                </a:solidFill>
                <a:latin typeface="Segoe UI Semibold"/>
              </a:rPr>
              <a:t>Where this track goes</a:t>
            </a:r>
          </a:p>
        </p:txBody>
      </p:sp>
      <p:sp>
        <p:nvSpPr>
          <p:cNvPr id="5" name="TextBox 4"/>
          <p:cNvSpPr txBox="1"/>
          <p:nvPr/>
        </p:nvSpPr>
        <p:spPr>
          <a:xfrm>
            <a:off x="685800" y="1627632"/>
            <a:ext cx="10820095" cy="4480560"/>
          </a:xfrm>
          <a:prstGeom prst="rect">
            <a:avLst/>
          </a:prstGeom>
          <a:noFill/>
        </p:spPr>
        <p:txBody>
          <a:bodyPr wrap="square" lIns="0" rIns="0" tIns="0" bIns="0">
            <a:spAutoFit/>
          </a:bodyPr>
          <a:lstStyle/>
          <a:p>
            <a:pPr>
              <a:lnSpc>
                <a:spcPct val="118000"/>
              </a:lnSpc>
              <a:spcAft>
                <a:spcPts val="900"/>
              </a:spcAft>
            </a:pPr>
            <a:r>
              <a:t/>
            </a:r>
            <a:r>
              <a:rPr sz="1700" b="1">
                <a:solidFill>
                  <a:srgbClr val="4F46E5"/>
                </a:solidFill>
                <a:latin typeface="Segoe UI"/>
              </a:rPr>
              <a:t>▪  </a:t>
            </a:r>
            <a:r>
              <a:rPr sz="1700" b="1">
                <a:solidFill>
                  <a:srgbClr val="0F172A"/>
                </a:solidFill>
                <a:latin typeface="Segoe UI"/>
              </a:rPr>
              <a:t>Next: the CSS + Tailwind bootcamp — 7 sessions</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You will style the exact pages you built here</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The box model explains why your layout fights you</a:t>
            </a:r>
          </a:p>
          <a:p>
            <a:pPr>
              <a:lnSpc>
                <a:spcPct val="118000"/>
              </a:lnSpc>
              <a:spcAft>
                <a:spcPts val="900"/>
              </a:spcAft>
            </a:pPr>
            <a:r>
              <a:t/>
            </a:r>
            <a:r>
              <a:rPr sz="1700" b="1">
                <a:solidFill>
                  <a:srgbClr val="058653"/>
                </a:solidFill>
                <a:latin typeface="Segoe UI"/>
              </a:rPr>
              <a:t>✓  </a:t>
            </a:r>
            <a:r>
              <a:rPr sz="1700" b="0">
                <a:solidFill>
                  <a:srgbClr val="0F172A"/>
                </a:solidFill>
                <a:latin typeface="Segoe UI"/>
              </a:rPr>
              <a:t>You will keep writing semantic HTML and add a layer on top</a:t>
            </a:r>
          </a:p>
          <a:p>
            <a:pPr>
              <a:lnSpc>
                <a:spcPct val="118000"/>
              </a:lnSpc>
              <a:spcAft>
                <a:spcPts val="900"/>
              </a:spcAft>
            </a:pPr>
            <a:r>
              <a:t/>
            </a:r>
            <a:r>
              <a:rPr sz="1700" b="1">
                <a:solidFill>
                  <a:srgbClr val="64748B"/>
                </a:solidFill>
                <a:latin typeface="Segoe UI"/>
              </a:rPr>
              <a:t>•  </a:t>
            </a:r>
            <a:r>
              <a:rPr sz="1700" b="0">
                <a:solidFill>
                  <a:srgbClr val="334155"/>
                </a:solidFill>
                <a:latin typeface="Segoe UI"/>
              </a:rPr>
              <a:t/>
            </a:r>
          </a:p>
          <a:p>
            <a:pPr>
              <a:lnSpc>
                <a:spcPct val="118000"/>
              </a:lnSpc>
              <a:spcAft>
                <a:spcPts val="900"/>
              </a:spcAft>
            </a:pPr>
            <a:r>
              <a:t/>
            </a:r>
            <a:r>
              <a:rPr sz="1700" b="1">
                <a:solidFill>
                  <a:srgbClr val="B45309"/>
                </a:solidFill>
                <a:latin typeface="Segoe UI"/>
              </a:rPr>
              <a:t>!  </a:t>
            </a:r>
            <a:r>
              <a:rPr sz="1700" b="0">
                <a:solidFill>
                  <a:srgbClr val="0F172A"/>
                </a:solidFill>
                <a:latin typeface="Segoe UI"/>
              </a:rPr>
              <a:t>Before then — read the HTML you wrote and find every div that should not be a div</a:t>
            </a:r>
          </a:p>
          <a:p>
            <a:pPr>
              <a:lnSpc>
                <a:spcPct val="118000"/>
              </a:lnSpc>
              <a:spcAft>
                <a:spcPts val="900"/>
              </a:spcAft>
            </a:pPr>
            <a:r>
              <a:t/>
            </a:r>
            <a:r>
              <a:rPr sz="1700" b="1">
                <a:solidFill>
                  <a:srgbClr val="4F46E5"/>
                </a:solidFill>
                <a:latin typeface="Segoe UI"/>
              </a:rPr>
              <a:t>→  </a:t>
            </a:r>
            <a:r>
              <a:rPr sz="1700" b="0">
                <a:solidFill>
                  <a:srgbClr val="0F172A"/>
                </a:solidFill>
                <a:latin typeface="Segoe UI"/>
              </a:rPr>
              <a:t>And check your capstone in the validator one more time</a:t>
            </a:r>
          </a:p>
        </p:txBody>
      </p:sp>
      <p:sp>
        <p:nvSpPr>
          <p:cNvPr id="6" name="Rectangle 5"/>
          <p:cNvSpPr/>
          <p:nvPr/>
        </p:nvSpPr>
        <p:spPr>
          <a:xfrm>
            <a:off x="0" y="6711696"/>
            <a:ext cx="12191695" cy="18288"/>
          </a:xfrm>
          <a:prstGeom prst="rect">
            <a:avLst/>
          </a:prstGeom>
          <a:solidFill>
            <a:srgbClr val="E2E8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6364224"/>
            <a:ext cx="8229600" cy="256032"/>
          </a:xfrm>
          <a:prstGeom prst="rect">
            <a:avLst/>
          </a:prstGeom>
          <a:noFill/>
        </p:spPr>
        <p:txBody>
          <a:bodyPr wrap="square" anchor="t" lIns="0" rIns="0" tIns="0" bIns="0">
            <a:spAutoFit/>
          </a:bodyPr>
          <a:lstStyle/>
          <a:p>
            <a:pPr algn="l">
              <a:lnSpc>
                <a:spcPct val="125000"/>
              </a:lnSpc>
            </a:pPr>
            <a:r>
              <a:rPr sz="1000" b="0">
                <a:solidFill>
                  <a:srgbClr val="94A3B8"/>
                </a:solidFill>
                <a:latin typeface="Segoe UI"/>
              </a:rPr>
              <a:t>ICLUB / HTML Bootcamp</a:t>
            </a:r>
          </a:p>
        </p:txBody>
      </p:sp>
      <p:sp>
        <p:nvSpPr>
          <p:cNvPr id="8" name="TextBox 7"/>
          <p:cNvSpPr txBox="1"/>
          <p:nvPr/>
        </p:nvSpPr>
        <p:spPr>
          <a:xfrm>
            <a:off x="10241280" y="6364224"/>
            <a:ext cx="1261872" cy="256032"/>
          </a:xfrm>
          <a:prstGeom prst="rect">
            <a:avLst/>
          </a:prstGeom>
          <a:noFill/>
        </p:spPr>
        <p:txBody>
          <a:bodyPr wrap="square" anchor="t" lIns="0" rIns="0" tIns="0" bIns="0">
            <a:spAutoFit/>
          </a:bodyPr>
          <a:lstStyle/>
          <a:p>
            <a:pPr algn="r">
              <a:lnSpc>
                <a:spcPct val="125000"/>
              </a:lnSpc>
            </a:pPr>
            <a:r>
              <a:rPr sz="1000" b="0">
                <a:solidFill>
                  <a:srgbClr val="94A3B8"/>
                </a:solidFill>
                <a:latin typeface="Segoe UI"/>
              </a:rPr>
              <a:t>47 / 47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