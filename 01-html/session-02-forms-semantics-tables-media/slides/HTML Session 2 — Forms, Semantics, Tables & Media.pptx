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full document carries the mandatory head: charset meta, viewport meta, a non-empty title, and lang on html. Snippets that are fragments are labelled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creates structure and built-in browser behaviour. Be blunt: no backend route, nothing is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 gives a numeric keypad on mobile; email gets basic format checking; date gets a picker.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document, mandatory head included. Do not let students think HTML alone submits data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label[for] must match the id. name, not id, is the submitted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Radio options for one question share the same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restricts the choices. Contrast with datalist, which only suggests.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form and recap the five points: form, label/id, name, shared radio name, built-in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vs POST, and the security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topic is one idea: match the control to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Fragment. Front-end validation is a convenience for honest users, not a security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accessibility tree on a semantic page, then on div soup. The landmarks appear and disappear.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document with the mandatory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article vs section: could this stand alone?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HTML does not mean no divs 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are for data, not layout. scope removes the guess for screen readers.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thead, tbody, tfoot group rows and give stable CSS 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scope a screen reader has to guess whether 45 minutes is under Day or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renders fine on desktop and breaks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HTML5 you needed Flash. List formats best first; the browser takes the first it can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Progressive enhancement via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Fragment. Captions carry sound cues; subtitles are usually a translation.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third-party embeds have a performance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light. If short on time drop this section: cut Tables, then Good-to-know, never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first rule once, then tell them where to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full document still carries the mandatory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3736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&lt;/&gt; HTML · SESSION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12800" y="223266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Forms, Semantics, Tables &amp; Media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48100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build forms, meaningful page structure and data-rich content, then ship the capstone.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9150" y="4723130"/>
            <a:ext cx="849709" cy="391160"/>
          </a:xfrm>
          <a:prstGeom prst="roundRect">
            <a:avLst>
              <a:gd name="adj" fmla="val 50000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08559" y="4723130"/>
            <a:ext cx="1175782" cy="391160"/>
          </a:xfrm>
          <a:prstGeom prst="roundRect">
            <a:avLst>
              <a:gd name="adj" fmla="val 50000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24041" y="4723130"/>
            <a:ext cx="874951" cy="391160"/>
          </a:xfrm>
          <a:prstGeom prst="roundRect">
            <a:avLst>
              <a:gd name="adj" fmla="val 50000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38692" y="4723130"/>
            <a:ext cx="1464310" cy="391160"/>
          </a:xfrm>
          <a:prstGeom prst="roundRect">
            <a:avLst>
              <a:gd name="adj" fmla="val 50000"/>
            </a:avLst>
          </a:prstGeom>
          <a:solidFill>
            <a:srgbClr val="1E242E"/>
          </a:solidFill>
          <a:ln w="12700">
            <a:solidFill>
              <a:srgbClr val="FF8A3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&amp; Video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6238240"/>
            <a:ext cx="48927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Development for absolute beginners · ~6 hours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FORMS &amp; 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 collects and groups what users submit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0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0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&lt;form&gt;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the controls submitted together. Controls: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textarea select button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44040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4394200" y="1844040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attributes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49500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where data goes ·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 / post ·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submitted key ·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links a label.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44040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1844040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Hints &amp; rules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34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makes the browser enforce a value.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hint, not a label.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411220"/>
            <a:ext cx="10566400" cy="2430780"/>
          </a:xfrm>
          <a:prstGeom prst="roundRect">
            <a:avLst>
              <a:gd name="adj" fmla="val 4180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" y="3411220"/>
            <a:ext cx="10566400" cy="2430780"/>
          </a:xfrm>
          <a:custGeom>
            <a:avLst/>
            <a:gdLst/>
            <a:ahLst/>
            <a:cxnLst/>
            <a:rect l="l" t="t" r="r" b="b"/>
            <a:pathLst>
              <a:path w="10566400" h="24307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3624580"/>
            <a:ext cx="105171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alone sends nothing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0600" y="3916680"/>
            <a:ext cx="105171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 will not save or send data unless its action points to a working backend (or JavaScript handles submission). Browser validation improves usability but never replaces server-side validation.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1"/>
            <a:ext cx="20780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2/26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FORMS &amp; 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input type that fits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1"/>
            <a:ext cx="6334760" cy="2682240"/>
          </a:xfrm>
          <a:prstGeom prst="roundRect">
            <a:avLst>
              <a:gd name="adj" fmla="val 3788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1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"text"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"name"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61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8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"password"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"pw"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8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"number"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"age"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min=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"10"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max=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"100"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"tel"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"phone"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87041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"url"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"site"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8704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85161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"date"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"dob"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851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8328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"radio"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"format"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"online"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38328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5814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"checkbox"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"terms"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77952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"file"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"cv"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accept=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".pdf"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multiple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77952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3977641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"range"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"volume"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min=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max=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"10"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397764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175761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"submit"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value=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"Send"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1757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25360" y="1844041"/>
            <a:ext cx="4053840" cy="1290320"/>
          </a:xfrm>
          <a:prstGeom prst="roundRect">
            <a:avLst>
              <a:gd name="adj" fmla="val 7874"/>
            </a:avLst>
          </a:prstGeom>
          <a:solidFill>
            <a:srgbClr val="1E24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325360" y="1844041"/>
            <a:ext cx="4053840" cy="1290320"/>
          </a:xfrm>
          <a:custGeom>
            <a:avLst/>
            <a:gdLst/>
            <a:ahLst/>
            <a:cxnLst/>
            <a:rect l="l" t="t" r="r" b="b"/>
            <a:pathLst>
              <a:path w="4053840" h="12903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31" name="Text 29"/>
          <p:cNvSpPr/>
          <p:nvPr/>
        </p:nvSpPr>
        <p:spPr>
          <a:xfrm>
            <a:off x="7503160" y="2057400"/>
            <a:ext cx="3809187" cy="232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392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types</a:t>
            </a:r>
            <a:endParaRPr lang="en-US" sz="1392" dirty="0"/>
          </a:p>
        </p:txBody>
      </p:sp>
      <p:sp>
        <p:nvSpPr>
          <p:cNvPr id="32" name="Text 30"/>
          <p:cNvSpPr/>
          <p:nvPr/>
        </p:nvSpPr>
        <p:spPr>
          <a:xfrm>
            <a:off x="7503160" y="2328069"/>
            <a:ext cx="3809187" cy="65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9"/>
              </a:lnSpc>
              <a:buNone/>
            </a:pPr>
            <a:r>
              <a:rPr lang="en-US" sz="1235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text, email, password, number, tel, url, date, radio, checkbox, file, range, submit, reset. (Fragment)</a:t>
            </a:r>
            <a:endParaRPr lang="en-US" sz="1235" dirty="0"/>
          </a:p>
        </p:txBody>
      </p:sp>
      <p:sp>
        <p:nvSpPr>
          <p:cNvPr id="33" name="Shape 31"/>
          <p:cNvSpPr/>
          <p:nvPr/>
        </p:nvSpPr>
        <p:spPr>
          <a:xfrm>
            <a:off x="7325360" y="3235961"/>
            <a:ext cx="4053840" cy="1290320"/>
          </a:xfrm>
          <a:prstGeom prst="roundRect">
            <a:avLst>
              <a:gd name="adj" fmla="val 7874"/>
            </a:avLst>
          </a:prstGeom>
          <a:solidFill>
            <a:srgbClr val="1E24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325360" y="3235961"/>
            <a:ext cx="4053840" cy="1290320"/>
          </a:xfrm>
          <a:custGeom>
            <a:avLst/>
            <a:gdLst/>
            <a:ahLst/>
            <a:cxnLst/>
            <a:rect l="l" t="t" r="r" b="b"/>
            <a:pathLst>
              <a:path w="4053840" h="12903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5" name="Text 33"/>
          <p:cNvSpPr/>
          <p:nvPr/>
        </p:nvSpPr>
        <p:spPr>
          <a:xfrm>
            <a:off x="7503160" y="3449320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attributes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503160" y="3741420"/>
            <a:ext cx="38091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 max step minlength maxlength pattern checked multiple accept autocomplete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41"/>
            <a:ext cx="20794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3/26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FORMS &amp; 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form 1: page and form wrapper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1"/>
            <a:ext cx="6490653" cy="2880360"/>
          </a:xfrm>
          <a:prstGeom prst="roundRect">
            <a:avLst>
              <a:gd name="adj" fmla="val 3527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&lt;!DOCTYPE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html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&lt;html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lang=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"en"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dir=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"ltr"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8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&lt;head&gt;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8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charset=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"UTF-8"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0"/>
            <a:ext cx="6236653" cy="39624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"viewport"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content=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"width=device-width, initial-scale=1.0"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0"/>
            <a:ext cx="0" cy="39624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851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&lt;title&gt;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Registration Form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&lt;/title&gt;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851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8328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&lt;/head&gt;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8328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58140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&lt;body&gt;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77952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&lt;main&gt;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77952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97764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&lt;h1&gt;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 Registration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&lt;/h1&gt;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97764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9800" y="41757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26" name="Shape 24"/>
          <p:cNvSpPr/>
          <p:nvPr/>
        </p:nvSpPr>
        <p:spPr>
          <a:xfrm>
            <a:off x="958850" y="41757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373880"/>
            <a:ext cx="6236653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&lt;form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action=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"/register"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method=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"post"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373880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1253" y="1844041"/>
            <a:ext cx="3897948" cy="1389380"/>
          </a:xfrm>
          <a:prstGeom prst="roundRect">
            <a:avLst>
              <a:gd name="adj" fmla="val 7313"/>
            </a:avLst>
          </a:prstGeom>
          <a:solidFill>
            <a:srgbClr val="1E24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481253" y="1844041"/>
            <a:ext cx="3897948" cy="1389380"/>
          </a:xfrm>
          <a:custGeom>
            <a:avLst/>
            <a:gdLst/>
            <a:ahLst/>
            <a:cxnLst/>
            <a:rect l="l" t="t" r="r" b="b"/>
            <a:pathLst>
              <a:path w="3897948" h="13893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1" name="Text 29"/>
          <p:cNvSpPr/>
          <p:nvPr/>
        </p:nvSpPr>
        <p:spPr>
          <a:xfrm>
            <a:off x="7659053" y="205740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head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59053" y="2349500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charset, viewport, a non-empty title and lang on html.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81253" y="3335020"/>
            <a:ext cx="3897948" cy="1389380"/>
          </a:xfrm>
          <a:prstGeom prst="roundRect">
            <a:avLst>
              <a:gd name="adj" fmla="val 7313"/>
            </a:avLst>
          </a:prstGeom>
          <a:solidFill>
            <a:srgbClr val="1E24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481253" y="3335020"/>
            <a:ext cx="3897948" cy="1389380"/>
          </a:xfrm>
          <a:custGeom>
            <a:avLst/>
            <a:gdLst/>
            <a:ahLst/>
            <a:cxnLst/>
            <a:rect l="l" t="t" r="r" b="b"/>
            <a:pathLst>
              <a:path w="3897948" h="13893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7659053" y="354838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&lt;form&gt;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59053" y="3840480"/>
            <a:ext cx="364861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the controls that get submitted together. /register is an example endpoint: with no backend route nothing is saved.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39"/>
            <a:ext cx="20846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4/26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FORMS &amp; 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form 2: label, id and name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39"/>
            <a:ext cx="6490653" cy="3870960"/>
          </a:xfrm>
          <a:prstGeom prst="roundRect">
            <a:avLst>
              <a:gd name="adj" fmla="val 2625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39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&lt;div&gt;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3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61"/>
            <a:ext cx="6236653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for=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"full-name"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Full name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61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82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"text"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1"/>
            <a:ext cx="6236653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id=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"full-name"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1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87039"/>
            <a:ext cx="6236653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"fullName"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87039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851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autocomplete=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"name"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851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83282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required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3832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58140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minlength=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"3"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77952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7795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3977639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&lt;/div&gt;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397763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9800" y="41757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28" name="Shape 26"/>
          <p:cNvSpPr/>
          <p:nvPr/>
        </p:nvSpPr>
        <p:spPr>
          <a:xfrm>
            <a:off x="958850" y="41757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00" y="4373882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&lt;div&gt;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8850" y="43738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800" y="457200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for=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Email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850" y="45720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9800" y="4770121"/>
            <a:ext cx="6236653" cy="39624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autocomplete=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"email"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required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8850" y="4770121"/>
            <a:ext cx="0" cy="39624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800" y="51663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&lt;/div&gt;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58850" y="51663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81253" y="1844039"/>
            <a:ext cx="3897948" cy="1222534"/>
          </a:xfrm>
          <a:prstGeom prst="roundRect">
            <a:avLst>
              <a:gd name="adj" fmla="val 8311"/>
            </a:avLst>
          </a:prstGeom>
          <a:solidFill>
            <a:srgbClr val="1E242E"/>
          </a:solidFill>
          <a:ln/>
        </p:spPr>
      </p:sp>
      <p:sp>
        <p:nvSpPr>
          <p:cNvPr id="38" name="Shape 36"/>
          <p:cNvSpPr/>
          <p:nvPr/>
        </p:nvSpPr>
        <p:spPr>
          <a:xfrm>
            <a:off x="7481253" y="1844039"/>
            <a:ext cx="3897948" cy="1222534"/>
          </a:xfrm>
          <a:custGeom>
            <a:avLst/>
            <a:gdLst/>
            <a:ahLst/>
            <a:cxnLst/>
            <a:rect l="l" t="t" r="r" b="b"/>
            <a:pathLst>
              <a:path w="3897948" h="1222534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39" name="Text 37"/>
          <p:cNvSpPr/>
          <p:nvPr/>
        </p:nvSpPr>
        <p:spPr>
          <a:xfrm>
            <a:off x="7659053" y="205740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label[for] = id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659053" y="2349500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match the control id. The most important accessibility rule here.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81253" y="3168176"/>
            <a:ext cx="3897948" cy="1222613"/>
          </a:xfrm>
          <a:prstGeom prst="roundRect">
            <a:avLst>
              <a:gd name="adj" fmla="val 8310"/>
            </a:avLst>
          </a:prstGeom>
          <a:solidFill>
            <a:srgbClr val="1E242E"/>
          </a:solidFill>
          <a:ln/>
        </p:spPr>
      </p:sp>
      <p:sp>
        <p:nvSpPr>
          <p:cNvPr id="42" name="Shape 40"/>
          <p:cNvSpPr/>
          <p:nvPr/>
        </p:nvSpPr>
        <p:spPr>
          <a:xfrm>
            <a:off x="7481253" y="3168176"/>
            <a:ext cx="3897948" cy="1222613"/>
          </a:xfrm>
          <a:custGeom>
            <a:avLst/>
            <a:gdLst/>
            <a:ahLst/>
            <a:cxnLst/>
            <a:rect l="l" t="t" r="r" b="b"/>
            <a:pathLst>
              <a:path w="3897948" h="122261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43" name="Text 41"/>
          <p:cNvSpPr/>
          <p:nvPr/>
        </p:nvSpPr>
        <p:spPr>
          <a:xfrm>
            <a:off x="7659053" y="3381533"/>
            <a:ext cx="3648618" cy="215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27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name, not id</a:t>
            </a:r>
            <a:endParaRPr lang="en-US" sz="1270" dirty="0"/>
          </a:p>
        </p:txBody>
      </p:sp>
      <p:sp>
        <p:nvSpPr>
          <p:cNvPr id="44" name="Text 42"/>
          <p:cNvSpPr/>
          <p:nvPr/>
        </p:nvSpPr>
        <p:spPr>
          <a:xfrm>
            <a:off x="7659053" y="3635456"/>
            <a:ext cx="3648618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43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becomes the submitted field name. id identifies the element; name identifies the data.</a:t>
            </a:r>
            <a:endParaRPr lang="en-US" sz="1243" dirty="0"/>
          </a:p>
        </p:txBody>
      </p:sp>
      <p:sp>
        <p:nvSpPr>
          <p:cNvPr id="45" name="Shape 43"/>
          <p:cNvSpPr/>
          <p:nvPr/>
        </p:nvSpPr>
        <p:spPr>
          <a:xfrm>
            <a:off x="7481253" y="4492386"/>
            <a:ext cx="3897948" cy="1222613"/>
          </a:xfrm>
          <a:prstGeom prst="roundRect">
            <a:avLst>
              <a:gd name="adj" fmla="val 8310"/>
            </a:avLst>
          </a:prstGeom>
          <a:solidFill>
            <a:srgbClr val="1E242E"/>
          </a:solidFill>
          <a:ln/>
        </p:spPr>
      </p:sp>
      <p:sp>
        <p:nvSpPr>
          <p:cNvPr id="46" name="Shape 44"/>
          <p:cNvSpPr/>
          <p:nvPr/>
        </p:nvSpPr>
        <p:spPr>
          <a:xfrm>
            <a:off x="7481253" y="4492386"/>
            <a:ext cx="3897948" cy="1222613"/>
          </a:xfrm>
          <a:custGeom>
            <a:avLst/>
            <a:gdLst/>
            <a:ahLst/>
            <a:cxnLst/>
            <a:rect l="l" t="t" r="r" b="b"/>
            <a:pathLst>
              <a:path w="3897948" h="122261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47" name="Text 45"/>
          <p:cNvSpPr/>
          <p:nvPr/>
        </p:nvSpPr>
        <p:spPr>
          <a:xfrm>
            <a:off x="7659053" y="4705747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validation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659053" y="4997847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minlength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leave a field empty and let the browser complain.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2800" y="6238239"/>
            <a:ext cx="20750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5/26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FORMS &amp; 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form 3: number and radio 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39"/>
            <a:ext cx="6490653" cy="3870960"/>
          </a:xfrm>
          <a:prstGeom prst="roundRect">
            <a:avLst>
              <a:gd name="adj" fmla="val 2625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39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&lt;div&gt;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3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for=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"age"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Age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82"/>
            <a:ext cx="6236653" cy="39624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"number"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"age"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"age"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min=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"10"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max=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"100"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82"/>
            <a:ext cx="0" cy="39624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78892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&lt;/div&gt;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7889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9800" y="2987039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850" y="298703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851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&lt;fieldset&gt;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851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83282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&lt;legend&gt;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Preferred learning format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&lt;/legend&gt;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832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58140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779521"/>
            <a:ext cx="6236653" cy="39624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"radio"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"format"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"online"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required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779521"/>
            <a:ext cx="0" cy="39624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41757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Online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41757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4373882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43738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57200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5720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00" y="4770121"/>
            <a:ext cx="6236653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"radio"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"format"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"onsite"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8850" y="4770121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800" y="4968239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On-site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850" y="496823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9800" y="51663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8850" y="51663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800" y="5364482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&lt;/fieldset&gt;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58850" y="53644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81253" y="1844039"/>
            <a:ext cx="3897948" cy="1222534"/>
          </a:xfrm>
          <a:prstGeom prst="roundRect">
            <a:avLst>
              <a:gd name="adj" fmla="val 8311"/>
            </a:avLst>
          </a:prstGeom>
          <a:solidFill>
            <a:srgbClr val="1E242E"/>
          </a:solidFill>
          <a:ln/>
        </p:spPr>
      </p:sp>
      <p:sp>
        <p:nvSpPr>
          <p:cNvPr id="38" name="Shape 36"/>
          <p:cNvSpPr/>
          <p:nvPr/>
        </p:nvSpPr>
        <p:spPr>
          <a:xfrm>
            <a:off x="7481253" y="1844039"/>
            <a:ext cx="3897948" cy="1222534"/>
          </a:xfrm>
          <a:custGeom>
            <a:avLst/>
            <a:gdLst/>
            <a:ahLst/>
            <a:cxnLst/>
            <a:rect l="l" t="t" r="r" b="b"/>
            <a:pathLst>
              <a:path w="3897948" h="1222534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39" name="Text 37"/>
          <p:cNvSpPr/>
          <p:nvPr/>
        </p:nvSpPr>
        <p:spPr>
          <a:xfrm>
            <a:off x="7659053" y="205740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Radios share a name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659053" y="2349500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name on both radios is what makes them mutually exclusive.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81253" y="3168176"/>
            <a:ext cx="3897948" cy="1222613"/>
          </a:xfrm>
          <a:prstGeom prst="roundRect">
            <a:avLst>
              <a:gd name="adj" fmla="val 8310"/>
            </a:avLst>
          </a:prstGeom>
          <a:solidFill>
            <a:srgbClr val="1E242E"/>
          </a:solidFill>
          <a:ln/>
        </p:spPr>
      </p:sp>
      <p:sp>
        <p:nvSpPr>
          <p:cNvPr id="42" name="Shape 40"/>
          <p:cNvSpPr/>
          <p:nvPr/>
        </p:nvSpPr>
        <p:spPr>
          <a:xfrm>
            <a:off x="7481253" y="3168176"/>
            <a:ext cx="3897948" cy="1222613"/>
          </a:xfrm>
          <a:custGeom>
            <a:avLst/>
            <a:gdLst/>
            <a:ahLst/>
            <a:cxnLst/>
            <a:rect l="l" t="t" r="r" b="b"/>
            <a:pathLst>
              <a:path w="3897948" h="122261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43" name="Text 41"/>
          <p:cNvSpPr/>
          <p:nvPr/>
        </p:nvSpPr>
        <p:spPr>
          <a:xfrm>
            <a:off x="7659053" y="3381533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fieldset + legend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659053" y="3673633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related controls and name the group, not by visual proximity.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81253" y="4492386"/>
            <a:ext cx="3897948" cy="1222613"/>
          </a:xfrm>
          <a:prstGeom prst="roundRect">
            <a:avLst>
              <a:gd name="adj" fmla="val 8310"/>
            </a:avLst>
          </a:prstGeom>
          <a:solidFill>
            <a:srgbClr val="1E242E"/>
          </a:solidFill>
          <a:ln/>
        </p:spPr>
      </p:sp>
      <p:sp>
        <p:nvSpPr>
          <p:cNvPr id="46" name="Shape 44"/>
          <p:cNvSpPr/>
          <p:nvPr/>
        </p:nvSpPr>
        <p:spPr>
          <a:xfrm>
            <a:off x="7481253" y="4492386"/>
            <a:ext cx="3897948" cy="1222613"/>
          </a:xfrm>
          <a:custGeom>
            <a:avLst/>
            <a:gdLst/>
            <a:ahLst/>
            <a:cxnLst/>
            <a:rect l="l" t="t" r="r" b="b"/>
            <a:pathLst>
              <a:path w="3897948" h="122261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47" name="Text 45"/>
          <p:cNvSpPr/>
          <p:nvPr/>
        </p:nvSpPr>
        <p:spPr>
          <a:xfrm>
            <a:off x="7659053" y="4705747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 / max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659053" y="4997847"/>
            <a:ext cx="37201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input limits enforced by the browser.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2800" y="6238239"/>
            <a:ext cx="20799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6/26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FORMS &amp; 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form 4: select and textarea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39"/>
            <a:ext cx="6490653" cy="3078480"/>
          </a:xfrm>
          <a:prstGeom prst="roundRect">
            <a:avLst>
              <a:gd name="adj" fmla="val 3300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39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&lt;div&gt;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3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for=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"track"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Choose a track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82"/>
            <a:ext cx="6236653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&lt;select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"track"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"track"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required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82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236653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 Choose one --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&lt;/option&gt;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"frontend"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Front-end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&lt;/option&gt;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87039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"backend"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Back-end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&lt;/option&gt;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8703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851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"uiux"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UI/UX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&lt;/option&gt;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851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83282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&lt;/select&gt;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3832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58140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&lt;/div&gt;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9800" y="377952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24" name="Shape 22"/>
          <p:cNvSpPr/>
          <p:nvPr/>
        </p:nvSpPr>
        <p:spPr>
          <a:xfrm>
            <a:off x="958850" y="37795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3977639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&lt;div&gt;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397763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175761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for=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"notes"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Additional notes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1757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00" y="4373882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&lt;textarea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"notes"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"notes"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rows=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"4"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&gt;&lt;/textarea&gt;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8850" y="43738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800" y="4572000"/>
            <a:ext cx="6236653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&lt;/div&gt;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850" y="45720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81253" y="1844039"/>
            <a:ext cx="3897948" cy="1488440"/>
          </a:xfrm>
          <a:prstGeom prst="roundRect">
            <a:avLst>
              <a:gd name="adj" fmla="val 6826"/>
            </a:avLst>
          </a:prstGeom>
          <a:solidFill>
            <a:srgbClr val="1E24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481253" y="1844039"/>
            <a:ext cx="3897948" cy="1488440"/>
          </a:xfrm>
          <a:custGeom>
            <a:avLst/>
            <a:gdLst/>
            <a:ahLst/>
            <a:cxnLst/>
            <a:rect l="l" t="t" r="r" b="b"/>
            <a:pathLst>
              <a:path w="3897948" h="14884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35" name="Text 33"/>
          <p:cNvSpPr/>
          <p:nvPr/>
        </p:nvSpPr>
        <p:spPr>
          <a:xfrm>
            <a:off x="7659053" y="205740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&lt;select&gt;</a:t>
            </a: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&lt;option&gt;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59053" y="2349500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drop-down list. The empty first option with required forces a real choice.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81253" y="3434082"/>
            <a:ext cx="3897948" cy="1488440"/>
          </a:xfrm>
          <a:prstGeom prst="roundRect">
            <a:avLst>
              <a:gd name="adj" fmla="val 6826"/>
            </a:avLst>
          </a:prstGeom>
          <a:solidFill>
            <a:srgbClr val="1E242E"/>
          </a:solidFill>
          <a:ln/>
        </p:spPr>
      </p:sp>
      <p:sp>
        <p:nvSpPr>
          <p:cNvPr id="38" name="Shape 36"/>
          <p:cNvSpPr/>
          <p:nvPr/>
        </p:nvSpPr>
        <p:spPr>
          <a:xfrm>
            <a:off x="7481253" y="3434082"/>
            <a:ext cx="3897948" cy="1488440"/>
          </a:xfrm>
          <a:custGeom>
            <a:avLst/>
            <a:gdLst/>
            <a:ahLst/>
            <a:cxnLst/>
            <a:rect l="l" t="t" r="r" b="b"/>
            <a:pathLst>
              <a:path w="3897948" h="14884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9" name="Text 37"/>
          <p:cNvSpPr/>
          <p:nvPr/>
        </p:nvSpPr>
        <p:spPr>
          <a:xfrm>
            <a:off x="7659053" y="3647439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&lt;textarea&gt;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659053" y="3939539"/>
            <a:ext cx="364861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Multi-line text. rows sets its height.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12800" y="6238239"/>
            <a:ext cx="20700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7/26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FORMS &amp; 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3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form 5: checkbox and submit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39"/>
            <a:ext cx="6165850" cy="2286000"/>
          </a:xfrm>
          <a:prstGeom prst="roundRect">
            <a:avLst>
              <a:gd name="adj" fmla="val 4444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39"/>
            <a:ext cx="591185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3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61"/>
            <a:ext cx="591185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"checkbox"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"terms"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required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61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82"/>
            <a:ext cx="591185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I agree to the terms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591185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9800" y="2788921"/>
            <a:ext cx="5911850" cy="1981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850" y="27889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87039"/>
            <a:ext cx="591185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&lt;button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"submit"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Register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&lt;/button&gt;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87039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85161"/>
            <a:ext cx="591185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&lt;/form&gt;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8516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83282"/>
            <a:ext cx="591185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&lt;/main&gt;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38328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581400"/>
            <a:ext cx="591185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&lt;/body&gt;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779521"/>
            <a:ext cx="591185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&lt;/html&gt;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7795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6450" y="1844039"/>
            <a:ext cx="4222750" cy="1092200"/>
          </a:xfrm>
          <a:prstGeom prst="roundRect">
            <a:avLst>
              <a:gd name="adj" fmla="val 9302"/>
            </a:avLst>
          </a:prstGeom>
          <a:solidFill>
            <a:srgbClr val="1E24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156450" y="1844039"/>
            <a:ext cx="4222750" cy="1092200"/>
          </a:xfrm>
          <a:custGeom>
            <a:avLst/>
            <a:gdLst/>
            <a:ahLst/>
            <a:cxnLst/>
            <a:rect l="l" t="t" r="r" b="b"/>
            <a:pathLst>
              <a:path w="4222750" h="10922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121150" y="0"/>
                </a:lnTo>
                <a:arcTo hR="101600" wR="101600" stAng="16200000" swAng="5400000"/>
                <a:lnTo>
                  <a:pt x="42227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27" name="Text 25"/>
          <p:cNvSpPr/>
          <p:nvPr/>
        </p:nvSpPr>
        <p:spPr>
          <a:xfrm>
            <a:off x="7334250" y="2057400"/>
            <a:ext cx="39831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checkbox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34250" y="2349500"/>
            <a:ext cx="398316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form cannot be submitted until it is ticked.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56450" y="3037839"/>
            <a:ext cx="4222750" cy="1092200"/>
          </a:xfrm>
          <a:prstGeom prst="roundRect">
            <a:avLst>
              <a:gd name="adj" fmla="val 9302"/>
            </a:avLst>
          </a:prstGeom>
          <a:solidFill>
            <a:srgbClr val="1E24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156450" y="3037839"/>
            <a:ext cx="4222750" cy="1092200"/>
          </a:xfrm>
          <a:custGeom>
            <a:avLst/>
            <a:gdLst/>
            <a:ahLst/>
            <a:cxnLst/>
            <a:rect l="l" t="t" r="r" b="b"/>
            <a:pathLst>
              <a:path w="4222750" h="10922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121150" y="0"/>
                </a:lnTo>
                <a:arcTo hR="101600" wR="101600" stAng="16200000" swAng="5400000"/>
                <a:lnTo>
                  <a:pt x="42227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34250" y="3251200"/>
            <a:ext cx="3983164" cy="236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392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 type="submit"</a:t>
            </a:r>
            <a:endParaRPr lang="en-US" sz="1392" dirty="0"/>
          </a:p>
        </p:txBody>
      </p:sp>
      <p:sp>
        <p:nvSpPr>
          <p:cNvPr id="32" name="Text 30"/>
          <p:cNvSpPr/>
          <p:nvPr/>
        </p:nvSpPr>
        <p:spPr>
          <a:xfrm>
            <a:off x="7334250" y="3525679"/>
            <a:ext cx="3983164" cy="45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203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Submits the form. Leave a required field empty live and let the browser complain.</a:t>
            </a:r>
            <a:endParaRPr lang="en-US" sz="1203" dirty="0"/>
          </a:p>
        </p:txBody>
      </p:sp>
      <p:sp>
        <p:nvSpPr>
          <p:cNvPr id="33" name="Text 31"/>
          <p:cNvSpPr/>
          <p:nvPr/>
        </p:nvSpPr>
        <p:spPr>
          <a:xfrm>
            <a:off x="812800" y="6238242"/>
            <a:ext cx="20796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8/26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FORMS &amp; 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puts data in the URL, POST in the body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51943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2"/>
            <a:ext cx="5194300" cy="1145540"/>
          </a:xfrm>
          <a:custGeom>
            <a:avLst/>
            <a:gdLst/>
            <a:ahLst/>
            <a:cxnLst/>
            <a:rect l="l" t="t" r="r" b="b"/>
            <a:pathLst>
              <a:path w="51943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498386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searches where the query belongs in the URL. Never put passwords or sensitive data in GET.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44042"/>
            <a:ext cx="51943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6184900" y="1844042"/>
            <a:ext cx="5194300" cy="1145540"/>
          </a:xfrm>
          <a:custGeom>
            <a:avLst/>
            <a:gdLst/>
            <a:ahLst/>
            <a:cxnLst/>
            <a:rect l="l" t="t" r="r" b="b"/>
            <a:pathLst>
              <a:path w="51943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0" name="Text 8"/>
          <p:cNvSpPr/>
          <p:nvPr/>
        </p:nvSpPr>
        <p:spPr>
          <a:xfrm>
            <a:off x="6362700" y="20574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62700" y="2349500"/>
            <a:ext cx="498386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creating or changing data. It does not encrypt anything: you still need HTTPS.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3180079"/>
            <a:ext cx="10566400" cy="2661920"/>
          </a:xfrm>
          <a:prstGeom prst="roundRect">
            <a:avLst>
              <a:gd name="adj" fmla="val 3817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180079"/>
            <a:ext cx="10566400" cy="2661920"/>
          </a:xfrm>
          <a:custGeom>
            <a:avLst/>
            <a:gdLst/>
            <a:ahLst/>
            <a:cxnLst/>
            <a:rect l="l" t="t" r="r" b="b"/>
            <a:pathLst>
              <a:path w="10566400" h="26619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3393442"/>
            <a:ext cx="105171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Neither method is security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0600" y="3685542"/>
            <a:ext cx="105171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Neither replaces server-side validation or authorization. A determined user can bypass everything in the browser.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20799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9/26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FORM CONTROLS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Controls: match the control to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2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&lt;input&gt;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types of short or specialized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8850" y="1844042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3498850" y="1844042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0" name="Text 8"/>
          <p:cNvSpPr/>
          <p:nvPr/>
        </p:nvSpPr>
        <p:spPr>
          <a:xfrm>
            <a:off x="3676650" y="2057400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&lt;textarea&gt;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6650" y="2349500"/>
            <a:ext cx="22172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Multi-line 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4900" y="1844042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184900" y="1844042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6362700" y="2057400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&lt;select&gt;&lt;option&gt;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2700" y="2349500"/>
            <a:ext cx="22172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Drop-down list.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70950" y="1844042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870950" y="1844042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18" name="Text 16"/>
          <p:cNvSpPr/>
          <p:nvPr/>
        </p:nvSpPr>
        <p:spPr>
          <a:xfrm>
            <a:off x="9048750" y="2057400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&lt;button&gt;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48750" y="2349500"/>
            <a:ext cx="22172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actionable button.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144521"/>
            <a:ext cx="340360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800" y="3144521"/>
            <a:ext cx="3403600" cy="1109980"/>
          </a:xfrm>
          <a:custGeom>
            <a:avLst/>
            <a:gdLst/>
            <a:ahLst/>
            <a:cxnLst/>
            <a:rect l="l" t="t" r="r" b="b"/>
            <a:pathLst>
              <a:path w="340360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C792EA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3357879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&lt;fieldset&gt;&lt;legend&gt;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0600" y="3649979"/>
            <a:ext cx="31394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related controls and name the group.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94200" y="3144521"/>
            <a:ext cx="340360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25" name="Shape 23"/>
          <p:cNvSpPr/>
          <p:nvPr/>
        </p:nvSpPr>
        <p:spPr>
          <a:xfrm>
            <a:off x="4394200" y="3144521"/>
            <a:ext cx="3403600" cy="1109980"/>
          </a:xfrm>
          <a:custGeom>
            <a:avLst/>
            <a:gdLst/>
            <a:ahLst/>
            <a:cxnLst/>
            <a:rect l="l" t="t" r="r" b="b"/>
            <a:pathLst>
              <a:path w="340360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357879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&lt;datalist&gt;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3649979"/>
            <a:ext cx="3139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 for a text input.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75600" y="3144521"/>
            <a:ext cx="340360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29" name="Shape 27"/>
          <p:cNvSpPr/>
          <p:nvPr/>
        </p:nvSpPr>
        <p:spPr>
          <a:xfrm>
            <a:off x="7975600" y="3144521"/>
            <a:ext cx="3403600" cy="1109980"/>
          </a:xfrm>
          <a:custGeom>
            <a:avLst/>
            <a:gdLst/>
            <a:ahLst/>
            <a:cxnLst/>
            <a:rect l="l" t="t" r="r" b="b"/>
            <a:pathLst>
              <a:path w="340360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30" name="Text 28"/>
          <p:cNvSpPr/>
          <p:nvPr/>
        </p:nvSpPr>
        <p:spPr>
          <a:xfrm>
            <a:off x="8153400" y="3357879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&lt;output&gt;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53400" y="3649979"/>
            <a:ext cx="3139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 of a calculation or user action.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800" y="4445000"/>
            <a:ext cx="10566400" cy="1397000"/>
          </a:xfrm>
          <a:prstGeom prst="roundRect">
            <a:avLst>
              <a:gd name="adj" fmla="val 7273"/>
            </a:avLst>
          </a:prstGeom>
          <a:solidFill>
            <a:srgbClr val="1E242E"/>
          </a:solidFill>
          <a:ln/>
        </p:spPr>
      </p:sp>
      <p:sp>
        <p:nvSpPr>
          <p:cNvPr id="33" name="Shape 31"/>
          <p:cNvSpPr/>
          <p:nvPr/>
        </p:nvSpPr>
        <p:spPr>
          <a:xfrm>
            <a:off x="812800" y="4445000"/>
            <a:ext cx="10566400" cy="1397000"/>
          </a:xfrm>
          <a:custGeom>
            <a:avLst/>
            <a:gdLst/>
            <a:ahLst/>
            <a:cxnLst/>
            <a:rect l="l" t="t" r="r" b="b"/>
            <a:pathLst>
              <a:path w="10566400" h="13970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34" name="Text 32"/>
          <p:cNvSpPr/>
          <p:nvPr/>
        </p:nvSpPr>
        <p:spPr>
          <a:xfrm>
            <a:off x="990600" y="4658364"/>
            <a:ext cx="105171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practice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90600" y="4950464"/>
            <a:ext cx="1051712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control gets a visible label. Use the type that fits the data. Group radios and related checkboxes. Never use placeholder as the only label.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42"/>
            <a:ext cx="21562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10/26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2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FORM CONTROLS</a:t>
            </a:r>
            <a:endParaRPr lang="en-US" sz="1231" dirty="0"/>
          </a:p>
        </p:txBody>
      </p:sp>
      <p:sp>
        <p:nvSpPr>
          <p:cNvPr id="3" name="Text 1"/>
          <p:cNvSpPr/>
          <p:nvPr/>
        </p:nvSpPr>
        <p:spPr>
          <a:xfrm>
            <a:off x="812800" y="1220074"/>
            <a:ext cx="10883392" cy="418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841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datalist suggests, select restricts</a:t>
            </a:r>
            <a:endParaRPr lang="en-US" sz="2841" dirty="0"/>
          </a:p>
        </p:txBody>
      </p:sp>
      <p:sp>
        <p:nvSpPr>
          <p:cNvPr id="4" name="Shape 2"/>
          <p:cNvSpPr/>
          <p:nvPr/>
        </p:nvSpPr>
        <p:spPr>
          <a:xfrm>
            <a:off x="812800" y="1803716"/>
            <a:ext cx="6165850" cy="4038283"/>
          </a:xfrm>
          <a:prstGeom prst="roundRect">
            <a:avLst>
              <a:gd name="adj" fmla="val 2516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56116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&lt;form&gt;</a:t>
            </a:r>
            <a:endParaRPr lang="en-US" sz="1136" dirty="0"/>
          </a:p>
        </p:txBody>
      </p:sp>
      <p:sp>
        <p:nvSpPr>
          <p:cNvPr id="6" name="Shape 4"/>
          <p:cNvSpPr/>
          <p:nvPr/>
        </p:nvSpPr>
        <p:spPr>
          <a:xfrm>
            <a:off x="958850" y="1956116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33916"/>
            <a:ext cx="5911850" cy="177721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for=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"search"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Search courses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136" dirty="0"/>
          </a:p>
        </p:txBody>
      </p:sp>
      <p:sp>
        <p:nvSpPr>
          <p:cNvPr id="8" name="Shape 6"/>
          <p:cNvSpPr/>
          <p:nvPr/>
        </p:nvSpPr>
        <p:spPr>
          <a:xfrm>
            <a:off x="958850" y="2133916"/>
            <a:ext cx="0" cy="177721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11642"/>
            <a:ext cx="5911850" cy="355521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11"/>
              </a:lnSpc>
              <a:buNone/>
            </a:pPr>
            <a:r>
              <a:rPr lang="en-US" sz="1129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129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&lt;input</a:t>
            </a:r>
            <a:r>
              <a:rPr lang="en-US" sz="1129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129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"search"</a:t>
            </a:r>
            <a:r>
              <a:rPr lang="en-US" sz="1129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id=</a:t>
            </a:r>
            <a:r>
              <a:rPr lang="en-US" sz="1129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"search"</a:t>
            </a:r>
            <a:r>
              <a:rPr lang="en-US" sz="1129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129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"q"</a:t>
            </a:r>
            <a:r>
              <a:rPr lang="en-US" sz="1129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list=</a:t>
            </a:r>
            <a:r>
              <a:rPr lang="en-US" sz="1129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"course-options"</a:t>
            </a:r>
            <a:r>
              <a:rPr lang="en-US" sz="1129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129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129" dirty="0"/>
          </a:p>
        </p:txBody>
      </p:sp>
      <p:sp>
        <p:nvSpPr>
          <p:cNvPr id="10" name="Shape 8"/>
          <p:cNvSpPr/>
          <p:nvPr/>
        </p:nvSpPr>
        <p:spPr>
          <a:xfrm>
            <a:off x="958850" y="2311642"/>
            <a:ext cx="0" cy="355521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9800" y="2667161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2" name="Shape 10"/>
          <p:cNvSpPr/>
          <p:nvPr/>
        </p:nvSpPr>
        <p:spPr>
          <a:xfrm>
            <a:off x="958850" y="2667161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844961"/>
            <a:ext cx="5911850" cy="177721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&lt;datalist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"course-options"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136" dirty="0"/>
          </a:p>
        </p:txBody>
      </p:sp>
      <p:sp>
        <p:nvSpPr>
          <p:cNvPr id="14" name="Shape 12"/>
          <p:cNvSpPr/>
          <p:nvPr/>
        </p:nvSpPr>
        <p:spPr>
          <a:xfrm>
            <a:off x="958850" y="2844961"/>
            <a:ext cx="0" cy="177721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022681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"HTML"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&gt;&lt;/option&gt;</a:t>
            </a:r>
            <a:endParaRPr lang="en-US" sz="1136" dirty="0"/>
          </a:p>
        </p:txBody>
      </p:sp>
      <p:sp>
        <p:nvSpPr>
          <p:cNvPr id="16" name="Shape 14"/>
          <p:cNvSpPr/>
          <p:nvPr/>
        </p:nvSpPr>
        <p:spPr>
          <a:xfrm>
            <a:off x="958850" y="3022681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200481"/>
            <a:ext cx="5911850" cy="177721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"CSS"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&gt;&lt;/option&gt;</a:t>
            </a:r>
            <a:endParaRPr lang="en-US" sz="1136" dirty="0"/>
          </a:p>
        </p:txBody>
      </p:sp>
      <p:sp>
        <p:nvSpPr>
          <p:cNvPr id="18" name="Shape 16"/>
          <p:cNvSpPr/>
          <p:nvPr/>
        </p:nvSpPr>
        <p:spPr>
          <a:xfrm>
            <a:off x="958850" y="3200481"/>
            <a:ext cx="0" cy="177721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782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"JavaScript"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&gt;&lt;/option&gt;</a:t>
            </a:r>
            <a:endParaRPr lang="en-US" sz="1136" dirty="0"/>
          </a:p>
        </p:txBody>
      </p:sp>
      <p:sp>
        <p:nvSpPr>
          <p:cNvPr id="20" name="Shape 18"/>
          <p:cNvSpPr/>
          <p:nvPr/>
        </p:nvSpPr>
        <p:spPr>
          <a:xfrm>
            <a:off x="958850" y="33782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5560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&lt;/datalist&gt;</a:t>
            </a:r>
            <a:endParaRPr lang="en-US" sz="1136" dirty="0"/>
          </a:p>
        </p:txBody>
      </p:sp>
      <p:sp>
        <p:nvSpPr>
          <p:cNvPr id="22" name="Shape 20"/>
          <p:cNvSpPr/>
          <p:nvPr/>
        </p:nvSpPr>
        <p:spPr>
          <a:xfrm>
            <a:off x="958850" y="35560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9800" y="37338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24" name="Shape 22"/>
          <p:cNvSpPr/>
          <p:nvPr/>
        </p:nvSpPr>
        <p:spPr>
          <a:xfrm>
            <a:off x="958850" y="37338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39116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&lt;label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for=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"level"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Level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&lt;/label&gt;</a:t>
            </a:r>
            <a:endParaRPr lang="en-US" sz="1136" dirty="0"/>
          </a:p>
        </p:txBody>
      </p:sp>
      <p:sp>
        <p:nvSpPr>
          <p:cNvPr id="26" name="Shape 24"/>
          <p:cNvSpPr/>
          <p:nvPr/>
        </p:nvSpPr>
        <p:spPr>
          <a:xfrm>
            <a:off x="958850" y="39116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0894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&lt;select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"level"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"level"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136" dirty="0"/>
          </a:p>
        </p:txBody>
      </p:sp>
      <p:sp>
        <p:nvSpPr>
          <p:cNvPr id="28" name="Shape 26"/>
          <p:cNvSpPr/>
          <p:nvPr/>
        </p:nvSpPr>
        <p:spPr>
          <a:xfrm>
            <a:off x="958850" y="40894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00" y="42672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"beginner"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Beginner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&lt;/option&gt;</a:t>
            </a:r>
            <a:endParaRPr lang="en-US" sz="1136" dirty="0"/>
          </a:p>
        </p:txBody>
      </p:sp>
      <p:sp>
        <p:nvSpPr>
          <p:cNvPr id="30" name="Shape 28"/>
          <p:cNvSpPr/>
          <p:nvPr/>
        </p:nvSpPr>
        <p:spPr>
          <a:xfrm>
            <a:off x="958850" y="42672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800" y="44450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"intermediate"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Intermediate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&lt;/option&gt;</a:t>
            </a:r>
            <a:endParaRPr lang="en-US" sz="1136" dirty="0"/>
          </a:p>
        </p:txBody>
      </p:sp>
      <p:sp>
        <p:nvSpPr>
          <p:cNvPr id="32" name="Shape 30"/>
          <p:cNvSpPr/>
          <p:nvPr/>
        </p:nvSpPr>
        <p:spPr>
          <a:xfrm>
            <a:off x="958850" y="44450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9800" y="46228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&lt;option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"advanced"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Advanced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&lt;/option&gt;</a:t>
            </a:r>
            <a:endParaRPr lang="en-US" sz="1136" dirty="0"/>
          </a:p>
        </p:txBody>
      </p:sp>
      <p:sp>
        <p:nvSpPr>
          <p:cNvPr id="34" name="Shape 32"/>
          <p:cNvSpPr/>
          <p:nvPr/>
        </p:nvSpPr>
        <p:spPr>
          <a:xfrm>
            <a:off x="958850" y="46228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800" y="48006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&lt;/select&gt;</a:t>
            </a:r>
            <a:endParaRPr lang="en-US" sz="1136" dirty="0"/>
          </a:p>
        </p:txBody>
      </p:sp>
      <p:sp>
        <p:nvSpPr>
          <p:cNvPr id="36" name="Shape 34"/>
          <p:cNvSpPr/>
          <p:nvPr/>
        </p:nvSpPr>
        <p:spPr>
          <a:xfrm>
            <a:off x="958850" y="48006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9800" y="49784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38" name="Shape 36"/>
          <p:cNvSpPr/>
          <p:nvPr/>
        </p:nvSpPr>
        <p:spPr>
          <a:xfrm>
            <a:off x="958850" y="49784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800" y="51562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&lt;button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"submit"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Search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&lt;/button&gt;</a:t>
            </a:r>
            <a:endParaRPr lang="en-US" sz="1136" dirty="0"/>
          </a:p>
        </p:txBody>
      </p:sp>
      <p:sp>
        <p:nvSpPr>
          <p:cNvPr id="40" name="Shape 38"/>
          <p:cNvSpPr/>
          <p:nvPr/>
        </p:nvSpPr>
        <p:spPr>
          <a:xfrm>
            <a:off x="958850" y="51562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9800" y="53340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&lt;button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136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"button"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136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Clear</a:t>
            </a: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&lt;/button&gt;</a:t>
            </a:r>
            <a:endParaRPr lang="en-US" sz="1136" dirty="0"/>
          </a:p>
        </p:txBody>
      </p:sp>
      <p:sp>
        <p:nvSpPr>
          <p:cNvPr id="42" name="Shape 40"/>
          <p:cNvSpPr/>
          <p:nvPr/>
        </p:nvSpPr>
        <p:spPr>
          <a:xfrm>
            <a:off x="958850" y="53340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9800" y="5511800"/>
            <a:ext cx="5911850" cy="1778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36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&lt;/form&gt;</a:t>
            </a:r>
            <a:endParaRPr lang="en-US" sz="1136" dirty="0"/>
          </a:p>
        </p:txBody>
      </p:sp>
      <p:sp>
        <p:nvSpPr>
          <p:cNvPr id="44" name="Shape 42"/>
          <p:cNvSpPr/>
          <p:nvPr/>
        </p:nvSpPr>
        <p:spPr>
          <a:xfrm>
            <a:off x="958850" y="5511800"/>
            <a:ext cx="0" cy="1778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56450" y="1803716"/>
            <a:ext cx="4222750" cy="1278334"/>
          </a:xfrm>
          <a:prstGeom prst="roundRect">
            <a:avLst>
              <a:gd name="adj" fmla="val 7948"/>
            </a:avLst>
          </a:prstGeom>
          <a:solidFill>
            <a:srgbClr val="1E242E"/>
          </a:solidFill>
          <a:ln/>
        </p:spPr>
      </p:sp>
      <p:sp>
        <p:nvSpPr>
          <p:cNvPr id="46" name="Shape 44"/>
          <p:cNvSpPr/>
          <p:nvPr/>
        </p:nvSpPr>
        <p:spPr>
          <a:xfrm>
            <a:off x="7156450" y="1803716"/>
            <a:ext cx="4222750" cy="1278334"/>
          </a:xfrm>
          <a:custGeom>
            <a:avLst/>
            <a:gdLst/>
            <a:ahLst/>
            <a:cxnLst/>
            <a:rect l="l" t="t" r="r" b="b"/>
            <a:pathLst>
              <a:path w="4222750" h="1278334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121150" y="0"/>
                </a:lnTo>
                <a:arcTo hR="101600" wR="101600" stAng="16200000" swAng="5400000"/>
                <a:lnTo>
                  <a:pt x="42227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47" name="Text 45"/>
          <p:cNvSpPr/>
          <p:nvPr/>
        </p:nvSpPr>
        <p:spPr>
          <a:xfrm>
            <a:off x="7334250" y="2017080"/>
            <a:ext cx="39831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datalist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334250" y="2309180"/>
            <a:ext cx="39831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suggestions: the user can still type anything. select restricts.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156450" y="3183651"/>
            <a:ext cx="4222750" cy="1278414"/>
          </a:xfrm>
          <a:prstGeom prst="roundRect">
            <a:avLst>
              <a:gd name="adj" fmla="val 7947"/>
            </a:avLst>
          </a:prstGeom>
          <a:solidFill>
            <a:srgbClr val="1E242E"/>
          </a:solidFill>
          <a:ln/>
        </p:spPr>
      </p:sp>
      <p:sp>
        <p:nvSpPr>
          <p:cNvPr id="50" name="Shape 48"/>
          <p:cNvSpPr/>
          <p:nvPr/>
        </p:nvSpPr>
        <p:spPr>
          <a:xfrm>
            <a:off x="7156450" y="3183651"/>
            <a:ext cx="4222750" cy="1278414"/>
          </a:xfrm>
          <a:custGeom>
            <a:avLst/>
            <a:gdLst/>
            <a:ahLst/>
            <a:cxnLst/>
            <a:rect l="l" t="t" r="r" b="b"/>
            <a:pathLst>
              <a:path w="4222750" h="1278414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121150" y="0"/>
                </a:lnTo>
                <a:arcTo hR="101600" wR="101600" stAng="16200000" swAng="5400000"/>
                <a:lnTo>
                  <a:pt x="42227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51" name="Text 49"/>
          <p:cNvSpPr/>
          <p:nvPr/>
        </p:nvSpPr>
        <p:spPr>
          <a:xfrm>
            <a:off x="7334250" y="3397014"/>
            <a:ext cx="39831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 vs readonly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334250" y="3689114"/>
            <a:ext cx="39831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 is not submitted (and skipped by keyboard). readonly is submitted and focusable.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156450" y="4563666"/>
            <a:ext cx="4222750" cy="1278334"/>
          </a:xfrm>
          <a:prstGeom prst="roundRect">
            <a:avLst>
              <a:gd name="adj" fmla="val 7948"/>
            </a:avLst>
          </a:prstGeom>
          <a:solidFill>
            <a:srgbClr val="1E242E"/>
          </a:solidFill>
          <a:ln/>
        </p:spPr>
      </p:sp>
      <p:sp>
        <p:nvSpPr>
          <p:cNvPr id="54" name="Shape 52"/>
          <p:cNvSpPr/>
          <p:nvPr/>
        </p:nvSpPr>
        <p:spPr>
          <a:xfrm>
            <a:off x="7156450" y="4563666"/>
            <a:ext cx="4222750" cy="1278334"/>
          </a:xfrm>
          <a:custGeom>
            <a:avLst/>
            <a:gdLst/>
            <a:ahLst/>
            <a:cxnLst/>
            <a:rect l="l" t="t" r="r" b="b"/>
            <a:pathLst>
              <a:path w="4222750" h="1278334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4121150" y="0"/>
                </a:lnTo>
                <a:arcTo hR="101600" wR="101600" stAng="16200000" swAng="5400000"/>
                <a:lnTo>
                  <a:pt x="42227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55" name="Text 53"/>
          <p:cNvSpPr/>
          <p:nvPr/>
        </p:nvSpPr>
        <p:spPr>
          <a:xfrm>
            <a:off x="7334250" y="4777029"/>
            <a:ext cx="39831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 type="button"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334250" y="5069129"/>
            <a:ext cx="398316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 button that must not submit the form.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12800" y="6238242"/>
            <a:ext cx="2115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11/26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SEMANTICS &amp;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elements for their meaning, not their look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2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audiences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Browsers, search engines, screen readers and other developers.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44042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4394200" y="1844042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 nav main section article aside footer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44042"/>
            <a:ext cx="34036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1844042"/>
            <a:ext cx="3403600" cy="1145540"/>
          </a:xfrm>
          <a:custGeom>
            <a:avLst/>
            <a:gdLst/>
            <a:ahLst/>
            <a:cxnLst/>
            <a:rect l="l" t="t" r="r" b="b"/>
            <a:pathLst>
              <a:path w="34036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 content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3400" y="2349500"/>
            <a:ext cx="31394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figcaption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180079"/>
            <a:ext cx="51943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" y="3180079"/>
            <a:ext cx="5194300" cy="1376680"/>
          </a:xfrm>
          <a:custGeom>
            <a:avLst/>
            <a:gdLst/>
            <a:ahLst/>
            <a:cxnLst/>
            <a:rect l="l" t="t" r="r" b="b"/>
            <a:pathLst>
              <a:path w="51943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3393442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main, article, section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0600" y="3685542"/>
            <a:ext cx="498386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normally once per page.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stands on its own;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themed group with a heading.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4900" y="3180079"/>
            <a:ext cx="51943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4900" y="3180079"/>
            <a:ext cx="5194300" cy="1376680"/>
          </a:xfrm>
          <a:custGeom>
            <a:avLst/>
            <a:gdLst/>
            <a:ahLst/>
            <a:cxnLst/>
            <a:rect l="l" t="t" r="r" b="b"/>
            <a:pathLst>
              <a:path w="51943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362700" y="3393442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 is fine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62700" y="3685542"/>
            <a:ext cx="498386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generic container when nothing fits; span is its inline cousin. Common mistake: div for everything, or headings just to enlarge text.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2152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12/26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SEMANTICS &amp;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page 1: head, header and nav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635036" cy="3870960"/>
          </a:xfrm>
          <a:prstGeom prst="roundRect">
            <a:avLst>
              <a:gd name="adj" fmla="val 2625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&lt;!DOCTYPE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html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64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&lt;html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lang=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"en"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dir=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"ltr"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64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79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&lt;head&gt;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7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charset=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"UTF-8"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1"/>
            <a:ext cx="6381036" cy="39624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&lt;meta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"viewport"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content=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"width=device-width, initial-scale=1.0"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1"/>
            <a:ext cx="0" cy="39624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85164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&lt;title&gt;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Learn Web Development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&lt;/title&gt;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85164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83279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&lt;/head&gt;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8327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581400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&lt;body&gt;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779521"/>
            <a:ext cx="6381036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&lt;header&gt;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779521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977642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Web Academy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9776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4175764"/>
            <a:ext cx="6381036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&lt;nav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aria-label=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"Main navigation"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4175764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373879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&lt;ul&gt;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37387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00" y="4572000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"#courses"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&lt;/a&gt;&lt;/li&gt;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8850" y="45720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800" y="4770121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&lt;li&gt;&lt;a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"#about"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About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&lt;/a&gt;&lt;/li&gt;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850" y="47701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9800" y="4968242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&lt;/ul&gt;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8850" y="49682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800" y="5166364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&lt;/nav&gt;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58850" y="5166364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9800" y="5364479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&lt;/header&gt;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8850" y="536447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25636" y="1844042"/>
            <a:ext cx="3753564" cy="1884680"/>
          </a:xfrm>
          <a:prstGeom prst="roundRect">
            <a:avLst>
              <a:gd name="adj" fmla="val 5391"/>
            </a:avLst>
          </a:prstGeom>
          <a:solidFill>
            <a:srgbClr val="1E242E"/>
          </a:solidFill>
          <a:ln/>
        </p:spPr>
      </p:sp>
      <p:sp>
        <p:nvSpPr>
          <p:cNvPr id="40" name="Shape 38"/>
          <p:cNvSpPr/>
          <p:nvPr/>
        </p:nvSpPr>
        <p:spPr>
          <a:xfrm>
            <a:off x="7625636" y="1844042"/>
            <a:ext cx="3753564" cy="1884680"/>
          </a:xfrm>
          <a:custGeom>
            <a:avLst/>
            <a:gdLst/>
            <a:ahLst/>
            <a:cxnLst/>
            <a:rect l="l" t="t" r="r" b="b"/>
            <a:pathLst>
              <a:path w="3753564" h="1884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651964" y="0"/>
                </a:lnTo>
                <a:arcTo hR="101600" wR="101600" stAng="16200000" swAng="5400000"/>
                <a:lnTo>
                  <a:pt x="375356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41" name="Text 39"/>
          <p:cNvSpPr/>
          <p:nvPr/>
        </p:nvSpPr>
        <p:spPr>
          <a:xfrm>
            <a:off x="7803436" y="2057400"/>
            <a:ext cx="34999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&lt;header&gt;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803436" y="2349500"/>
            <a:ext cx="34999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intro; here the brand and navigation.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625636" y="3830321"/>
            <a:ext cx="3753564" cy="1884680"/>
          </a:xfrm>
          <a:prstGeom prst="roundRect">
            <a:avLst>
              <a:gd name="adj" fmla="val 5391"/>
            </a:avLst>
          </a:prstGeom>
          <a:solidFill>
            <a:srgbClr val="1E242E"/>
          </a:solidFill>
          <a:ln/>
        </p:spPr>
      </p:sp>
      <p:sp>
        <p:nvSpPr>
          <p:cNvPr id="44" name="Shape 42"/>
          <p:cNvSpPr/>
          <p:nvPr/>
        </p:nvSpPr>
        <p:spPr>
          <a:xfrm>
            <a:off x="7625636" y="3830321"/>
            <a:ext cx="3753564" cy="1884680"/>
          </a:xfrm>
          <a:custGeom>
            <a:avLst/>
            <a:gdLst/>
            <a:ahLst/>
            <a:cxnLst/>
            <a:rect l="l" t="t" r="r" b="b"/>
            <a:pathLst>
              <a:path w="3753564" h="1884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651964" y="0"/>
                </a:lnTo>
                <a:arcTo hR="101600" wR="101600" stAng="16200000" swAng="5400000"/>
                <a:lnTo>
                  <a:pt x="375356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45" name="Text 43"/>
          <p:cNvSpPr/>
          <p:nvPr/>
        </p:nvSpPr>
        <p:spPr>
          <a:xfrm>
            <a:off x="7803436" y="4043679"/>
            <a:ext cx="34999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&lt;nav&gt;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803436" y="4335779"/>
            <a:ext cx="349990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list of links (banner and navigation landmarks).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12800" y="6238242"/>
            <a:ext cx="2153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13/26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SEMANTICS &amp;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page 2: main, section and article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635036" cy="2484120"/>
          </a:xfrm>
          <a:prstGeom prst="roundRect">
            <a:avLst>
              <a:gd name="adj" fmla="val 4090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381036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&lt;main&gt;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64"/>
            <a:ext cx="6381036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&lt;section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"courses"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64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79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&lt;h1&gt;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Learn Web Development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&lt;/h1&gt;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7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381036" cy="39624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Start with HTML, then continue to CSS and JavaScript.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39624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9800" y="2987042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850" y="29870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3185164"/>
            <a:ext cx="6381036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&lt;article&gt;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3185164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83279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&lt;h2&gt;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HTML Basics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&lt;/h2&gt;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8327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581400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Learn how to structure web content.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779521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&lt;/article&gt;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7795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977642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&lt;/section&gt;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9776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5636" y="1844042"/>
            <a:ext cx="3753564" cy="1191260"/>
          </a:xfrm>
          <a:prstGeom prst="roundRect">
            <a:avLst>
              <a:gd name="adj" fmla="val 8529"/>
            </a:avLst>
          </a:prstGeom>
          <a:solidFill>
            <a:srgbClr val="1E24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5636" y="1844042"/>
            <a:ext cx="3753564" cy="1191260"/>
          </a:xfrm>
          <a:custGeom>
            <a:avLst/>
            <a:gdLst/>
            <a:ahLst/>
            <a:cxnLst/>
            <a:rect l="l" t="t" r="r" b="b"/>
            <a:pathLst>
              <a:path w="3753564" h="11912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651964" y="0"/>
                </a:lnTo>
                <a:arcTo hR="101600" wR="101600" stAng="16200000" swAng="5400000"/>
                <a:lnTo>
                  <a:pt x="375356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27" name="Text 25"/>
          <p:cNvSpPr/>
          <p:nvPr/>
        </p:nvSpPr>
        <p:spPr>
          <a:xfrm>
            <a:off x="7803436" y="2057400"/>
            <a:ext cx="34999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03436" y="2349500"/>
            <a:ext cx="349990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Could this stand alone? A blog post or product card: article.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25636" y="3136900"/>
            <a:ext cx="3753564" cy="1191260"/>
          </a:xfrm>
          <a:prstGeom prst="roundRect">
            <a:avLst>
              <a:gd name="adj" fmla="val 8529"/>
            </a:avLst>
          </a:prstGeom>
          <a:solidFill>
            <a:srgbClr val="1E24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5636" y="3136900"/>
            <a:ext cx="3753564" cy="1191260"/>
          </a:xfrm>
          <a:custGeom>
            <a:avLst/>
            <a:gdLst/>
            <a:ahLst/>
            <a:cxnLst/>
            <a:rect l="l" t="t" r="r" b="b"/>
            <a:pathLst>
              <a:path w="3753564" h="11912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651964" y="0"/>
                </a:lnTo>
                <a:arcTo hR="101600" wR="101600" stAng="16200000" swAng="5400000"/>
                <a:lnTo>
                  <a:pt x="375356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1" name="Text 29"/>
          <p:cNvSpPr/>
          <p:nvPr/>
        </p:nvSpPr>
        <p:spPr>
          <a:xfrm>
            <a:off x="7803436" y="3350264"/>
            <a:ext cx="34999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803436" y="3642364"/>
            <a:ext cx="349990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themed cluster with a heading. If neither fits, a div with a class is honest.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2800" y="6238242"/>
            <a:ext cx="2159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14/26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SEMANTICS &amp;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page 3: aside and footer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635036" cy="2682240"/>
          </a:xfrm>
          <a:prstGeom prst="roundRect">
            <a:avLst>
              <a:gd name="adj" fmla="val 3788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381036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&lt;aside&gt;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64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&lt;h2&gt;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Tip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&lt;/h2&gt;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64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79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Practice each example in a separate HTML file.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79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&lt;/aside&gt;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1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&lt;/main&gt;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9800" y="2987042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6" name="Shape 14"/>
          <p:cNvSpPr/>
          <p:nvPr/>
        </p:nvSpPr>
        <p:spPr>
          <a:xfrm>
            <a:off x="958850" y="29870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85164"/>
            <a:ext cx="6381036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&lt;footer&gt;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85164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83279"/>
            <a:ext cx="6381036" cy="39624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&lt;address&gt;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Contact: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"mailto:hello@example.com"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hello@example.com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&lt;/a&gt;&lt;/address&gt;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383279"/>
            <a:ext cx="0" cy="39624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779521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&lt;/footer&gt;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779521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977642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&lt;/body&gt;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9776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4175764"/>
            <a:ext cx="6381036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&lt;/html&gt;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4175764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5636" y="1844042"/>
            <a:ext cx="3753564" cy="1290320"/>
          </a:xfrm>
          <a:prstGeom prst="roundRect">
            <a:avLst>
              <a:gd name="adj" fmla="val 7874"/>
            </a:avLst>
          </a:prstGeom>
          <a:solidFill>
            <a:srgbClr val="1E242E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5636" y="1844042"/>
            <a:ext cx="3753564" cy="1290320"/>
          </a:xfrm>
          <a:custGeom>
            <a:avLst/>
            <a:gdLst/>
            <a:ahLst/>
            <a:cxnLst/>
            <a:rect l="l" t="t" r="r" b="b"/>
            <a:pathLst>
              <a:path w="3753564" h="12903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651964" y="0"/>
                </a:lnTo>
                <a:arcTo hR="101600" wR="101600" stAng="16200000" swAng="5400000"/>
                <a:lnTo>
                  <a:pt x="375356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29" name="Text 27"/>
          <p:cNvSpPr/>
          <p:nvPr/>
        </p:nvSpPr>
        <p:spPr>
          <a:xfrm>
            <a:off x="7803436" y="2057400"/>
            <a:ext cx="34999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&lt;aside&gt;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03436" y="2349500"/>
            <a:ext cx="349990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Related, side content.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25636" y="3235964"/>
            <a:ext cx="3753564" cy="1290320"/>
          </a:xfrm>
          <a:prstGeom prst="roundRect">
            <a:avLst>
              <a:gd name="adj" fmla="val 7874"/>
            </a:avLst>
          </a:prstGeom>
          <a:solidFill>
            <a:srgbClr val="1E242E"/>
          </a:solidFill>
          <a:ln/>
        </p:spPr>
      </p:sp>
      <p:sp>
        <p:nvSpPr>
          <p:cNvPr id="32" name="Shape 30"/>
          <p:cNvSpPr/>
          <p:nvPr/>
        </p:nvSpPr>
        <p:spPr>
          <a:xfrm>
            <a:off x="7625636" y="3235964"/>
            <a:ext cx="3753564" cy="1290320"/>
          </a:xfrm>
          <a:custGeom>
            <a:avLst/>
            <a:gdLst/>
            <a:ahLst/>
            <a:cxnLst/>
            <a:rect l="l" t="t" r="r" b="b"/>
            <a:pathLst>
              <a:path w="3753564" h="12903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651964" y="0"/>
                </a:lnTo>
                <a:arcTo hR="101600" wR="101600" stAng="16200000" swAng="5400000"/>
                <a:lnTo>
                  <a:pt x="375356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33" name="Text 31"/>
          <p:cNvSpPr/>
          <p:nvPr/>
        </p:nvSpPr>
        <p:spPr>
          <a:xfrm>
            <a:off x="7803436" y="3449321"/>
            <a:ext cx="34999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&lt;footer&gt;</a:t>
            </a: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&lt;address&gt;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803436" y="3741421"/>
            <a:ext cx="349990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info and contact details (contentinfo landmark).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42"/>
            <a:ext cx="21494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15/26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TABLES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 are for data, not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51943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2"/>
            <a:ext cx="5194300" cy="1145540"/>
          </a:xfrm>
          <a:custGeom>
            <a:avLst/>
            <a:gdLst/>
            <a:ahLst/>
            <a:cxnLst/>
            <a:rect l="l" t="t" r="r" b="b"/>
            <a:pathLst>
              <a:path w="51943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tabular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498386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and columns of related values. Never lay out a page with tables: use Flexbox / Grid.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4900" y="1844042"/>
            <a:ext cx="519430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6184900" y="1844042"/>
            <a:ext cx="5194300" cy="1145540"/>
          </a:xfrm>
          <a:custGeom>
            <a:avLst/>
            <a:gdLst/>
            <a:ahLst/>
            <a:cxnLst/>
            <a:rect l="l" t="t" r="r" b="b"/>
            <a:pathLst>
              <a:path w="519430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0" name="Text 8"/>
          <p:cNvSpPr/>
          <p:nvPr/>
        </p:nvSpPr>
        <p:spPr>
          <a:xfrm>
            <a:off x="6362700" y="20574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62700" y="2349500"/>
            <a:ext cx="498386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caption thead tbody tfoot tr th td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3180085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180085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33934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0600" y="3685542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names the table.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scope="col"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scope="row"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say which cells a header describes. Use th, not bold td.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4200" y="3180085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4394200" y="3180085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3934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colspan / rowspan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3685542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Cells spanning columns or rows. Use only when the data needs it.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75600" y="3180085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975600" y="3180085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8153400" y="3393442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mobile-ready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53400" y="3685542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 tables need a scroll container or responsive CSS.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2154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16/26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TABLES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table 1: caption and thead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334760" cy="2286000"/>
          </a:xfrm>
          <a:prstGeom prst="roundRect">
            <a:avLst>
              <a:gd name="adj" fmla="val 4444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&lt;table&gt;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58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&lt;caption&gt;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Weekly Web Development Schedule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&lt;/caption&gt;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58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9800" y="2392685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0" name="Shape 8"/>
          <p:cNvSpPr/>
          <p:nvPr/>
        </p:nvSpPr>
        <p:spPr>
          <a:xfrm>
            <a:off x="958850" y="2392685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&lt;thead&gt;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7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&lt;tr&gt;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7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87042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&lt;th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scope=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"col"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Day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&lt;/th&gt;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87042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85158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&lt;th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scope=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"col"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Topic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&lt;/th&gt;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85158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83285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&lt;th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scope=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"col"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Duration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&lt;/th&gt;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383285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5814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&lt;/tr&gt;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779527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&lt;/thead&gt;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779527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5360" y="1844042"/>
            <a:ext cx="4053840" cy="1092200"/>
          </a:xfrm>
          <a:prstGeom prst="roundRect">
            <a:avLst>
              <a:gd name="adj" fmla="val 9302"/>
            </a:avLst>
          </a:prstGeom>
          <a:solidFill>
            <a:srgbClr val="1E24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325360" y="1844042"/>
            <a:ext cx="4053840" cy="1092200"/>
          </a:xfrm>
          <a:custGeom>
            <a:avLst/>
            <a:gdLst/>
            <a:ahLst/>
            <a:cxnLst/>
            <a:rect l="l" t="t" r="r" b="b"/>
            <a:pathLst>
              <a:path w="4053840" h="10922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27" name="Text 25"/>
          <p:cNvSpPr/>
          <p:nvPr/>
        </p:nvSpPr>
        <p:spPr>
          <a:xfrm>
            <a:off x="7503160" y="2057400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&lt;caption&gt;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03160" y="2349500"/>
            <a:ext cx="38091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 the table.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25360" y="3037842"/>
            <a:ext cx="4053840" cy="1092200"/>
          </a:xfrm>
          <a:prstGeom prst="roundRect">
            <a:avLst>
              <a:gd name="adj" fmla="val 9302"/>
            </a:avLst>
          </a:prstGeom>
          <a:solidFill>
            <a:srgbClr val="1E24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325360" y="3037842"/>
            <a:ext cx="4053840" cy="1092200"/>
          </a:xfrm>
          <a:custGeom>
            <a:avLst/>
            <a:gdLst/>
            <a:ahLst/>
            <a:cxnLst/>
            <a:rect l="l" t="t" r="r" b="b"/>
            <a:pathLst>
              <a:path w="4053840" h="10922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1" name="Text 29"/>
          <p:cNvSpPr/>
          <p:nvPr/>
        </p:nvSpPr>
        <p:spPr>
          <a:xfrm>
            <a:off x="7503160" y="3251200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scope="col"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03160" y="3543300"/>
            <a:ext cx="38091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header describes the column below it.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2800" y="43205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Fragment, shown inside a page body.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42"/>
            <a:ext cx="21444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17/26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TABLES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table 2: tbody rows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334760" cy="3672840"/>
          </a:xfrm>
          <a:prstGeom prst="roundRect">
            <a:avLst>
              <a:gd name="adj" fmla="val 2766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&lt;tbody&gt;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58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&lt;tr&gt;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58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85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&lt;th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scope=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"row"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Saturday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&lt;/th&gt;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85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HTML Forms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&lt;/td&gt;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7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60 minutes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&lt;/td&gt;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7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87042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&lt;/tr&gt;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870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85158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&lt;tr&gt;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85158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83285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&lt;th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scope=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"row"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Sunday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&lt;/th&gt;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383285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5814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HTML Tables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&lt;/td&gt;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779527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45 minutes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&lt;/td&gt;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779527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3977642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&lt;/tr&gt;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39776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175758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&lt;tr&gt;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175758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00" y="4373885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&lt;th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scope=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"row"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Monday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&lt;/th&gt;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8850" y="4373885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800" y="45720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Audio and Video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&lt;/td&gt;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850" y="45720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9800" y="4770127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45 minutes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&lt;/td&gt;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8850" y="4770127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800" y="4968242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&lt;/tr&gt;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58850" y="49682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9800" y="5166358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&lt;/tbody&gt;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8850" y="5166358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25360" y="1844042"/>
            <a:ext cx="4053840" cy="1785620"/>
          </a:xfrm>
          <a:prstGeom prst="roundRect">
            <a:avLst>
              <a:gd name="adj" fmla="val 5690"/>
            </a:avLst>
          </a:prstGeom>
          <a:solidFill>
            <a:srgbClr val="1E242E"/>
          </a:solidFill>
          <a:ln/>
        </p:spPr>
      </p:sp>
      <p:sp>
        <p:nvSpPr>
          <p:cNvPr id="40" name="Shape 38"/>
          <p:cNvSpPr/>
          <p:nvPr/>
        </p:nvSpPr>
        <p:spPr>
          <a:xfrm>
            <a:off x="7325360" y="1844042"/>
            <a:ext cx="4053840" cy="1785620"/>
          </a:xfrm>
          <a:custGeom>
            <a:avLst/>
            <a:gdLst/>
            <a:ahLst/>
            <a:cxnLst/>
            <a:rect l="l" t="t" r="r" b="b"/>
            <a:pathLst>
              <a:path w="4053840" h="17856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41" name="Text 39"/>
          <p:cNvSpPr/>
          <p:nvPr/>
        </p:nvSpPr>
        <p:spPr>
          <a:xfrm>
            <a:off x="7503160" y="2057400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scope="row"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503160" y="2349500"/>
            <a:ext cx="38091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cell describes its whole row.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325360" y="3731258"/>
            <a:ext cx="4053840" cy="1785620"/>
          </a:xfrm>
          <a:prstGeom prst="roundRect">
            <a:avLst>
              <a:gd name="adj" fmla="val 5690"/>
            </a:avLst>
          </a:prstGeom>
          <a:solidFill>
            <a:srgbClr val="1E242E"/>
          </a:solidFill>
          <a:ln/>
        </p:spPr>
      </p:sp>
      <p:sp>
        <p:nvSpPr>
          <p:cNvPr id="44" name="Shape 42"/>
          <p:cNvSpPr/>
          <p:nvPr/>
        </p:nvSpPr>
        <p:spPr>
          <a:xfrm>
            <a:off x="7325360" y="3731258"/>
            <a:ext cx="4053840" cy="1785620"/>
          </a:xfrm>
          <a:custGeom>
            <a:avLst/>
            <a:gdLst/>
            <a:ahLst/>
            <a:cxnLst/>
            <a:rect l="l" t="t" r="r" b="b"/>
            <a:pathLst>
              <a:path w="4053840" h="17856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45" name="Text 43"/>
          <p:cNvSpPr/>
          <p:nvPr/>
        </p:nvSpPr>
        <p:spPr>
          <a:xfrm>
            <a:off x="7503160" y="3944627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 for headers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503160" y="4236727"/>
            <a:ext cx="38091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bolded td cells.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12800" y="6238242"/>
            <a:ext cx="21540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18/26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TABLES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table 3: tfoot and colspan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334760" cy="2392680"/>
          </a:xfrm>
          <a:prstGeom prst="roundRect">
            <a:avLst>
              <a:gd name="adj" fmla="val 4246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&lt;tfoot&gt;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58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&lt;tr&gt;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58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85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&lt;th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scope=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"row"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colspan=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"2"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learning time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&lt;/th&gt;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85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&lt;td&gt;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150 minutes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&lt;/td&gt;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7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&lt;/tr&gt;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7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87042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&lt;/tfoot&gt;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870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85158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&lt;/table&gt;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85158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5360" y="1844042"/>
            <a:ext cx="405384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25360" y="1844042"/>
            <a:ext cx="4053840" cy="1145540"/>
          </a:xfrm>
          <a:custGeom>
            <a:avLst/>
            <a:gdLst/>
            <a:ahLst/>
            <a:cxnLst/>
            <a:rect l="l" t="t" r="r" b="b"/>
            <a:pathLst>
              <a:path w="405384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21" name="Text 19"/>
          <p:cNvSpPr/>
          <p:nvPr/>
        </p:nvSpPr>
        <p:spPr>
          <a:xfrm>
            <a:off x="7503160" y="2057400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colspan="2"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03160" y="2349500"/>
            <a:ext cx="38091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header cell spans two columns, so the total sits under Duration.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25360" y="3091185"/>
            <a:ext cx="4053840" cy="1145540"/>
          </a:xfrm>
          <a:prstGeom prst="roundRect">
            <a:avLst>
              <a:gd name="adj" fmla="val 8869"/>
            </a:avLst>
          </a:prstGeom>
          <a:solidFill>
            <a:srgbClr val="1E24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25360" y="3091185"/>
            <a:ext cx="4053840" cy="1145540"/>
          </a:xfrm>
          <a:custGeom>
            <a:avLst/>
            <a:gdLst/>
            <a:ahLst/>
            <a:cxnLst/>
            <a:rect l="l" t="t" r="r" b="b"/>
            <a:pathLst>
              <a:path w="4053840" h="11455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7503160" y="3304542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03160" y="3596642"/>
            <a:ext cx="380918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gave the structure. Making it mobile-friendly is a CSS job.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42"/>
            <a:ext cx="21543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19/26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AUDIO &amp; VIDEO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media: no plugins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2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&lt;audio&gt;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313944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loop muted preload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 hint only) and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autoplay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which browsers usually block.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4200" y="1844042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4394200" y="1844042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&lt;video&gt;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width height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300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poster</a:t>
            </a: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 image shown before playback.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5600" y="1844042"/>
            <a:ext cx="3403600" cy="1376680"/>
          </a:xfrm>
          <a:prstGeom prst="roundRect">
            <a:avLst>
              <a:gd name="adj" fmla="val 7380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1844042"/>
            <a:ext cx="3403600" cy="1376680"/>
          </a:xfrm>
          <a:custGeom>
            <a:avLst/>
            <a:gdLst/>
            <a:ahLst/>
            <a:cxnLst/>
            <a:rect l="l" t="t" r="r" b="b"/>
            <a:pathLst>
              <a:path w="3403600" h="13766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&lt;source&gt;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3400" y="2349500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media in several formats; the browser picks one it can play.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411227"/>
            <a:ext cx="3403600" cy="1607820"/>
          </a:xfrm>
          <a:prstGeom prst="roundRect">
            <a:avLst>
              <a:gd name="adj" fmla="val 6319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" y="3411227"/>
            <a:ext cx="3403600" cy="1607820"/>
          </a:xfrm>
          <a:custGeom>
            <a:avLst/>
            <a:gdLst/>
            <a:ahLst/>
            <a:cxnLst/>
            <a:rect l="l" t="t" r="r" b="b"/>
            <a:pathLst>
              <a:path w="3403600" h="16078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3624585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B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&lt;track kind="captions"&gt;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0600" y="3916685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Captions or subtitles from a .vtt file (WebVTT with timestamps).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94200" y="3411227"/>
            <a:ext cx="3403600" cy="1607820"/>
          </a:xfrm>
          <a:prstGeom prst="roundRect">
            <a:avLst>
              <a:gd name="adj" fmla="val 6319"/>
            </a:avLst>
          </a:prstGeom>
          <a:solidFill>
            <a:srgbClr val="1E242E"/>
          </a:solidFill>
          <a:ln/>
        </p:spPr>
      </p:sp>
      <p:sp>
        <p:nvSpPr>
          <p:cNvPr id="21" name="Shape 19"/>
          <p:cNvSpPr/>
          <p:nvPr/>
        </p:nvSpPr>
        <p:spPr>
          <a:xfrm>
            <a:off x="4394200" y="3411227"/>
            <a:ext cx="3403600" cy="1607820"/>
          </a:xfrm>
          <a:custGeom>
            <a:avLst/>
            <a:gdLst/>
            <a:ahLst/>
            <a:cxnLst/>
            <a:rect l="l" t="t" r="r" b="b"/>
            <a:pathLst>
              <a:path w="3403600" h="16078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C792E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624585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Captions vs subtitles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3916685"/>
            <a:ext cx="313944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Captions include dialogue and relevant sounds; subtitles are usually a translation. Give a transcript for important audio.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5600" y="3411227"/>
            <a:ext cx="3403600" cy="1607820"/>
          </a:xfrm>
          <a:prstGeom prst="roundRect">
            <a:avLst>
              <a:gd name="adj" fmla="val 6319"/>
            </a:avLst>
          </a:prstGeom>
          <a:solidFill>
            <a:srgbClr val="1E24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975600" y="3411227"/>
            <a:ext cx="3403600" cy="1607820"/>
          </a:xfrm>
          <a:custGeom>
            <a:avLst/>
            <a:gdLst/>
            <a:ahLst/>
            <a:cxnLst/>
            <a:rect l="l" t="t" r="r" b="b"/>
            <a:pathLst>
              <a:path w="3403600" h="16078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8153400" y="3624585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+ controls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53400" y="3916685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fallback content inside the element. Keep visible controls.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2"/>
            <a:ext cx="21934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20/26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AUDIO &amp; VIDEO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with sources and fallback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334760" cy="2286000"/>
          </a:xfrm>
          <a:prstGeom prst="roundRect">
            <a:avLst>
              <a:gd name="adj" fmla="val 4444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&lt;figure&gt;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58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&lt;figcaption&gt;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Listen to the lesson introduction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&lt;/figcaption&gt;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58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9800" y="2392685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0" name="Shape 8"/>
          <p:cNvSpPr/>
          <p:nvPr/>
        </p:nvSpPr>
        <p:spPr>
          <a:xfrm>
            <a:off x="958850" y="2392685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&lt;audio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controls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7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&lt;source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"media/intro.mp3"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"audio/mpeg"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7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87042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&lt;source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"media/intro.ogg"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"audio/ogg"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87042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85158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Your browser cannot play this audio.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85158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83285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"media/intro.mp3"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Download the audio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383285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5814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&lt;/audio&gt;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779527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&lt;/figure&gt;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779527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5360" y="1844042"/>
            <a:ext cx="4053840" cy="1092200"/>
          </a:xfrm>
          <a:prstGeom prst="roundRect">
            <a:avLst>
              <a:gd name="adj" fmla="val 9302"/>
            </a:avLst>
          </a:prstGeom>
          <a:solidFill>
            <a:srgbClr val="1E24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325360" y="1844042"/>
            <a:ext cx="4053840" cy="1092200"/>
          </a:xfrm>
          <a:custGeom>
            <a:avLst/>
            <a:gdLst/>
            <a:ahLst/>
            <a:cxnLst/>
            <a:rect l="l" t="t" r="r" b="b"/>
            <a:pathLst>
              <a:path w="4053840" h="10922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27" name="Text 25"/>
          <p:cNvSpPr/>
          <p:nvPr/>
        </p:nvSpPr>
        <p:spPr>
          <a:xfrm>
            <a:off x="7503160" y="2057400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sources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03160" y="2349500"/>
            <a:ext cx="38091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plays the first format it supports.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25360" y="3037842"/>
            <a:ext cx="4053840" cy="1092200"/>
          </a:xfrm>
          <a:prstGeom prst="roundRect">
            <a:avLst>
              <a:gd name="adj" fmla="val 9302"/>
            </a:avLst>
          </a:prstGeom>
          <a:solidFill>
            <a:srgbClr val="1E24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325360" y="3037842"/>
            <a:ext cx="4053840" cy="1092200"/>
          </a:xfrm>
          <a:custGeom>
            <a:avLst/>
            <a:gdLst/>
            <a:ahLst/>
            <a:cxnLst/>
            <a:rect l="l" t="t" r="r" b="b"/>
            <a:pathLst>
              <a:path w="4053840" h="10922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31" name="Text 29"/>
          <p:cNvSpPr/>
          <p:nvPr/>
        </p:nvSpPr>
        <p:spPr>
          <a:xfrm>
            <a:off x="7503160" y="3251200"/>
            <a:ext cx="3809187" cy="236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392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paragraph</a:t>
            </a:r>
            <a:endParaRPr lang="en-US" sz="1392" dirty="0"/>
          </a:p>
        </p:txBody>
      </p:sp>
      <p:sp>
        <p:nvSpPr>
          <p:cNvPr id="32" name="Text 30"/>
          <p:cNvSpPr/>
          <p:nvPr/>
        </p:nvSpPr>
        <p:spPr>
          <a:xfrm>
            <a:off x="7503160" y="3525676"/>
            <a:ext cx="3876040" cy="45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an old browser shows, with a download link.</a:t>
            </a:r>
            <a:endParaRPr lang="en-US" sz="1231" dirty="0"/>
          </a:p>
        </p:txBody>
      </p:sp>
      <p:sp>
        <p:nvSpPr>
          <p:cNvPr id="33" name="Text 31"/>
          <p:cNvSpPr/>
          <p:nvPr/>
        </p:nvSpPr>
        <p:spPr>
          <a:xfrm>
            <a:off x="812800" y="43205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42"/>
            <a:ext cx="21524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21/26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AUDIO &amp; VIDEO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with sources and a captions track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490653" cy="3924300"/>
          </a:xfrm>
          <a:prstGeom prst="roundRect">
            <a:avLst>
              <a:gd name="adj" fmla="val 2589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&lt;figure&gt;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86942"/>
            <a:ext cx="6236653" cy="1905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&lt;video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controls width=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"640"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poster=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"media/lesson-poster.jpg"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86942"/>
            <a:ext cx="0" cy="1905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774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&lt;source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"media/lesson.mp4"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"video/mp4"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774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679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&lt;source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"media/lesson.webm"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type=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"video/webm"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679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9800" y="27584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14" name="Shape 12"/>
          <p:cNvSpPr/>
          <p:nvPr/>
        </p:nvSpPr>
        <p:spPr>
          <a:xfrm>
            <a:off x="958850" y="27584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48942"/>
            <a:ext cx="6236653" cy="1905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&lt;track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48942"/>
            <a:ext cx="0" cy="1905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139442"/>
            <a:ext cx="6236653" cy="19050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kind=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"captions"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139442"/>
            <a:ext cx="0" cy="19050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3299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"media/lesson-en.vtt"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3299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5204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srclang=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"en"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5204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800" y="37109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label=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"English"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850" y="37109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800" y="39014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default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8850" y="39014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800" y="40919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8850" y="40919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9800" y="42824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30" name="Shape 28"/>
          <p:cNvSpPr/>
          <p:nvPr/>
        </p:nvSpPr>
        <p:spPr>
          <a:xfrm>
            <a:off x="958850" y="42824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800" y="44729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&lt;p&gt;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Your browser does not support HTML video.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850" y="44729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9800" y="46634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&lt;a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href=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"media/lesson.mp4"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Download the video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&lt;/a&gt;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8850" y="46634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800" y="48539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&lt;/video&gt;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58850" y="48539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9800" y="50444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</p:sp>
      <p:sp>
        <p:nvSpPr>
          <p:cNvPr id="38" name="Shape 36"/>
          <p:cNvSpPr/>
          <p:nvPr/>
        </p:nvSpPr>
        <p:spPr>
          <a:xfrm>
            <a:off x="958850" y="50444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800" y="52349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&lt;figcaption&gt;</a:t>
            </a: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Introduction to HTML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&lt;/figcaption&gt;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58850" y="52349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9800" y="5425442"/>
            <a:ext cx="6236653" cy="19050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&lt;/figure&gt;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8850" y="5425442"/>
            <a:ext cx="0" cy="19050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81253" y="1844042"/>
            <a:ext cx="3897948" cy="1911350"/>
          </a:xfrm>
          <a:prstGeom prst="roundRect">
            <a:avLst>
              <a:gd name="adj" fmla="val 5316"/>
            </a:avLst>
          </a:prstGeom>
          <a:solidFill>
            <a:srgbClr val="1E242E"/>
          </a:solidFill>
          <a:ln/>
        </p:spPr>
      </p:sp>
      <p:sp>
        <p:nvSpPr>
          <p:cNvPr id="44" name="Shape 42"/>
          <p:cNvSpPr/>
          <p:nvPr/>
        </p:nvSpPr>
        <p:spPr>
          <a:xfrm>
            <a:off x="7481253" y="1844042"/>
            <a:ext cx="3897948" cy="1911350"/>
          </a:xfrm>
          <a:custGeom>
            <a:avLst/>
            <a:gdLst/>
            <a:ahLst/>
            <a:cxnLst/>
            <a:rect l="l" t="t" r="r" b="b"/>
            <a:pathLst>
              <a:path w="3897948" h="191135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45" name="Text 43"/>
          <p:cNvSpPr/>
          <p:nvPr/>
        </p:nvSpPr>
        <p:spPr>
          <a:xfrm>
            <a:off x="7659053" y="205740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poster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659053" y="2349500"/>
            <a:ext cx="364861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Avoids an ugly black box before playback.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81253" y="3856992"/>
            <a:ext cx="3897948" cy="1911350"/>
          </a:xfrm>
          <a:prstGeom prst="roundRect">
            <a:avLst>
              <a:gd name="adj" fmla="val 5316"/>
            </a:avLst>
          </a:prstGeom>
          <a:solidFill>
            <a:srgbClr val="1E242E"/>
          </a:solidFill>
          <a:ln/>
        </p:spPr>
      </p:sp>
      <p:sp>
        <p:nvSpPr>
          <p:cNvPr id="48" name="Shape 46"/>
          <p:cNvSpPr/>
          <p:nvPr/>
        </p:nvSpPr>
        <p:spPr>
          <a:xfrm>
            <a:off x="7481253" y="3856992"/>
            <a:ext cx="3897948" cy="1911350"/>
          </a:xfrm>
          <a:custGeom>
            <a:avLst/>
            <a:gdLst/>
            <a:ahLst/>
            <a:cxnLst/>
            <a:rect l="l" t="t" r="r" b="b"/>
            <a:pathLst>
              <a:path w="3897948" h="191135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796348" y="0"/>
                </a:lnTo>
                <a:arcTo hR="101600" wR="101600" stAng="16200000" swAng="5400000"/>
                <a:lnTo>
                  <a:pt x="3897948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49" name="Text 47"/>
          <p:cNvSpPr/>
          <p:nvPr/>
        </p:nvSpPr>
        <p:spPr>
          <a:xfrm>
            <a:off x="7659053" y="4070350"/>
            <a:ext cx="3648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659053" y="4362450"/>
            <a:ext cx="364861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WebVTT with timestamps; kind="captions".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12800" y="6238242"/>
            <a:ext cx="21896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22/26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AUDIO &amp; VIDEO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 a hosted video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6334760" cy="3177540"/>
          </a:xfrm>
          <a:prstGeom prst="roundRect">
            <a:avLst>
              <a:gd name="adj" fmla="val 3197"/>
            </a:avLst>
          </a:prstGeom>
          <a:solidFill>
            <a:srgbClr val="0B0E13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996442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&lt;iframe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850" y="1996442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800" y="2194558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width=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"560"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8850" y="2194558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800" y="2392685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height=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"315"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58850" y="2392685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25908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src=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"https://www.youtube.com/embed/VIDEO_ID"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8850" y="25908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800" y="2788927"/>
            <a:ext cx="6080760" cy="198120"/>
          </a:xfrm>
          <a:prstGeom prst="rect">
            <a:avLst/>
          </a:prstGeom>
          <a:solidFill>
            <a:srgbClr val="2A2619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title=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"HTML lesson video"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8850" y="2788927"/>
            <a:ext cx="0" cy="198120"/>
          </a:xfrm>
          <a:prstGeom prst="line">
            <a:avLst/>
          </a:prstGeom>
          <a:noFill/>
          <a:ln w="381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800" y="2987042"/>
            <a:ext cx="6080760" cy="39624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allow=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"accelerometer; autoplay; clipboard-write; encrypted-media; gyroscope; picture-in-picture; web-share"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8850" y="2987042"/>
            <a:ext cx="0" cy="39624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" y="3383285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referrerpolicy=</a:t>
            </a:r>
            <a:r>
              <a:rPr lang="en-US" sz="1200" dirty="0">
                <a:solidFill>
                  <a:srgbClr val="9FE0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"strict-origin-when-cross-origin"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8850" y="3383285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800" y="3581400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allowfullscreen</a:t>
            </a: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850" y="3581400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800" y="3779527"/>
            <a:ext cx="6080760" cy="198120"/>
          </a:xfrm>
          <a:prstGeom prst="rect">
            <a:avLst/>
          </a:prstGeom>
          <a:solidFill>
            <a:srgbClr val="0B0E13"/>
          </a:solidFill>
          <a:ln/>
        </p:spPr>
        <p:txBody>
          <a:bodyPr wrap="square" lIns="13716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7A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&lt;/iframe&gt;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8850" y="3779527"/>
            <a:ext cx="0" cy="198120"/>
          </a:xfrm>
          <a:prstGeom prst="line">
            <a:avLst/>
          </a:prstGeom>
          <a:noFill/>
          <a:ln w="38100">
            <a:solidFill>
              <a:srgbClr val="0B0E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25360" y="1844042"/>
            <a:ext cx="4053840" cy="991394"/>
          </a:xfrm>
          <a:prstGeom prst="roundRect">
            <a:avLst>
              <a:gd name="adj" fmla="val 10248"/>
            </a:avLst>
          </a:prstGeom>
          <a:solidFill>
            <a:srgbClr val="1E24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25360" y="1844042"/>
            <a:ext cx="4053840" cy="991394"/>
          </a:xfrm>
          <a:custGeom>
            <a:avLst/>
            <a:gdLst/>
            <a:ahLst/>
            <a:cxnLst/>
            <a:rect l="l" t="t" r="r" b="b"/>
            <a:pathLst>
              <a:path w="4053840" h="991394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03160" y="2057400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Share → Embed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03160" y="2349500"/>
            <a:ext cx="38091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hand-write the iframe.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25360" y="2937036"/>
            <a:ext cx="4053840" cy="991473"/>
          </a:xfrm>
          <a:prstGeom prst="roundRect">
            <a:avLst>
              <a:gd name="adj" fmla="val 10247"/>
            </a:avLst>
          </a:prstGeom>
          <a:solidFill>
            <a:srgbClr val="1E242E"/>
          </a:solidFill>
          <a:ln/>
        </p:spPr>
      </p:sp>
      <p:sp>
        <p:nvSpPr>
          <p:cNvPr id="28" name="Shape 26"/>
          <p:cNvSpPr/>
          <p:nvPr/>
        </p:nvSpPr>
        <p:spPr>
          <a:xfrm>
            <a:off x="7325360" y="2937036"/>
            <a:ext cx="4053840" cy="991473"/>
          </a:xfrm>
          <a:custGeom>
            <a:avLst/>
            <a:gdLst/>
            <a:ahLst/>
            <a:cxnLst/>
            <a:rect l="l" t="t" r="r" b="b"/>
            <a:pathLst>
              <a:path w="4053840" h="99147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29" name="Text 27"/>
          <p:cNvSpPr/>
          <p:nvPr/>
        </p:nvSpPr>
        <p:spPr>
          <a:xfrm>
            <a:off x="7503160" y="3150394"/>
            <a:ext cx="3809187" cy="203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186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1186" dirty="0"/>
          </a:p>
        </p:txBody>
      </p:sp>
      <p:sp>
        <p:nvSpPr>
          <p:cNvPr id="30" name="Text 28"/>
          <p:cNvSpPr/>
          <p:nvPr/>
        </p:nvSpPr>
        <p:spPr>
          <a:xfrm>
            <a:off x="7503160" y="3391533"/>
            <a:ext cx="3809187" cy="384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3"/>
              </a:lnSpc>
              <a:buNone/>
            </a:pPr>
            <a:r>
              <a:rPr lang="en-US" sz="1024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Screen-reader label. Also check allowfullscreen and referrerpolicy.</a:t>
            </a:r>
            <a:endParaRPr lang="en-US" sz="1024" dirty="0"/>
          </a:p>
        </p:txBody>
      </p:sp>
      <p:sp>
        <p:nvSpPr>
          <p:cNvPr id="31" name="Shape 29"/>
          <p:cNvSpPr/>
          <p:nvPr/>
        </p:nvSpPr>
        <p:spPr>
          <a:xfrm>
            <a:off x="7325360" y="4030104"/>
            <a:ext cx="4053840" cy="991473"/>
          </a:xfrm>
          <a:prstGeom prst="roundRect">
            <a:avLst>
              <a:gd name="adj" fmla="val 10247"/>
            </a:avLst>
          </a:prstGeom>
          <a:solidFill>
            <a:srgbClr val="1E242E"/>
          </a:solidFill>
          <a:ln/>
        </p:spPr>
      </p:sp>
      <p:sp>
        <p:nvSpPr>
          <p:cNvPr id="32" name="Shape 30"/>
          <p:cNvSpPr/>
          <p:nvPr/>
        </p:nvSpPr>
        <p:spPr>
          <a:xfrm>
            <a:off x="7325360" y="4030104"/>
            <a:ext cx="4053840" cy="991473"/>
          </a:xfrm>
          <a:custGeom>
            <a:avLst/>
            <a:gdLst/>
            <a:ahLst/>
            <a:cxnLst/>
            <a:rect l="l" t="t" r="r" b="b"/>
            <a:pathLst>
              <a:path w="4053840" h="991473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952240" y="0"/>
                </a:lnTo>
                <a:arcTo hR="101600" wR="101600" stAng="16200000" swAng="5400000"/>
                <a:lnTo>
                  <a:pt x="405384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7503160" y="4243474"/>
            <a:ext cx="3809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503160" y="4535574"/>
            <a:ext cx="380918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embeds cost performance.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2800" y="521208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42"/>
            <a:ext cx="21910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23/26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GOOD TO KNOW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material, not part of the core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3403600" cy="1536700"/>
          </a:xfrm>
          <a:prstGeom prst="roundRect">
            <a:avLst>
              <a:gd name="adj" fmla="val 6612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2"/>
            <a:ext cx="3403600" cy="1536700"/>
          </a:xfrm>
          <a:custGeom>
            <a:avLst/>
            <a:gdLst/>
            <a:ahLst/>
            <a:cxnLst/>
            <a:rect l="l" t="t" r="r" b="b"/>
            <a:pathLst>
              <a:path w="3403600" h="15367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&amp; UX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313944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validation is free. Style with :user-invalid, not :invalid. Write specific error messages. Link help text with aria-describedby.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4200" y="1844042"/>
            <a:ext cx="3403600" cy="1536700"/>
          </a:xfrm>
          <a:prstGeom prst="roundRect">
            <a:avLst>
              <a:gd name="adj" fmla="val 6612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4394200" y="1844042"/>
            <a:ext cx="3403600" cy="1536700"/>
          </a:xfrm>
          <a:custGeom>
            <a:avLst/>
            <a:gdLst/>
            <a:ahLst/>
            <a:cxnLst/>
            <a:rect l="l" t="t" r="r" b="b"/>
            <a:pathLst>
              <a:path w="3403600" h="15367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 (iframe)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49500"/>
            <a:ext cx="31394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Maps, videos, widgets. Always give a title. sandbox, allow, referrerpolicy, loading="lazy". Avoid embed and object.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75600" y="1844042"/>
            <a:ext cx="3403600" cy="1536700"/>
          </a:xfrm>
          <a:prstGeom prst="roundRect">
            <a:avLst>
              <a:gd name="adj" fmla="val 6612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1844042"/>
            <a:ext cx="3403600" cy="1536700"/>
          </a:xfrm>
          <a:custGeom>
            <a:avLst/>
            <a:gdLst/>
            <a:ahLst/>
            <a:cxnLst/>
            <a:rect l="l" t="t" r="r" b="b"/>
            <a:pathLst>
              <a:path w="3403600" h="15367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057400"/>
            <a:ext cx="31394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53400" y="2349500"/>
            <a:ext cx="313944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W3C validator: zero errors. Read HTML out loud. One h1, a meta description, meaningful link text. Check keyboard focus order.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21933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24/26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TOPICS TO 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Named, not taught: where to look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5194300" cy="1323340"/>
          </a:xfrm>
          <a:prstGeom prst="roundRect">
            <a:avLst>
              <a:gd name="adj" fmla="val 7678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2"/>
            <a:ext cx="5194300" cy="1323340"/>
          </a:xfrm>
          <a:custGeom>
            <a:avLst/>
            <a:gdLst/>
            <a:ahLst/>
            <a:cxnLst/>
            <a:rect l="l" t="t" r="r" b="b"/>
            <a:pathLst>
              <a:path w="5194300" h="1323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ARIA essentials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498386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Roles, implicit landmark roles, live regions (aria-live, role="alert"), aria-labelledby / describedby, aria-expanded, aria-current, aria-hidden, aria-modal.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4900" y="1844042"/>
            <a:ext cx="5194300" cy="1323340"/>
          </a:xfrm>
          <a:prstGeom prst="roundRect">
            <a:avLst>
              <a:gd name="adj" fmla="val 7678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6184900" y="1844042"/>
            <a:ext cx="5194300" cy="1323340"/>
          </a:xfrm>
          <a:custGeom>
            <a:avLst/>
            <a:gdLst/>
            <a:ahLst/>
            <a:cxnLst/>
            <a:rect l="l" t="t" r="r" b="b"/>
            <a:pathLst>
              <a:path w="5194300" h="1323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92700" y="0"/>
                </a:lnTo>
                <a:arcTo hR="101600" wR="101600" stAng="16200000" swAng="5400000"/>
                <a:lnTo>
                  <a:pt x="51943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0" name="Text 8"/>
          <p:cNvSpPr/>
          <p:nvPr/>
        </p:nvSpPr>
        <p:spPr>
          <a:xfrm>
            <a:off x="6362700" y="20574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extensions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62700" y="2349500"/>
            <a:ext cx="498386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dialog and showModal(), popover with popovertarget, form-associated custom elements, advanced SEO (canonical, robots.txt, sitemaps, hreflang), ARIA Authoring Practices.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357885"/>
            <a:ext cx="10566400" cy="2484120"/>
          </a:xfrm>
          <a:prstGeom prst="roundRect">
            <a:avLst>
              <a:gd name="adj" fmla="val 4090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357885"/>
            <a:ext cx="10566400" cy="2484120"/>
          </a:xfrm>
          <a:custGeom>
            <a:avLst/>
            <a:gdLst/>
            <a:ahLst/>
            <a:cxnLst/>
            <a:rect l="l" t="t" r="r" b="b"/>
            <a:pathLst>
              <a:path w="10566400" h="24841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3571242"/>
            <a:ext cx="105171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rule of ARIA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0600" y="3863342"/>
            <a:ext cx="105171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use ARIA when a semantic element exists. No ARIA is better than bad ARIA.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21865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25/26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344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4042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44042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57400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49500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is the submitted key; id links the label.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8850" y="1844042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9" name="Shape 7"/>
          <p:cNvSpPr/>
          <p:nvPr/>
        </p:nvSpPr>
        <p:spPr>
          <a:xfrm>
            <a:off x="3498850" y="1844042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10" name="Text 8"/>
          <p:cNvSpPr/>
          <p:nvPr/>
        </p:nvSpPr>
        <p:spPr>
          <a:xfrm>
            <a:off x="3676650" y="2057400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6650" y="2349500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control to data; radios share a name.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4900" y="1844042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184900" y="1844042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14" name="Text 12"/>
          <p:cNvSpPr/>
          <p:nvPr/>
        </p:nvSpPr>
        <p:spPr>
          <a:xfrm>
            <a:off x="6362700" y="2057400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 vs readonly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2700" y="2349500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 is not submitted; readonly 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70950" y="1844042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870950" y="1844042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B86B"/>
          </a:solidFill>
          <a:ln/>
        </p:spPr>
      </p:sp>
      <p:sp>
        <p:nvSpPr>
          <p:cNvPr id="18" name="Text 16"/>
          <p:cNvSpPr/>
          <p:nvPr/>
        </p:nvSpPr>
        <p:spPr>
          <a:xfrm>
            <a:off x="9048750" y="2057400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48750" y="2349500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meaning to all audiences; main once.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144527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800" y="3144527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C792EA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3357885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0600" y="3649985"/>
            <a:ext cx="2330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only: caption, th, scope.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98850" y="3144527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498850" y="3144527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F8A3D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3357885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76650" y="3649985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controls, source, track, fallback.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84900" y="3144527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29" name="Shape 27"/>
          <p:cNvSpPr/>
          <p:nvPr/>
        </p:nvSpPr>
        <p:spPr>
          <a:xfrm>
            <a:off x="6184900" y="3144527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7AB8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62700" y="3357885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to know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62700" y="3649985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Validation, iframe, validator + SEO.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70950" y="3144527"/>
            <a:ext cx="2508250" cy="1109980"/>
          </a:xfrm>
          <a:prstGeom prst="roundRect">
            <a:avLst>
              <a:gd name="adj" fmla="val 9153"/>
            </a:avLst>
          </a:prstGeom>
          <a:solidFill>
            <a:srgbClr val="1E242E"/>
          </a:solidFill>
          <a:ln/>
        </p:spPr>
      </p:sp>
      <p:sp>
        <p:nvSpPr>
          <p:cNvPr id="33" name="Shape 31"/>
          <p:cNvSpPr/>
          <p:nvPr/>
        </p:nvSpPr>
        <p:spPr>
          <a:xfrm>
            <a:off x="8870950" y="3144527"/>
            <a:ext cx="2508250" cy="1109980"/>
          </a:xfrm>
          <a:custGeom>
            <a:avLst/>
            <a:gdLst/>
            <a:ahLst/>
            <a:cxnLst/>
            <a:rect l="l" t="t" r="r" b="b"/>
            <a:pathLst>
              <a:path w="2508250" h="110998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06650" y="0"/>
                </a:lnTo>
                <a:arcTo hR="101600" wR="101600" stAng="16200000" swAng="5400000"/>
                <a:lnTo>
                  <a:pt x="250825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9FE0A0"/>
          </a:solidFill>
          <a:ln/>
        </p:spPr>
      </p:sp>
      <p:sp>
        <p:nvSpPr>
          <p:cNvPr id="34" name="Text 32"/>
          <p:cNvSpPr/>
          <p:nvPr/>
        </p:nvSpPr>
        <p:spPr>
          <a:xfrm>
            <a:off x="9048750" y="3357885"/>
            <a:ext cx="22172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search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48750" y="3649985"/>
            <a:ext cx="22172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ARIA essentials and extensions.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6238242"/>
            <a:ext cx="21915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· Session 2 · 26/26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Session 2 — Forms, Semantics, Tables &amp; Media</dc:title>
  <dc:subject/>
  <dc:creator/>
  <cp:lastModifiedBy/>
  <cp:revision>1</cp:revision>
  <dcterms:created xsi:type="dcterms:W3CDTF">2026-10-15T02:54:39Z</dcterms:created>
  <dcterms:modified xsi:type="dcterms:W3CDTF">2026-10-15T02:54:39Z</dcterms:modified>
</cp:coreProperties>
</file>