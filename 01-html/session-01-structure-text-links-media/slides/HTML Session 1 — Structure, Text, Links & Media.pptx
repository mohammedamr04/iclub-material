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session as meaning-first, styling-second.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beginner bug: reaching for a div because "I need it big and bold" instead of an h1. Analogy: HTML is the label on a shipping box, not the paint colour. Only explain the flow diagram this far; no script blocking or critical rendering path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typo does not error, it just gives you something else. That is exactly why the W3C validator is part of the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skeleton slowly. DOCTYPE is not a tag, it is a mode switch. lang and dir are the two attributes people skip and later regret.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 holds information about the page, not content. Title, meta and link are the three tags to know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example slide added to cover head tags in more depth. Every meta tag is a name/content pair except charset.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if a student reaches for it, ask what problem it solves; the answer is almost always "fix the folder structure instead".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Tag-vs-element: the tag is the label template, the element is the whole box. If a student writes img closing tag the validator complains.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heading outline is the easiest accessibility win. Open the accessibility tree in DevTools: headings become a navigable list. Also covered: pre/code, abbr, cite, q, dfn.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target blank security. Modern browsers mostly protect you, but write it anyway: it is cheap and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link that goes nowhere is worse than no link. The fake-link anti-pattern is everywhere in student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tree on the board and trace ../ out loud, one folder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failure modes: missing alt and useless alt. Decorative images get alt="" — an empty string, not a missing attribute. width and height let the browser reserve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picture when it beats srcset alone: art direction or format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a nav is really a list of links. Nested lists are a first taste of the tree idea from topic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six checkpoints.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34442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8342"/>
            <a:ext cx="10566400" cy="4086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34442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8342"/>
            <a:ext cx="10566400" cy="4086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407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&lt;/&gt; HTML · SESSION 1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79370"/>
            <a:ext cx="108833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Structure, Text, Links &amp; Media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501390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write a complete, valid, accessible page from memory and navigate it correctly.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9150" y="4376420"/>
            <a:ext cx="1084580" cy="391160"/>
          </a:xfrm>
          <a:prstGeom prst="roundRect">
            <a:avLst>
              <a:gd name="adj" fmla="val 50000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43430" y="4376420"/>
            <a:ext cx="696833" cy="391160"/>
          </a:xfrm>
          <a:prstGeom prst="roundRect">
            <a:avLst>
              <a:gd name="adj" fmla="val 50000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79963" y="4376420"/>
            <a:ext cx="771922" cy="391160"/>
          </a:xfrm>
          <a:prstGeom prst="roundRect">
            <a:avLst>
              <a:gd name="adj" fmla="val 50000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91585" y="4376420"/>
            <a:ext cx="929561" cy="391160"/>
          </a:xfrm>
          <a:prstGeom prst="roundRect">
            <a:avLst>
              <a:gd name="adj" fmla="val 50000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60846" y="4376420"/>
            <a:ext cx="723265" cy="391160"/>
          </a:xfrm>
          <a:prstGeom prst="roundRect">
            <a:avLst>
              <a:gd name="adj" fmla="val 50000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0"/>
            <a:ext cx="48877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Development for absolute beginners · ~5 hours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HOW HTML WORKS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says what a thing is. CSS says how it looks.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0390"/>
            <a:ext cx="1439466" cy="736600"/>
          </a:xfrm>
          <a:prstGeom prst="roundRect">
            <a:avLst>
              <a:gd name="adj" fmla="val 9483"/>
            </a:avLst>
          </a:prstGeom>
          <a:solidFill>
            <a:srgbClr val="1E242E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7260" y="1968500"/>
            <a:ext cx="1254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.html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7260" y="2255520"/>
            <a:ext cx="12540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41166" y="2058670"/>
            <a:ext cx="269081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8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41997" y="1850390"/>
            <a:ext cx="1439466" cy="736600"/>
          </a:xfrm>
          <a:prstGeom prst="roundRect">
            <a:avLst>
              <a:gd name="adj" fmla="val 9483"/>
            </a:avLst>
          </a:prstGeom>
          <a:solidFill>
            <a:srgbClr val="1E242E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0107" y="1968500"/>
            <a:ext cx="1254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60107" y="2255520"/>
            <a:ext cx="12540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64013" y="2058670"/>
            <a:ext cx="269081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8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64844" y="1850390"/>
            <a:ext cx="1439466" cy="736600"/>
          </a:xfrm>
          <a:prstGeom prst="roundRect">
            <a:avLst>
              <a:gd name="adj" fmla="val 9483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2954" y="1968500"/>
            <a:ext cx="1254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DOM tree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82954" y="2255520"/>
            <a:ext cx="12540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6859" y="2058670"/>
            <a:ext cx="269081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8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87691" y="1850390"/>
            <a:ext cx="1439466" cy="736600"/>
          </a:xfrm>
          <a:prstGeom prst="roundRect">
            <a:avLst>
              <a:gd name="adj" fmla="val 9483"/>
            </a:avLst>
          </a:prstGeom>
          <a:solidFill>
            <a:srgbClr val="1E242E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5801" y="1968500"/>
            <a:ext cx="1254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render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5801" y="2255520"/>
            <a:ext cx="12540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09706" y="2058670"/>
            <a:ext cx="269081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8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10537" y="1850390"/>
            <a:ext cx="1439466" cy="736600"/>
          </a:xfrm>
          <a:prstGeom prst="roundRect">
            <a:avLst>
              <a:gd name="adj" fmla="val 9483"/>
            </a:avLst>
          </a:prstGeom>
          <a:solidFill>
            <a:srgbClr val="1E242E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8647" y="1968500"/>
            <a:ext cx="1254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layout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8647" y="2255520"/>
            <a:ext cx="12540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32553" y="2058670"/>
            <a:ext cx="269081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8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33384" y="1850390"/>
            <a:ext cx="1439466" cy="736600"/>
          </a:xfrm>
          <a:prstGeom prst="roundRect">
            <a:avLst>
              <a:gd name="adj" fmla="val 9483"/>
            </a:avLst>
          </a:prstGeom>
          <a:solidFill>
            <a:srgbClr val="1E242E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1494" y="1968500"/>
            <a:ext cx="1254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paint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1494" y="2255520"/>
            <a:ext cx="12540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00" y="2783840"/>
            <a:ext cx="51943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800" y="2783840"/>
            <a:ext cx="5194300" cy="1145540"/>
          </a:xfrm>
          <a:custGeom>
            <a:avLst/>
            <a:gdLst/>
            <a:ahLst/>
            <a:cxnLst/>
            <a:rect l="l" t="t" r="r" b="b"/>
            <a:pathLst>
              <a:path w="51943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29972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&lt;h1&gt;</a:t>
            </a: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what is it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90600" y="3289300"/>
            <a:ext cx="49838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Means “this is the main heading” — not “this is 32px bold”.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84900" y="2783840"/>
            <a:ext cx="51943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32" name="Shape 30"/>
          <p:cNvSpPr/>
          <p:nvPr/>
        </p:nvSpPr>
        <p:spPr>
          <a:xfrm>
            <a:off x="6184900" y="2783840"/>
            <a:ext cx="5194300" cy="1145540"/>
          </a:xfrm>
          <a:custGeom>
            <a:avLst/>
            <a:gdLst/>
            <a:ahLst/>
            <a:cxnLst/>
            <a:rect l="l" t="t" r="r" b="b"/>
            <a:pathLst>
              <a:path w="51943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3" name="Text 31"/>
          <p:cNvSpPr/>
          <p:nvPr/>
        </p:nvSpPr>
        <p:spPr>
          <a:xfrm>
            <a:off x="6362700" y="29972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= how does it look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62700" y="3289300"/>
            <a:ext cx="498386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this backwards and you end up styling paragraphs because you could not find a heading element.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41"/>
            <a:ext cx="2003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2/16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HOW HTML WORKS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is fault-tolerant: parse errors are recoverable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44041"/>
            <a:ext cx="624184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write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227580"/>
            <a:ext cx="6060043" cy="2895600"/>
          </a:xfrm>
          <a:prstGeom prst="roundRect">
            <a:avLst>
              <a:gd name="adj" fmla="val 3509"/>
            </a:avLst>
          </a:prstGeom>
          <a:solidFill>
            <a:srgbClr val="0B0E13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379980"/>
            <a:ext cx="5806043" cy="4572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The browser fixes this and gives you a page you did not design --&gt;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8850" y="2379980"/>
            <a:ext cx="0" cy="4572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800" y="2837180"/>
            <a:ext cx="580604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&lt;h1&gt;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My 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8850" y="2837180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9800" y="3065780"/>
            <a:ext cx="580604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Welcome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8850" y="3065780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50643" y="1844041"/>
            <a:ext cx="4328557" cy="991394"/>
          </a:xfrm>
          <a:prstGeom prst="roundRect">
            <a:avLst>
              <a:gd name="adj" fmla="val 10248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050643" y="1844041"/>
            <a:ext cx="4328557" cy="991394"/>
          </a:xfrm>
          <a:custGeom>
            <a:avLst/>
            <a:gdLst/>
            <a:ahLst/>
            <a:cxnLst/>
            <a:rect l="l" t="t" r="r" b="b"/>
            <a:pathLst>
              <a:path w="4328557" h="991394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226957" y="0"/>
                </a:lnTo>
                <a:arcTo hR="101600" wR="101600" stAng="16200000" swAng="5400000"/>
                <a:lnTo>
                  <a:pt x="432855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7228443" y="2057400"/>
            <a:ext cx="40921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Blessing while learning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28443" y="2349500"/>
            <a:ext cx="40921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typo does not error.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50643" y="2987835"/>
            <a:ext cx="4328557" cy="991473"/>
          </a:xfrm>
          <a:prstGeom prst="roundRect">
            <a:avLst>
              <a:gd name="adj" fmla="val 10247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050643" y="2987835"/>
            <a:ext cx="4328557" cy="991473"/>
          </a:xfrm>
          <a:custGeom>
            <a:avLst/>
            <a:gdLst/>
            <a:ahLst/>
            <a:cxnLst/>
            <a:rect l="l" t="t" r="r" b="b"/>
            <a:pathLst>
              <a:path w="4328557" h="99147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226957" y="0"/>
                </a:lnTo>
                <a:arcTo hR="101600" wR="101600" stAng="16200000" swAng="5400000"/>
                <a:lnTo>
                  <a:pt x="432855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18" name="Text 16"/>
          <p:cNvSpPr/>
          <p:nvPr/>
        </p:nvSpPr>
        <p:spPr>
          <a:xfrm>
            <a:off x="7228443" y="3201194"/>
            <a:ext cx="40921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Curse when shipping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8443" y="3493294"/>
            <a:ext cx="40921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just gives you something else.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50643" y="4131707"/>
            <a:ext cx="4328557" cy="991473"/>
          </a:xfrm>
          <a:prstGeom prst="roundRect">
            <a:avLst>
              <a:gd name="adj" fmla="val 10247"/>
            </a:avLst>
          </a:prstGeom>
          <a:solidFill>
            <a:srgbClr val="1E24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050643" y="4131707"/>
            <a:ext cx="4328557" cy="991473"/>
          </a:xfrm>
          <a:custGeom>
            <a:avLst/>
            <a:gdLst/>
            <a:ahLst/>
            <a:cxnLst/>
            <a:rect l="l" t="t" r="r" b="b"/>
            <a:pathLst>
              <a:path w="4328557" h="99147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226957" y="0"/>
                </a:lnTo>
                <a:arcTo hR="101600" wR="101600" stAng="16200000" swAng="5400000"/>
                <a:lnTo>
                  <a:pt x="432855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28443" y="4345067"/>
            <a:ext cx="4092146" cy="203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we validate</a:t>
            </a:r>
            <a:endParaRPr lang="en-US" sz="1186" dirty="0"/>
          </a:p>
        </p:txBody>
      </p:sp>
      <p:sp>
        <p:nvSpPr>
          <p:cNvPr id="23" name="Text 21"/>
          <p:cNvSpPr/>
          <p:nvPr/>
        </p:nvSpPr>
        <p:spPr>
          <a:xfrm>
            <a:off x="7228443" y="4586208"/>
            <a:ext cx="4092146" cy="384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3"/>
              </a:lnSpc>
              <a:buNone/>
            </a:pPr>
            <a:r>
              <a:rPr lang="en-US" sz="1024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elements are not recoverable — the W3C validator is part of the assessment.</a:t>
            </a:r>
            <a:endParaRPr lang="en-US" sz="1024" dirty="0"/>
          </a:p>
        </p:txBody>
      </p:sp>
      <p:sp>
        <p:nvSpPr>
          <p:cNvPr id="24" name="Text 22"/>
          <p:cNvSpPr/>
          <p:nvPr/>
        </p:nvSpPr>
        <p:spPr>
          <a:xfrm>
            <a:off x="812800" y="6238241"/>
            <a:ext cx="2005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3/16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DOCUMENT STRUCTURE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page needs doctype, html, head and body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1"/>
            <a:ext cx="6334760" cy="3962400"/>
          </a:xfrm>
          <a:prstGeom prst="roundRect">
            <a:avLst>
              <a:gd name="adj" fmla="val 2564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1"/>
            <a:ext cx="6080760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&lt;!DOCTYPE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html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1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225041"/>
            <a:ext cx="6080760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&lt;html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lang=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"en"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dir=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"ltr"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225041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453641"/>
            <a:ext cx="6080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&lt;head&gt;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453641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682241"/>
            <a:ext cx="6080760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charset=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"UTF-8"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682241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910841"/>
            <a:ext cx="6080760" cy="4572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"viewport"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content=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"width=device-width, initial-scale=1.0"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910841"/>
            <a:ext cx="0" cy="4572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368041"/>
            <a:ext cx="6080760" cy="4572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"description"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content=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 short summary of the page."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368041"/>
            <a:ext cx="0" cy="4572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825241"/>
            <a:ext cx="6080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&lt;title&gt;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My Page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&lt;/title&gt;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825241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4053841"/>
            <a:ext cx="6080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&lt;link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rel=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"preconnect"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"https://fonts.example.com"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4053841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4282441"/>
            <a:ext cx="6080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&lt;/head&gt;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4282441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4511041"/>
            <a:ext cx="6080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&lt;body&gt;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4511041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4739641"/>
            <a:ext cx="6080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&lt;h1&gt;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&lt;/h1&gt;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4739641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968241"/>
            <a:ext cx="6080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&lt;noscript&gt;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This site needs JavaScript enabled.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&lt;/noscript&gt;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968241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00" y="5196841"/>
            <a:ext cx="6080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&lt;/body&gt;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8850" y="5196841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800" y="5425441"/>
            <a:ext cx="6080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&lt;/html&gt;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850" y="5425441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25360" y="1844041"/>
            <a:ext cx="4053840" cy="1253014"/>
          </a:xfrm>
          <a:prstGeom prst="roundRect">
            <a:avLst>
              <a:gd name="adj" fmla="val 8108"/>
            </a:avLst>
          </a:prstGeom>
          <a:solidFill>
            <a:srgbClr val="1E24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325360" y="1844041"/>
            <a:ext cx="4053840" cy="1253014"/>
          </a:xfrm>
          <a:custGeom>
            <a:avLst/>
            <a:gdLst/>
            <a:ahLst/>
            <a:cxnLst/>
            <a:rect l="l" t="t" r="r" b="b"/>
            <a:pathLst>
              <a:path w="4053840" h="1253014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35" name="Text 33"/>
          <p:cNvSpPr/>
          <p:nvPr/>
        </p:nvSpPr>
        <p:spPr>
          <a:xfrm>
            <a:off x="7503160" y="2057400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&lt;!DOCTYPE html&gt;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503160" y="2349500"/>
            <a:ext cx="38091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be the first line. A mode switch: forget it and you get quirks mode.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25360" y="3198654"/>
            <a:ext cx="4053840" cy="1253093"/>
          </a:xfrm>
          <a:prstGeom prst="roundRect">
            <a:avLst>
              <a:gd name="adj" fmla="val 8108"/>
            </a:avLst>
          </a:prstGeom>
          <a:solidFill>
            <a:srgbClr val="1E242E"/>
          </a:solidFill>
          <a:ln/>
        </p:spPr>
      </p:sp>
      <p:sp>
        <p:nvSpPr>
          <p:cNvPr id="38" name="Shape 36"/>
          <p:cNvSpPr/>
          <p:nvPr/>
        </p:nvSpPr>
        <p:spPr>
          <a:xfrm>
            <a:off x="7325360" y="3198654"/>
            <a:ext cx="4053840" cy="1253093"/>
          </a:xfrm>
          <a:custGeom>
            <a:avLst/>
            <a:gdLst/>
            <a:ahLst/>
            <a:cxnLst/>
            <a:rect l="l" t="t" r="r" b="b"/>
            <a:pathLst>
              <a:path w="4053840" h="125309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9" name="Text 37"/>
          <p:cNvSpPr/>
          <p:nvPr/>
        </p:nvSpPr>
        <p:spPr>
          <a:xfrm>
            <a:off x="7503160" y="3412013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</a:t>
            </a: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503160" y="3704113"/>
            <a:ext cx="38091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Screen-reader pronunciation, hyphenation; ltr / rtl layout (Arabic).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325360" y="4553347"/>
            <a:ext cx="4053840" cy="1253093"/>
          </a:xfrm>
          <a:prstGeom prst="roundRect">
            <a:avLst>
              <a:gd name="adj" fmla="val 8108"/>
            </a:avLst>
          </a:prstGeom>
          <a:solidFill>
            <a:srgbClr val="1E242E"/>
          </a:solidFill>
          <a:ln/>
        </p:spPr>
      </p:sp>
      <p:sp>
        <p:nvSpPr>
          <p:cNvPr id="42" name="Shape 40"/>
          <p:cNvSpPr/>
          <p:nvPr/>
        </p:nvSpPr>
        <p:spPr>
          <a:xfrm>
            <a:off x="7325360" y="4553347"/>
            <a:ext cx="4053840" cy="1253093"/>
          </a:xfrm>
          <a:custGeom>
            <a:avLst/>
            <a:gdLst/>
            <a:ahLst/>
            <a:cxnLst/>
            <a:rect l="l" t="t" r="r" b="b"/>
            <a:pathLst>
              <a:path w="4053840" h="125309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43" name="Text 41"/>
          <p:cNvSpPr/>
          <p:nvPr/>
        </p:nvSpPr>
        <p:spPr>
          <a:xfrm>
            <a:off x="7503160" y="4766707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charset</a:t>
            </a: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viewport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503160" y="5058807"/>
            <a:ext cx="38091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UTF-8 non-Latin text breaks; viewport is required for mobile.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2800" y="6238239"/>
            <a:ext cx="20103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4/16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DOCUMENT STRUCTURE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head: what each tag is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39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39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&lt;title&gt;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page name. Shown in the browser tab, and used by screen readers and search results.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44039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4394200" y="1844039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&lt;meta&gt;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49500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about the page: charset, viewport, description, author, Open Graph.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44039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1844039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&lt;link&gt;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3400" y="2349500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outside resources. The rel attribute says how: preconnect, preload.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411221"/>
            <a:ext cx="51943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" y="3411221"/>
            <a:ext cx="5194300" cy="1145540"/>
          </a:xfrm>
          <a:custGeom>
            <a:avLst/>
            <a:gdLst/>
            <a:ahLst/>
            <a:cxnLst/>
            <a:rect l="l" t="t" r="r" b="b"/>
            <a:pathLst>
              <a:path w="51943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3624582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visible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0600" y="3916682"/>
            <a:ext cx="498386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in head is painted. It tells the browser how to treat the page; body is what people see.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4900" y="3411221"/>
            <a:ext cx="51943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4900" y="3411221"/>
            <a:ext cx="5194300" cy="1145540"/>
          </a:xfrm>
          <a:custGeom>
            <a:avLst/>
            <a:gdLst/>
            <a:ahLst/>
            <a:cxnLst/>
            <a:rect l="l" t="t" r="r" b="b"/>
            <a:pathLst>
              <a:path w="51943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C792EA"/>
          </a:solidFill>
          <a:ln/>
        </p:spPr>
      </p:sp>
      <p:sp>
        <p:nvSpPr>
          <p:cNvPr id="22" name="Text 20"/>
          <p:cNvSpPr/>
          <p:nvPr/>
        </p:nvSpPr>
        <p:spPr>
          <a:xfrm>
            <a:off x="6362700" y="3624582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Void elements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62700" y="3916682"/>
            <a:ext cx="50165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have no closing tag, so write them self-closed.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39"/>
            <a:ext cx="2000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5/16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DOCUMENT STRUCTURE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tags: name and content pairs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39"/>
            <a:ext cx="10566400" cy="2484120"/>
          </a:xfrm>
          <a:prstGeom prst="roundRect">
            <a:avLst>
              <a:gd name="adj" fmla="val 4090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39"/>
            <a:ext cx="10312400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charset=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"UTF-8"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39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225039"/>
            <a:ext cx="10312400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"viewport"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content=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"width=device-width, initial-scale=1.0"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225039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453639"/>
            <a:ext cx="10312400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"description"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content=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 short summary of the page."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453639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682239"/>
            <a:ext cx="103124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"author"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content=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"Your Name"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682239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910839"/>
            <a:ext cx="10312400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property=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"og:title"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content=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"My Page"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910839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39439"/>
            <a:ext cx="103124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property=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"og:description"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content=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 short summary of the page."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39439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68039"/>
            <a:ext cx="103124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&lt;link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rel=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"preconnect"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"https://fonts.example.com"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68039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800" y="4518661"/>
            <a:ext cx="2508250" cy="1323340"/>
          </a:xfrm>
          <a:prstGeom prst="roundRect">
            <a:avLst>
              <a:gd name="adj" fmla="val 7678"/>
            </a:avLst>
          </a:prstGeom>
          <a:solidFill>
            <a:srgbClr val="1E24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800" y="4518661"/>
            <a:ext cx="2508250" cy="1323340"/>
          </a:xfrm>
          <a:custGeom>
            <a:avLst/>
            <a:gdLst/>
            <a:ahLst/>
            <a:cxnLst/>
            <a:rect l="l" t="t" r="r" b="b"/>
            <a:pathLst>
              <a:path w="2508250" h="1323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4732021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charset + viewport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0600" y="5024121"/>
            <a:ext cx="221723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UTF-8 keeps non-Latin text correct; viewport makes the page work on mobile.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98850" y="4518661"/>
            <a:ext cx="2508250" cy="1323340"/>
          </a:xfrm>
          <a:prstGeom prst="roundRect">
            <a:avLst>
              <a:gd name="adj" fmla="val 7678"/>
            </a:avLst>
          </a:prstGeom>
          <a:solidFill>
            <a:srgbClr val="1E242E"/>
          </a:solidFill>
          <a:ln/>
        </p:spPr>
      </p:sp>
      <p:sp>
        <p:nvSpPr>
          <p:cNvPr id="24" name="Shape 22"/>
          <p:cNvSpPr/>
          <p:nvPr/>
        </p:nvSpPr>
        <p:spPr>
          <a:xfrm>
            <a:off x="3498850" y="4518661"/>
            <a:ext cx="2508250" cy="1323340"/>
          </a:xfrm>
          <a:custGeom>
            <a:avLst/>
            <a:gdLst/>
            <a:ahLst/>
            <a:cxnLst/>
            <a:rect l="l" t="t" r="r" b="b"/>
            <a:pathLst>
              <a:path w="2508250" h="1323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4732021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+ author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76650" y="5024121"/>
            <a:ext cx="221723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says what the information is, content holds the value.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84900" y="4518661"/>
            <a:ext cx="2508250" cy="1323340"/>
          </a:xfrm>
          <a:prstGeom prst="roundRect">
            <a:avLst>
              <a:gd name="adj" fmla="val 7678"/>
            </a:avLst>
          </a:prstGeom>
          <a:solidFill>
            <a:srgbClr val="1E24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184900" y="4518661"/>
            <a:ext cx="2508250" cy="1323340"/>
          </a:xfrm>
          <a:custGeom>
            <a:avLst/>
            <a:gdLst/>
            <a:ahLst/>
            <a:cxnLst/>
            <a:rect l="l" t="t" r="r" b="b"/>
            <a:pathLst>
              <a:path w="2508250" h="1323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29" name="Text 27"/>
          <p:cNvSpPr/>
          <p:nvPr/>
        </p:nvSpPr>
        <p:spPr>
          <a:xfrm>
            <a:off x="6362700" y="4732021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Graph (og:)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62700" y="5024121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Basics that describe the page when its link is shared.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70950" y="4518661"/>
            <a:ext cx="2508250" cy="1323340"/>
          </a:xfrm>
          <a:prstGeom prst="roundRect">
            <a:avLst>
              <a:gd name="adj" fmla="val 7678"/>
            </a:avLst>
          </a:prstGeom>
          <a:solidFill>
            <a:srgbClr val="1E242E"/>
          </a:solidFill>
          <a:ln/>
        </p:spPr>
      </p:sp>
      <p:sp>
        <p:nvSpPr>
          <p:cNvPr id="32" name="Shape 30"/>
          <p:cNvSpPr/>
          <p:nvPr/>
        </p:nvSpPr>
        <p:spPr>
          <a:xfrm>
            <a:off x="8870950" y="4518661"/>
            <a:ext cx="2508250" cy="1323340"/>
          </a:xfrm>
          <a:custGeom>
            <a:avLst/>
            <a:gdLst/>
            <a:ahLst/>
            <a:cxnLst/>
            <a:rect l="l" t="t" r="r" b="b"/>
            <a:pathLst>
              <a:path w="2508250" h="1323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33" name="Text 31"/>
          <p:cNvSpPr/>
          <p:nvPr/>
        </p:nvSpPr>
        <p:spPr>
          <a:xfrm>
            <a:off x="9048750" y="4732021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preconnect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48750" y="5024121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Tells the browser early about a site you will need.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39"/>
            <a:ext cx="20056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6/16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DOCUMENT STRUCTURE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in the head, and the tree behind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39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39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basics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Description, author and Open Graph basics.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44039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4394200" y="1844039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resources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&lt;link rel="preload"&gt;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&lt;link rel="preconnect"&gt;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44039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1844039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&lt;base&gt;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34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Almost never the answer. Fix the folder structure instead.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180082"/>
            <a:ext cx="5194300" cy="914400"/>
          </a:xfrm>
          <a:prstGeom prst="roundRect">
            <a:avLst>
              <a:gd name="adj" fmla="val 11111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" y="3180082"/>
            <a:ext cx="5194300" cy="914400"/>
          </a:xfrm>
          <a:custGeom>
            <a:avLst/>
            <a:gdLst/>
            <a:ahLst/>
            <a:cxnLst/>
            <a:rect l="l" t="t" r="r" b="b"/>
            <a:pathLst>
              <a:path w="5194300" h="9144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3393439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&lt;noscript&gt;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0600" y="3685539"/>
            <a:ext cx="49838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graceful degradation looks like when JavaScript is off.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4900" y="3180082"/>
            <a:ext cx="5194300" cy="914400"/>
          </a:xfrm>
          <a:prstGeom prst="roundRect">
            <a:avLst>
              <a:gd name="adj" fmla="val 11111"/>
            </a:avLst>
          </a:prstGeom>
          <a:solidFill>
            <a:srgbClr val="1E24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4900" y="3180082"/>
            <a:ext cx="5194300" cy="914400"/>
          </a:xfrm>
          <a:custGeom>
            <a:avLst/>
            <a:gdLst/>
            <a:ahLst/>
            <a:cxnLst/>
            <a:rect l="l" t="t" r="r" b="b"/>
            <a:pathLst>
              <a:path w="5194300" h="9144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C792EA"/>
          </a:solidFill>
          <a:ln/>
        </p:spPr>
      </p:sp>
      <p:sp>
        <p:nvSpPr>
          <p:cNvPr id="22" name="Text 20"/>
          <p:cNvSpPr/>
          <p:nvPr/>
        </p:nvSpPr>
        <p:spPr>
          <a:xfrm>
            <a:off x="6362700" y="3393439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/ child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62700" y="3685539"/>
            <a:ext cx="49838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elements form a tree: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39"/>
            <a:ext cx="19957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7/16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TAGS, ELEMENTS &amp; ATTRIBUTES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Tag, element, void element, attribute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39"/>
            <a:ext cx="5781992" cy="3594100"/>
          </a:xfrm>
          <a:prstGeom prst="roundRect">
            <a:avLst>
              <a:gd name="adj" fmla="val 2827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39"/>
            <a:ext cx="5527992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void elements: no closing tag --&gt;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39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225039"/>
            <a:ext cx="5527992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&lt;img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"cat.jpg"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alt=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 cat"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225039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453639"/>
            <a:ext cx="5527992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&lt;br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453639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682239"/>
            <a:ext cx="5527992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"text"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682239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9800" y="2910839"/>
            <a:ext cx="5527992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850" y="2910839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39439"/>
            <a:ext cx="5527992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boolean attributes --&gt;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39439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68039"/>
            <a:ext cx="5527992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"checkbox"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checked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68039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596639"/>
            <a:ext cx="5527992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&lt;button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disabled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Can't click me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&lt;/button&gt;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596639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8943" y="1974850"/>
            <a:ext cx="1480503" cy="736600"/>
          </a:xfrm>
          <a:prstGeom prst="roundRect">
            <a:avLst>
              <a:gd name="adj" fmla="val 9483"/>
            </a:avLst>
          </a:prstGeom>
          <a:solidFill>
            <a:srgbClr val="1E242E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7053" y="2092961"/>
            <a:ext cx="1295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97053" y="2379982"/>
            <a:ext cx="12950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tag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35645" y="1850389"/>
            <a:ext cx="1480503" cy="985520"/>
          </a:xfrm>
          <a:prstGeom prst="roundRect">
            <a:avLst>
              <a:gd name="adj" fmla="val 7088"/>
            </a:avLst>
          </a:prstGeom>
          <a:solidFill>
            <a:srgbClr val="1E242E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3755" y="1968500"/>
            <a:ext cx="129508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Hello, world.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3755" y="2504439"/>
            <a:ext cx="12950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92347" y="1974850"/>
            <a:ext cx="1480503" cy="736600"/>
          </a:xfrm>
          <a:prstGeom prst="roundRect">
            <a:avLst>
              <a:gd name="adj" fmla="val 9483"/>
            </a:avLst>
          </a:prstGeom>
          <a:solidFill>
            <a:srgbClr val="1E242E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0458" y="2092961"/>
            <a:ext cx="1295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10458" y="2379982"/>
            <a:ext cx="12950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tag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72593" y="2943861"/>
            <a:ext cx="474480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 = opening tag + content + closing tag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72593" y="3276600"/>
            <a:ext cx="4606608" cy="1029970"/>
          </a:xfrm>
          <a:prstGeom prst="roundRect">
            <a:avLst>
              <a:gd name="adj" fmla="val 9864"/>
            </a:avLst>
          </a:prstGeom>
          <a:solidFill>
            <a:srgbClr val="1E242E"/>
          </a:solidFill>
          <a:ln/>
        </p:spPr>
      </p:sp>
      <p:sp>
        <p:nvSpPr>
          <p:cNvPr id="32" name="Shape 30"/>
          <p:cNvSpPr/>
          <p:nvPr/>
        </p:nvSpPr>
        <p:spPr>
          <a:xfrm>
            <a:off x="6772593" y="3276600"/>
            <a:ext cx="4606608" cy="1029970"/>
          </a:xfrm>
          <a:custGeom>
            <a:avLst/>
            <a:gdLst/>
            <a:ahLst/>
            <a:cxnLst/>
            <a:rect l="l" t="t" r="r" b="b"/>
            <a:pathLst>
              <a:path w="4606608" h="102997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505008" y="0"/>
                </a:lnTo>
                <a:arcTo hR="101600" wR="101600" stAng="16200000" swAng="5400000"/>
                <a:lnTo>
                  <a:pt x="460660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33" name="Text 31"/>
          <p:cNvSpPr/>
          <p:nvPr/>
        </p:nvSpPr>
        <p:spPr>
          <a:xfrm>
            <a:off x="6950393" y="3489961"/>
            <a:ext cx="43785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Void elements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50393" y="3782061"/>
            <a:ext cx="43785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img br hr input meta link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have no closing tag.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72593" y="4408171"/>
            <a:ext cx="4606608" cy="1029970"/>
          </a:xfrm>
          <a:prstGeom prst="roundRect">
            <a:avLst>
              <a:gd name="adj" fmla="val 9864"/>
            </a:avLst>
          </a:prstGeom>
          <a:solidFill>
            <a:srgbClr val="1E242E"/>
          </a:solidFill>
          <a:ln/>
        </p:spPr>
      </p:sp>
      <p:sp>
        <p:nvSpPr>
          <p:cNvPr id="36" name="Shape 34"/>
          <p:cNvSpPr/>
          <p:nvPr/>
        </p:nvSpPr>
        <p:spPr>
          <a:xfrm>
            <a:off x="6772593" y="4408171"/>
            <a:ext cx="4606608" cy="1029970"/>
          </a:xfrm>
          <a:custGeom>
            <a:avLst/>
            <a:gdLst/>
            <a:ahLst/>
            <a:cxnLst/>
            <a:rect l="l" t="t" r="r" b="b"/>
            <a:pathLst>
              <a:path w="4606608" h="102997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505008" y="0"/>
                </a:lnTo>
                <a:arcTo hR="101600" wR="101600" stAng="16200000" swAng="5400000"/>
                <a:lnTo>
                  <a:pt x="460660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50393" y="4621529"/>
            <a:ext cx="4378538" cy="21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27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1270" dirty="0"/>
          </a:p>
        </p:txBody>
      </p:sp>
      <p:sp>
        <p:nvSpPr>
          <p:cNvPr id="38" name="Text 36"/>
          <p:cNvSpPr/>
          <p:nvPr/>
        </p:nvSpPr>
        <p:spPr>
          <a:xfrm>
            <a:off x="6950393" y="4875374"/>
            <a:ext cx="4378538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097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quote </a:t>
            </a:r>
            <a:r>
              <a:rPr lang="en-US" sz="1097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name="value"</a:t>
            </a:r>
            <a:r>
              <a:rPr lang="en-US" sz="1097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Boolean ones need no value. Write everything lowercase.</a:t>
            </a:r>
            <a:endParaRPr lang="en-US" sz="1097" dirty="0"/>
          </a:p>
        </p:txBody>
      </p:sp>
      <p:sp>
        <p:nvSpPr>
          <p:cNvPr id="39" name="Text 37"/>
          <p:cNvSpPr/>
          <p:nvPr/>
        </p:nvSpPr>
        <p:spPr>
          <a:xfrm>
            <a:off x="812800" y="6238242"/>
            <a:ext cx="20053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8/16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TEXT CONTENT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element that means the right 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490653" cy="3639820"/>
          </a:xfrm>
          <a:prstGeom prst="roundRect">
            <a:avLst>
              <a:gd name="adj" fmla="val 2791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236653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&lt;h1&gt;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Main heading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&lt;/h1&gt;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225042"/>
            <a:ext cx="6236653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&lt;h2&gt;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Section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&lt;/h2&gt;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225042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453642"/>
            <a:ext cx="6236653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&lt;h3&gt;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Subsection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&lt;/h3&gt;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453642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9800" y="26822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2" name="Shape 10"/>
          <p:cNvSpPr/>
          <p:nvPr/>
        </p:nvSpPr>
        <p:spPr>
          <a:xfrm>
            <a:off x="958850" y="2682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910842"/>
            <a:ext cx="6236653" cy="4572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paragraph with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&lt;strong&gt;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important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&lt;/strong&gt;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and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&lt;em&gt;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emphasised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&lt;/em&gt;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text.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910842"/>
            <a:ext cx="0" cy="4572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9800" y="33680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6" name="Shape 14"/>
          <p:cNvSpPr/>
          <p:nvPr/>
        </p:nvSpPr>
        <p:spPr>
          <a:xfrm>
            <a:off x="958850" y="3368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5966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price is 100&amp;nbsp;EGP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&lt;small&gt;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(including tax)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&lt;/small&gt;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596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9800" y="38252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20" name="Shape 18"/>
          <p:cNvSpPr/>
          <p:nvPr/>
        </p:nvSpPr>
        <p:spPr>
          <a:xfrm>
            <a:off x="958850" y="3825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40538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&lt;pre&gt;&lt;code&gt;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x = 1;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&lt;/code&gt;&lt;/pre&gt;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4053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9800" y="42824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24" name="Shape 22"/>
          <p:cNvSpPr/>
          <p:nvPr/>
        </p:nvSpPr>
        <p:spPr>
          <a:xfrm>
            <a:off x="958850" y="4282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4511042"/>
            <a:ext cx="6236653" cy="4572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&lt;p&gt;&lt;abbr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title=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"HyperText Markup Language"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HTML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&lt;/abbr&gt;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is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&lt;dfn&gt;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markup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&lt;/dfn&gt;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4511042"/>
            <a:ext cx="0" cy="4572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81253" y="1844042"/>
            <a:ext cx="3897948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28" name="Shape 26"/>
          <p:cNvSpPr/>
          <p:nvPr/>
        </p:nvSpPr>
        <p:spPr>
          <a:xfrm>
            <a:off x="7481253" y="1844042"/>
            <a:ext cx="3897948" cy="1145540"/>
          </a:xfrm>
          <a:custGeom>
            <a:avLst/>
            <a:gdLst/>
            <a:ahLst/>
            <a:cxnLst/>
            <a:rect l="l" t="t" r="r" b="b"/>
            <a:pathLst>
              <a:path w="3897948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29" name="Text 27"/>
          <p:cNvSpPr/>
          <p:nvPr/>
        </p:nvSpPr>
        <p:spPr>
          <a:xfrm>
            <a:off x="7659053" y="205740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 = outline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59053" y="2349500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h1, never skip levels. Comments are notes, not hiding code.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81253" y="3091179"/>
            <a:ext cx="3897948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32" name="Shape 30"/>
          <p:cNvSpPr/>
          <p:nvPr/>
        </p:nvSpPr>
        <p:spPr>
          <a:xfrm>
            <a:off x="7481253" y="3091179"/>
            <a:ext cx="3897948" cy="1145540"/>
          </a:xfrm>
          <a:custGeom>
            <a:avLst/>
            <a:gdLst/>
            <a:ahLst/>
            <a:cxnLst/>
            <a:rect l="l" t="t" r="r" b="b"/>
            <a:pathLst>
              <a:path w="3897948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3" name="Text 31"/>
          <p:cNvSpPr/>
          <p:nvPr/>
        </p:nvSpPr>
        <p:spPr>
          <a:xfrm>
            <a:off x="7659053" y="3304542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 over looks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59053" y="3596642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importance,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stress; also small, mark, del.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&lt;b&gt;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&lt;i&gt;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carry no meaning.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81253" y="4338321"/>
            <a:ext cx="3897948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36" name="Shape 34"/>
          <p:cNvSpPr/>
          <p:nvPr/>
        </p:nvSpPr>
        <p:spPr>
          <a:xfrm>
            <a:off x="7481253" y="4338321"/>
            <a:ext cx="3897948" cy="1145540"/>
          </a:xfrm>
          <a:custGeom>
            <a:avLst/>
            <a:gdLst/>
            <a:ahLst/>
            <a:cxnLst/>
            <a:rect l="l" t="t" r="r" b="b"/>
            <a:pathLst>
              <a:path w="3897948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37" name="Text 35"/>
          <p:cNvSpPr/>
          <p:nvPr/>
        </p:nvSpPr>
        <p:spPr>
          <a:xfrm>
            <a:off x="7659053" y="4551679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Paragraphs &amp; breaks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59053" y="4843779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&lt;p&gt;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holds inline content only. br, &amp;nbsp; and a new block each mean something different.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2800" y="6238242"/>
            <a:ext cx="20056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9/16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LINKS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href attribute: where the link goes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490653" cy="3276600"/>
          </a:xfrm>
          <a:prstGeom prst="roundRect">
            <a:avLst>
              <a:gd name="adj" fmla="val 3101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absolute --&gt;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2250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"https://example.com/about"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About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225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9800" y="24536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0" name="Shape 8"/>
          <p:cNvSpPr/>
          <p:nvPr/>
        </p:nvSpPr>
        <p:spPr>
          <a:xfrm>
            <a:off x="958850" y="2453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6822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relative --&gt;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682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9108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"./about.html"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About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910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394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"../index.html"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Home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39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9800" y="33680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8" name="Shape 16"/>
          <p:cNvSpPr/>
          <p:nvPr/>
        </p:nvSpPr>
        <p:spPr>
          <a:xfrm>
            <a:off x="958850" y="3368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5966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fragment / same page --&gt;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596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8252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"#pricing"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Jump to pricing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825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9800" y="4053842"/>
            <a:ext cx="6236653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24" name="Shape 22"/>
          <p:cNvSpPr/>
          <p:nvPr/>
        </p:nvSpPr>
        <p:spPr>
          <a:xfrm>
            <a:off x="958850" y="4053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4282442"/>
            <a:ext cx="6236653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new tab, done safely --&gt;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4282442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511042"/>
            <a:ext cx="6236653" cy="4572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"https://example.com"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target=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"_blank"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rel=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"noopener noreferrer"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External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511042"/>
            <a:ext cx="0" cy="4572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1253" y="1844042"/>
            <a:ext cx="3897948" cy="1587500"/>
          </a:xfrm>
          <a:prstGeom prst="roundRect">
            <a:avLst>
              <a:gd name="adj" fmla="val 6400"/>
            </a:avLst>
          </a:prstGeom>
          <a:solidFill>
            <a:srgbClr val="1E24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481253" y="1844042"/>
            <a:ext cx="3897948" cy="1587500"/>
          </a:xfrm>
          <a:custGeom>
            <a:avLst/>
            <a:gdLst/>
            <a:ahLst/>
            <a:cxnLst/>
            <a:rect l="l" t="t" r="r" b="b"/>
            <a:pathLst>
              <a:path w="3897948" h="15875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31" name="Text 29"/>
          <p:cNvSpPr/>
          <p:nvPr/>
        </p:nvSpPr>
        <p:spPr>
          <a:xfrm>
            <a:off x="7659053" y="205740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Absolute vs relative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59053" y="2349500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URL, or a path from this file. Fragment links (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#id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jump within the page.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81253" y="3533142"/>
            <a:ext cx="3897948" cy="1587500"/>
          </a:xfrm>
          <a:prstGeom prst="roundRect">
            <a:avLst>
              <a:gd name="adj" fmla="val 6400"/>
            </a:avLst>
          </a:prstGeom>
          <a:solidFill>
            <a:srgbClr val="1E24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481253" y="3533142"/>
            <a:ext cx="3897948" cy="1587500"/>
          </a:xfrm>
          <a:custGeom>
            <a:avLst/>
            <a:gdLst/>
            <a:ahLst/>
            <a:cxnLst/>
            <a:rect l="l" t="t" r="r" b="b"/>
            <a:pathLst>
              <a:path w="3897948" h="15875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35" name="Text 33"/>
          <p:cNvSpPr/>
          <p:nvPr/>
        </p:nvSpPr>
        <p:spPr>
          <a:xfrm>
            <a:off x="7659053" y="374650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target="_blank"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59053" y="4038600"/>
            <a:ext cx="364861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pair with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rel="noopener noreferrer"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Without it the opened page gets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window.opener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can redirect your tab.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42"/>
            <a:ext cx="20819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10/16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LINKS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schemes, downloads and fake links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5982256" cy="2392680"/>
          </a:xfrm>
          <a:prstGeom prst="roundRect">
            <a:avLst>
              <a:gd name="adj" fmla="val 4246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5728256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special schemes --&gt;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225042"/>
            <a:ext cx="5728256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"mailto:hi@example.com"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Email us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225042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453642"/>
            <a:ext cx="5728256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"tel:+201234567890"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Call us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453642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9800" y="2682242"/>
            <a:ext cx="5728256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2" name="Shape 10"/>
          <p:cNvSpPr/>
          <p:nvPr/>
        </p:nvSpPr>
        <p:spPr>
          <a:xfrm>
            <a:off x="958850" y="2682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910842"/>
            <a:ext cx="5728256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download --&gt;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910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39442"/>
            <a:ext cx="5728256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"menu.pdf"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download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Download the menu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39442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72856" y="1844042"/>
            <a:ext cx="4406345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2856" y="1844042"/>
            <a:ext cx="4406345" cy="1145540"/>
          </a:xfrm>
          <a:custGeom>
            <a:avLst/>
            <a:gdLst/>
            <a:ahLst/>
            <a:cxnLst/>
            <a:rect l="l" t="t" r="r" b="b"/>
            <a:pathLst>
              <a:path w="4406345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304745" y="0"/>
                </a:lnTo>
                <a:arcTo hR="101600" wR="101600" stAng="16200000" swAng="5400000"/>
                <a:lnTo>
                  <a:pt x="4406345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9" name="Text 17"/>
          <p:cNvSpPr/>
          <p:nvPr/>
        </p:nvSpPr>
        <p:spPr>
          <a:xfrm>
            <a:off x="7150656" y="2057400"/>
            <a:ext cx="41722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50656" y="2349500"/>
            <a:ext cx="422854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mailto: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tel: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sms: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open email, phone and messages.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72856" y="3091179"/>
            <a:ext cx="4406345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2856" y="3091179"/>
            <a:ext cx="4406345" cy="1145540"/>
          </a:xfrm>
          <a:custGeom>
            <a:avLst/>
            <a:gdLst/>
            <a:ahLst/>
            <a:cxnLst/>
            <a:rect l="l" t="t" r="r" b="b"/>
            <a:pathLst>
              <a:path w="4406345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304745" y="0"/>
                </a:lnTo>
                <a:arcTo hR="101600" wR="101600" stAng="16200000" swAng="5400000"/>
                <a:lnTo>
                  <a:pt x="4406345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7150656" y="3304542"/>
            <a:ext cx="4172267" cy="196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144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“fake link” anti-pattern</a:t>
            </a:r>
            <a:endParaRPr lang="en-US" sz="1144" dirty="0"/>
          </a:p>
        </p:txBody>
      </p:sp>
      <p:sp>
        <p:nvSpPr>
          <p:cNvPr id="24" name="Text 22"/>
          <p:cNvSpPr/>
          <p:nvPr/>
        </p:nvSpPr>
        <p:spPr>
          <a:xfrm>
            <a:off x="7150656" y="3539331"/>
            <a:ext cx="4172267" cy="544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33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div or </a:t>
            </a:r>
            <a:r>
              <a:rPr lang="en-US" sz="1133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&lt;a href="#"&gt;</a:t>
            </a:r>
            <a:r>
              <a:rPr lang="en-US" sz="1133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looks clickable but is not. Screen readers announce it, keyboards tab to it, nothing happens.</a:t>
            </a:r>
            <a:endParaRPr lang="en-US" sz="1133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20410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11/16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PATHS &amp; FILE STRUCTURE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./ stays here, ../ goes up one folder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4307840" cy="2141220"/>
          </a:xfrm>
          <a:prstGeom prst="roundRect">
            <a:avLst>
              <a:gd name="adj" fmla="val 4745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405384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project/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225042"/>
            <a:ext cx="405384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index.html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225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453642"/>
            <a:ext cx="405384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about/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453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682242"/>
            <a:ext cx="405384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└── team.html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682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910842"/>
            <a:ext cx="405384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assets/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910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39442"/>
            <a:ext cx="405384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├── css/style.css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39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68042"/>
            <a:ext cx="405384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└── img/logo.png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68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8440" y="1844042"/>
            <a:ext cx="62631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project/index.html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98440" y="2120900"/>
            <a:ext cx="6080760" cy="762000"/>
          </a:xfrm>
          <a:prstGeom prst="roundRect">
            <a:avLst>
              <a:gd name="adj" fmla="val 13333"/>
            </a:avLst>
          </a:prstGeom>
          <a:solidFill>
            <a:srgbClr val="0B0E13"/>
          </a:solidFill>
          <a:ln/>
        </p:spPr>
      </p:sp>
      <p:sp>
        <p:nvSpPr>
          <p:cNvPr id="21" name="Text 19"/>
          <p:cNvSpPr/>
          <p:nvPr/>
        </p:nvSpPr>
        <p:spPr>
          <a:xfrm>
            <a:off x="5425440" y="2273300"/>
            <a:ext cx="5826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&lt;img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"assets/img/logo.png"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alt=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"Logo"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4490" y="2273300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5440" y="2501900"/>
            <a:ext cx="5826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"about/team.html"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Team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44490" y="2501900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98440" y="2946400"/>
            <a:ext cx="62631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project/about/team.html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98440" y="3223264"/>
            <a:ext cx="6080760" cy="762000"/>
          </a:xfrm>
          <a:prstGeom prst="roundRect">
            <a:avLst>
              <a:gd name="adj" fmla="val 13333"/>
            </a:avLst>
          </a:prstGeom>
          <a:solidFill>
            <a:srgbClr val="0B0E13"/>
          </a:solidFill>
          <a:ln/>
        </p:spPr>
      </p:sp>
      <p:sp>
        <p:nvSpPr>
          <p:cNvPr id="27" name="Text 25"/>
          <p:cNvSpPr/>
          <p:nvPr/>
        </p:nvSpPr>
        <p:spPr>
          <a:xfrm>
            <a:off x="5425440" y="3375664"/>
            <a:ext cx="5826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&lt;img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"../assets/img/logo.png"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alt=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"Logo"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4490" y="3375664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25440" y="3604264"/>
            <a:ext cx="582676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"../index.html"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Home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44490" y="3604264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800" y="4175764"/>
            <a:ext cx="10566400" cy="1666240"/>
          </a:xfrm>
          <a:prstGeom prst="roundRect">
            <a:avLst>
              <a:gd name="adj" fmla="val 6098"/>
            </a:avLst>
          </a:prstGeom>
          <a:solidFill>
            <a:srgbClr val="1E242E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800" y="4175764"/>
            <a:ext cx="10566400" cy="1666240"/>
          </a:xfrm>
          <a:custGeom>
            <a:avLst/>
            <a:gdLst/>
            <a:ahLst/>
            <a:cxnLst/>
            <a:rect l="l" t="t" r="r" b="b"/>
            <a:pathLst>
              <a:path w="10566400" h="16662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990600" y="4389121"/>
            <a:ext cx="105171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start a path with /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0600" y="4681221"/>
            <a:ext cx="1051712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paths break when the site is not at the domain root. Relative paths travel with the project. One assets/ folder for images, css, js; index.html is the default page.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42"/>
            <a:ext cx="20781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12/16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IMAGES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text is the most important line in this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10566400" cy="2697480"/>
          </a:xfrm>
          <a:prstGeom prst="roundRect">
            <a:avLst>
              <a:gd name="adj" fmla="val 3766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10312400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&lt;img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"cat.jpg"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alt=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 grey cat asleep on a keyboard"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width=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"640"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height=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"480"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9800" y="2225042"/>
            <a:ext cx="10312400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8" name="Shape 6"/>
          <p:cNvSpPr/>
          <p:nvPr/>
        </p:nvSpPr>
        <p:spPr>
          <a:xfrm>
            <a:off x="958850" y="2225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453642"/>
            <a:ext cx="103124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decorative: empty alt, no announcement --&gt;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453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682242"/>
            <a:ext cx="10312400" cy="2286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&lt;img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"divider.svg"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alt=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682242"/>
            <a:ext cx="0" cy="2286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9800" y="2910842"/>
            <a:ext cx="10312400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850" y="2910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39442"/>
            <a:ext cx="103124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lazy loading below the fold --&gt;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39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68042"/>
            <a:ext cx="103124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&lt;img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"photo.jpg"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alt=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"Team offsite"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loading=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"lazy"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decoding=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"async"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68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800" y="4732021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800" y="4732021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4945379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alt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0600" y="5237479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reader reads the filename.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98850" y="4732021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24" name="Shape 22"/>
          <p:cNvSpPr/>
          <p:nvPr/>
        </p:nvSpPr>
        <p:spPr>
          <a:xfrm>
            <a:off x="3498850" y="4732021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4945379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Useless alt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76650" y="5237479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“image of a cat” says nothing.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84900" y="4732021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184900" y="4732021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29" name="Text 27"/>
          <p:cNvSpPr/>
          <p:nvPr/>
        </p:nvSpPr>
        <p:spPr>
          <a:xfrm>
            <a:off x="6362700" y="4945379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alt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62700" y="5237479"/>
            <a:ext cx="22172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Describes what matters.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70950" y="4732021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32" name="Shape 30"/>
          <p:cNvSpPr/>
          <p:nvPr/>
        </p:nvSpPr>
        <p:spPr>
          <a:xfrm>
            <a:off x="8870950" y="4732021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3" name="Text 31"/>
          <p:cNvSpPr/>
          <p:nvPr/>
        </p:nvSpPr>
        <p:spPr>
          <a:xfrm>
            <a:off x="9048750" y="4945379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width / height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48750" y="5237479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space before load: no layout shift.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42"/>
            <a:ext cx="20795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13/16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IMAGES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images: srcset and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5194300" cy="2133600"/>
          </a:xfrm>
          <a:prstGeom prst="roundRect">
            <a:avLst>
              <a:gd name="adj" fmla="val 4762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responsive --&gt;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2250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&lt;img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225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4536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"photo-800.jpg"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453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682242"/>
            <a:ext cx="4940300" cy="4572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srcset=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"photo-400.jpg 400w, photo-800.jpg 800w, photo-1600.jpg 1600w"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682242"/>
            <a:ext cx="0" cy="4572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31394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sizes=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"(max-width: 600px) 100vw, 50vw"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3139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3680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alt=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"Team offsite"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368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5966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596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4900" y="1844042"/>
            <a:ext cx="5194300" cy="2133600"/>
          </a:xfrm>
          <a:prstGeom prst="roundRect">
            <a:avLst>
              <a:gd name="adj" fmla="val 4762"/>
            </a:avLst>
          </a:prstGeom>
          <a:solidFill>
            <a:srgbClr val="0B0E13"/>
          </a:solidFill>
          <a:ln/>
        </p:spPr>
      </p:sp>
      <p:sp>
        <p:nvSpPr>
          <p:cNvPr id="20" name="Text 18"/>
          <p:cNvSpPr/>
          <p:nvPr/>
        </p:nvSpPr>
        <p:spPr>
          <a:xfrm>
            <a:off x="6311900" y="1996442"/>
            <a:ext cx="4940300" cy="4572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art direction / modern format with fallback --&gt;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30950" y="1996442"/>
            <a:ext cx="0" cy="4572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1900" y="24536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&lt;picture&gt;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30950" y="2453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1900" y="26822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&lt;source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srcset=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"photo.avif"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"image/avif"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30950" y="2682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1900" y="29108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&lt;source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srcset=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"photo.webp"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"image/webp"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30950" y="2910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1900" y="31394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&lt;img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"photo.jpg"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alt=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"Team offsite"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30950" y="3139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1900" y="3368042"/>
            <a:ext cx="49403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&lt;/picture&gt;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30950" y="3368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800" y="4168142"/>
            <a:ext cx="340360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800" y="4168142"/>
            <a:ext cx="3403600" cy="1109980"/>
          </a:xfrm>
          <a:custGeom>
            <a:avLst/>
            <a:gdLst/>
            <a:ahLst/>
            <a:cxnLst/>
            <a:rect l="l" t="t" r="r" b="b"/>
            <a:pathLst>
              <a:path w="340360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34" name="Text 32"/>
          <p:cNvSpPr/>
          <p:nvPr/>
        </p:nvSpPr>
        <p:spPr>
          <a:xfrm>
            <a:off x="990600" y="43815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srcset + sizes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90600" y="4673600"/>
            <a:ext cx="3139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picks the best file.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94200" y="4168142"/>
            <a:ext cx="340360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37" name="Shape 35"/>
          <p:cNvSpPr/>
          <p:nvPr/>
        </p:nvSpPr>
        <p:spPr>
          <a:xfrm>
            <a:off x="4394200" y="4168142"/>
            <a:ext cx="3403600" cy="1109980"/>
          </a:xfrm>
          <a:custGeom>
            <a:avLst/>
            <a:gdLst/>
            <a:ahLst/>
            <a:cxnLst/>
            <a:rect l="l" t="t" r="r" b="b"/>
            <a:pathLst>
              <a:path w="340360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43815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picture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2000" y="4673600"/>
            <a:ext cx="3139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 direction or format fallback.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75600" y="4168142"/>
            <a:ext cx="340360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41" name="Shape 39"/>
          <p:cNvSpPr/>
          <p:nvPr/>
        </p:nvSpPr>
        <p:spPr>
          <a:xfrm>
            <a:off x="7975600" y="4168142"/>
            <a:ext cx="3403600" cy="1109980"/>
          </a:xfrm>
          <a:custGeom>
            <a:avLst/>
            <a:gdLst/>
            <a:ahLst/>
            <a:cxnLst/>
            <a:rect l="l" t="t" r="r" b="b"/>
            <a:pathLst>
              <a:path w="340360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42" name="Text 40"/>
          <p:cNvSpPr/>
          <p:nvPr/>
        </p:nvSpPr>
        <p:spPr>
          <a:xfrm>
            <a:off x="8153400" y="43815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153400" y="4673600"/>
            <a:ext cx="31394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JPEG, PNG, WebP, AVIF, SVG (inline or file).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2800" y="6238242"/>
            <a:ext cx="20847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14/16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LISTS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Lists are structure, not just bullets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5562600" cy="3733800"/>
          </a:xfrm>
          <a:prstGeom prst="roundRect">
            <a:avLst>
              <a:gd name="adj" fmla="val 2721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&lt;ul&gt;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2250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Flour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&lt;/li&gt;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225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4536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Sugar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453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6822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&lt;ul&gt;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682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9108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Brown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&lt;/li&gt;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910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394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White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&lt;/li&gt;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39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680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&lt;/ul&gt;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68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5966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&lt;/li&gt;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596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8252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&lt;/ul&gt;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825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9800" y="40538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24" name="Shape 22"/>
          <p:cNvSpPr/>
          <p:nvPr/>
        </p:nvSpPr>
        <p:spPr>
          <a:xfrm>
            <a:off x="958850" y="4053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42824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&lt;ol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start=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"3"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reversed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4282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5110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Third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&lt;/li&gt;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511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00" y="47396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Second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&lt;/li&gt;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8850" y="4739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800" y="49682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First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&lt;/li&gt;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850" y="4968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9800" y="5196842"/>
            <a:ext cx="53086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&lt;/ol&gt;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8850" y="5196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53200" y="1844042"/>
            <a:ext cx="4826000" cy="1772920"/>
          </a:xfrm>
          <a:prstGeom prst="roundRect">
            <a:avLst>
              <a:gd name="adj" fmla="val 5731"/>
            </a:avLst>
          </a:prstGeom>
          <a:solidFill>
            <a:srgbClr val="0B0E13"/>
          </a:solidFill>
          <a:ln/>
        </p:spPr>
      </p:sp>
      <p:sp>
        <p:nvSpPr>
          <p:cNvPr id="36" name="Text 34"/>
          <p:cNvSpPr/>
          <p:nvPr/>
        </p:nvSpPr>
        <p:spPr>
          <a:xfrm>
            <a:off x="6680200" y="1996442"/>
            <a:ext cx="45720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&lt;dl&gt;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99250" y="1996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80200" y="2225042"/>
            <a:ext cx="45720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&lt;dt&gt;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HTML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&lt;/dt&gt;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99250" y="22250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80200" y="2453642"/>
            <a:ext cx="45720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structure of a page.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&lt;/dd&gt;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99250" y="24536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80200" y="2682242"/>
            <a:ext cx="45720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&lt;dt&gt;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CSS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&lt;/dt&gt;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99250" y="26822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80200" y="2910842"/>
            <a:ext cx="45720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presentation of a page.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&lt;/dd&gt;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99250" y="29108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80200" y="3139442"/>
            <a:ext cx="4572000" cy="2286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&lt;/dl&gt;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99250" y="3139442"/>
            <a:ext cx="0" cy="2286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53200" y="3718564"/>
            <a:ext cx="4826000" cy="1859280"/>
          </a:xfrm>
          <a:prstGeom prst="roundRect">
            <a:avLst>
              <a:gd name="adj" fmla="val 5464"/>
            </a:avLst>
          </a:prstGeom>
          <a:solidFill>
            <a:srgbClr val="1E242E"/>
          </a:solidFill>
          <a:ln/>
        </p:spPr>
      </p:sp>
      <p:sp>
        <p:nvSpPr>
          <p:cNvPr id="49" name="Shape 47"/>
          <p:cNvSpPr/>
          <p:nvPr/>
        </p:nvSpPr>
        <p:spPr>
          <a:xfrm>
            <a:off x="6553200" y="3718564"/>
            <a:ext cx="4826000" cy="1859280"/>
          </a:xfrm>
          <a:custGeom>
            <a:avLst/>
            <a:gdLst/>
            <a:ahLst/>
            <a:cxnLst/>
            <a:rect l="l" t="t" r="r" b="b"/>
            <a:pathLst>
              <a:path w="4826000" h="18592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724400" y="0"/>
                </a:lnTo>
                <a:arcTo hR="101600" wR="101600" stAng="16200000" swAng="5400000"/>
                <a:lnTo>
                  <a:pt x="4826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50" name="Text 48"/>
          <p:cNvSpPr/>
          <p:nvPr/>
        </p:nvSpPr>
        <p:spPr>
          <a:xfrm>
            <a:off x="6731000" y="3931921"/>
            <a:ext cx="46045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 is a list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731000" y="4224021"/>
            <a:ext cx="460451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 inside nav is the standard pattern. Nested lists are a first taste of the tree.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12800" y="6238242"/>
            <a:ext cx="20751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15/16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2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 vs appearance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describes meaning, CSS describes appearance.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44042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4394200" y="1844042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document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49500"/>
            <a:ext cx="31394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Doctype,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&lt;html lang dir&gt;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head, body.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44042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1844042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34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elements; one h1, no skipped levels.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180085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" y="3180085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33934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0600" y="3685542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paths, safe target="_blank", no fake links.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94200" y="3180085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21" name="Shape 19"/>
          <p:cNvSpPr/>
          <p:nvPr/>
        </p:nvSpPr>
        <p:spPr>
          <a:xfrm>
            <a:off x="4394200" y="3180085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3934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3685542"/>
            <a:ext cx="3225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alt; empty alt when decorative.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5600" y="3180085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975600" y="3180085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26" name="Text 24"/>
          <p:cNvSpPr/>
          <p:nvPr/>
        </p:nvSpPr>
        <p:spPr>
          <a:xfrm>
            <a:off x="8153400" y="33934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53400" y="3685542"/>
            <a:ext cx="31394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Structure, not just bullets.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2"/>
            <a:ext cx="2080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1 · 16/16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TML Session 1 — Structure, Text, Links &amp; Media">
  <a:themeElements>
    <a:clrScheme name="HTML Session 1 — Structure, Text, Links &amp; Media">
      <a:dk1>
        <a:srgbClr val="14181F"/>
      </a:dk1>
      <a:lt1>
        <a:srgbClr val="F6F4EE"/>
      </a:lt1>
      <a:dk2>
        <a:srgbClr val="2B2E34"/>
      </a:dk2>
      <a:lt2>
        <a:srgbClr val="BEBDBA"/>
      </a:lt2>
      <a:accent1>
        <a:srgbClr val="FF8A3D"/>
      </a:accent1>
      <a:accent2>
        <a:srgbClr val="C9CED6"/>
      </a:accent2>
      <a:accent3>
        <a:srgbClr val="7D8794"/>
      </a:accent3>
      <a:accent4>
        <a:srgbClr val="9AA4B2"/>
      </a:accent4>
      <a:accent5>
        <a:srgbClr val="9AA0A6"/>
      </a:accent5>
      <a:accent6>
        <a:srgbClr val="9C9C9B"/>
      </a:accent6>
      <a:hlink>
        <a:srgbClr val="0563C1"/>
      </a:hlink>
      <a:folHlink>
        <a:srgbClr val="954F72"/>
      </a:folHlink>
    </a:clrScheme>
    <a:fontScheme name="HTML Session 1 — Structure, Text, Links &amp; Media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etBrai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Session 1 — Structure, Text, Links &amp; Media</dc:title>
  <dc:subject/>
  <dc:creator/>
  <cp:lastModifiedBy/>
  <cp:revision>1</cp:revision>
  <dcterms:created xsi:type="dcterms:W3CDTF">2026-10-15T01:31:04Z</dcterms:created>
  <dcterms:modified xsi:type="dcterms:W3CDTF">2026-10-15T01:31:04Z</dcterms:modified>
</cp:coreProperties>
</file>